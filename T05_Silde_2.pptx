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Tomorrow" charset="1" panose="00000000000000000000"/>
      <p:regular r:id="rId38"/>
    </p:embeddedFont>
    <p:embeddedFont>
      <p:font typeface="Garet Light" charset="1" panose="00000000000000000000"/>
      <p:regular r:id="rId39"/>
    </p:embeddedFont>
    <p:embeddedFont>
      <p:font typeface="Garet Bold" charset="1" panose="00000000000000000000"/>
      <p:regular r:id="rId40"/>
    </p:embeddedFont>
    <p:embeddedFont>
      <p:font typeface="Garet" charset="1" panose="00000000000000000000"/>
      <p:regular r:id="rId42"/>
    </p:embeddedFont>
    <p:embeddedFont>
      <p:font typeface="Garet Bold Italics" charset="1" panose="00000000000000000000"/>
      <p:regular r:id="rId53"/>
    </p:embeddedFont>
    <p:embeddedFont>
      <p:font typeface="Garet Italics" charset="1" panose="00000000000000000000"/>
      <p:regular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notesMasters/notesMaster1.xml" Type="http://schemas.openxmlformats.org/officeDocument/2006/relationships/notesMaster"/><Relationship Id="rId36" Target="theme/theme2.xml" Type="http://schemas.openxmlformats.org/officeDocument/2006/relationships/theme"/><Relationship Id="rId37" Target="notesSlides/notesSlide1.xml" Type="http://schemas.openxmlformats.org/officeDocument/2006/relationships/note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notesSlides/notesSlide2.xml" Type="http://schemas.openxmlformats.org/officeDocument/2006/relationships/notesSlide"/><Relationship Id="rId42" Target="fonts/font42.fntdata" Type="http://schemas.openxmlformats.org/officeDocument/2006/relationships/font"/><Relationship Id="rId43" Target="notesSlides/notesSlide3.xml" Type="http://schemas.openxmlformats.org/officeDocument/2006/relationships/notesSlide"/><Relationship Id="rId44" Target="notesSlides/notesSlide4.xml" Type="http://schemas.openxmlformats.org/officeDocument/2006/relationships/notesSlide"/><Relationship Id="rId45" Target="notesSlides/notesSlide5.xml" Type="http://schemas.openxmlformats.org/officeDocument/2006/relationships/notesSlide"/><Relationship Id="rId46" Target="notesSlides/notesSlide6.xml" Type="http://schemas.openxmlformats.org/officeDocument/2006/relationships/notesSlide"/><Relationship Id="rId47" Target="notesSlides/notesSlide7.xml" Type="http://schemas.openxmlformats.org/officeDocument/2006/relationships/notesSlide"/><Relationship Id="rId48" Target="notesSlides/notesSlide8.xml" Type="http://schemas.openxmlformats.org/officeDocument/2006/relationships/notesSlide"/><Relationship Id="rId49" Target="notesSlides/notesSlide9.xml" Type="http://schemas.openxmlformats.org/officeDocument/2006/relationships/notesSlide"/><Relationship Id="rId5" Target="tableStyles.xml" Type="http://schemas.openxmlformats.org/officeDocument/2006/relationships/tableStyles"/><Relationship Id="rId50" Target="notesSlides/notesSlide10.xml" Type="http://schemas.openxmlformats.org/officeDocument/2006/relationships/notesSlide"/><Relationship Id="rId51" Target="notesSlides/notesSlide11.xml" Type="http://schemas.openxmlformats.org/officeDocument/2006/relationships/notesSlide"/><Relationship Id="rId52" Target="notesSlides/notesSlide12.xml" Type="http://schemas.openxmlformats.org/officeDocument/2006/relationships/notesSlide"/><Relationship Id="rId53" Target="fonts/font53.fntdata" Type="http://schemas.openxmlformats.org/officeDocument/2006/relationships/font"/><Relationship Id="rId54" Target="fonts/font54.fntdata" Type="http://schemas.openxmlformats.org/officeDocument/2006/relationships/font"/><Relationship Id="rId55" Target="notesSlides/notesSlide13.xml" Type="http://schemas.openxmlformats.org/officeDocument/2006/relationships/notesSlide"/><Relationship Id="rId56" Target="notesSlides/notesSlide14.xml" Type="http://schemas.openxmlformats.org/officeDocument/2006/relationships/notesSlide"/><Relationship Id="rId57" Target="notesSlides/notesSlide15.xml" Type="http://schemas.openxmlformats.org/officeDocument/2006/relationships/notesSlide"/><Relationship Id="rId58" Target="notesSlides/notesSlide16.xml" Type="http://schemas.openxmlformats.org/officeDocument/2006/relationships/notesSlide"/><Relationship Id="rId59" Target="notesSlides/notesSlide17.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Tình hình hiện tại: Hiện tại, không có tập dữ liệu công khai nào về các điểm nổi bật của bài hát được dán nhãn cho cộng đồng nghiên cứu.</a:t>
            </a:r>
          </a:p>
          <a:p>
            <a:r>
              <a:rPr lang="en-US"/>
              <a:t>Các phương pháp tiếp cận trước đây chủ yếu dựa vào năng lượng và điệp khúc làm điểm nổi bật cho một bài hát.</a:t>
            </a:r>
          </a:p>
          <a:p>
            <a:r>
              <a:rPr lang="en-US"/>
              <a:t/>
            </a:r>
          </a:p>
          <a:p>
            <a:r>
              <a:rPr lang="en-US"/>
              <a:t>Giả sử đoạn highlight của một bài hát là đoạn có đóng góp lớn để quyết định cảm xúc của một bài hát đó, chính vì thế mà ta có thể sử dụng một mô hình học sâu phân loại cảm xúc để trích chọn ra đoạn highlight của một bài hát.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Music highlight detection là gì ?</a:t>
            </a:r>
          </a:p>
          <a:p>
            <a:r>
              <a:rPr lang="en-US"/>
              <a:t>Music highlight detection là trích xuất một đoạn ngắn liên tiếp (đoạn nhạc nổi bật - “highlight”) của một bài hát mà nó có thể đại diện cho bài hát đó. (Nghe đoạn “highlight” là biết đó là bài hát nào) . </a:t>
            </a:r>
          </a:p>
          <a:p>
            <a:r>
              <a:rPr lang="en-US"/>
              <a:t/>
            </a:r>
          </a:p>
          <a:p>
            <a:r>
              <a:rPr lang="en-US"/>
              <a:t>Tại sao lại cần đến nó?</a:t>
            </a:r>
          </a:p>
          <a:p>
            <a:r>
              <a:rPr lang="en-US"/>
              <a:t>(Trong sự phát triển nhanh chóng của dữ liệu đa phương tiện trên Internet việc tìm kiếm và truy cập thông tin một cách hiệu quả trở nên vô cùng quan trọng, đặc biệt là trong lĩnh vực âm nhạc). Đoạn “highlight” giúp rút gọn thời gian xử lý dữ liệu âm nhạc, tăng cường trải nghiệm người dùng.</a:t>
            </a:r>
          </a:p>
          <a:p>
            <a:r>
              <a:rPr lang="en-US"/>
              <a:t>Một số ứng dụng của nó như trong việc nghe thử , Tìm kiếm ,Nội dung dạng ngắn và trong ứng dụng nhạc chuông của Samsung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Music highlight detection là gì ?</a:t>
            </a:r>
          </a:p>
          <a:p>
            <a:r>
              <a:rPr lang="en-US"/>
              <a:t>Music highlight detection là trích xuất một đoạn ngắn liên tiếp (đoạn nhạc nổi bật - “highlight”) của một bài hát mà nó có thể đại diện cho bài hát đó. (Nghe đoạn “highlight” là biết đó là bài hát nào) . </a:t>
            </a:r>
          </a:p>
          <a:p>
            <a:r>
              <a:rPr lang="en-US"/>
              <a:t/>
            </a:r>
          </a:p>
          <a:p>
            <a:r>
              <a:rPr lang="en-US"/>
              <a:t>Tại sao lại cần đến nó?</a:t>
            </a:r>
          </a:p>
          <a:p>
            <a:r>
              <a:rPr lang="en-US"/>
              <a:t>(Trong sự phát triển nhanh chóng của dữ liệu đa phương tiện trên Internet việc tìm kiếm và truy cập thông tin một cách hiệu quả trở nên vô cùng quan trọng, đặc biệt là trong lĩnh vực âm nhạc). Đoạn “highlight” giúp rút gọn thời gian xử lý dữ liệu âm nhạc, tăng cường trải nghiệm người dùng.</a:t>
            </a:r>
          </a:p>
          <a:p>
            <a:r>
              <a:rPr lang="en-US"/>
              <a:t>Một số ứng dụng của nó như trong việc nghe thử , Tìm kiếm ,Nội dung dạng ngắn và trong ứng dụng nhạc chuông của Samsung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Music highlight detection là gì ?</a:t>
            </a:r>
          </a:p>
          <a:p>
            <a:r>
              <a:rPr lang="en-US"/>
              <a:t>Music highlight detection là trích xuất một đoạn ngắn liên tiếp (đoạn nhạc nổi bật - “highlight”) của một bài hát mà nó có thể đại diện cho bài hát đó. (Nghe đoạn “highlight” là biết đó là bài hát nào) . </a:t>
            </a:r>
          </a:p>
          <a:p>
            <a:r>
              <a:rPr lang="en-US"/>
              <a:t/>
            </a:r>
          </a:p>
          <a:p>
            <a:r>
              <a:rPr lang="en-US"/>
              <a:t>Tại sao lại cần đến nó?</a:t>
            </a:r>
          </a:p>
          <a:p>
            <a:r>
              <a:rPr lang="en-US"/>
              <a:t>(Trong sự phát triển nhanh chóng của dữ liệu đa phương tiện trên Internet việc tìm kiếm và truy cập thông tin một cách hiệu quả trở nên vô cùng quan trọng, đặc biệt là trong lĩnh vực âm nhạc). Đoạn “highlight” giúp rút gọn thời gian xử lý dữ liệu âm nhạc, tăng cường trải nghiệm người dùng.</a:t>
            </a:r>
          </a:p>
          <a:p>
            <a:r>
              <a:rPr lang="en-US"/>
              <a:t>Một số ứng dụng của nó như trong việc nghe thử , Tìm kiếm ,Nội dung dạng ngắn và trong ứng dụng nhạc chuông của Samsung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Music highlight detection là gì ?</a:t>
            </a:r>
          </a:p>
          <a:p>
            <a:r>
              <a:rPr lang="en-US"/>
              <a:t>Music highlight detection là trích xuất một đoạn ngắn liên tiếp (đoạn nhạc nổi bật - “highlight”) của một bài hát mà nó có thể đại diện cho bài hát đó. (Nghe đoạn “highlight” là biết đó là bài hát nào) . </a:t>
            </a:r>
          </a:p>
          <a:p>
            <a:r>
              <a:rPr lang="en-US"/>
              <a:t/>
            </a:r>
          </a:p>
          <a:p>
            <a:r>
              <a:rPr lang="en-US"/>
              <a:t>Tại sao lại cần đến nó?</a:t>
            </a:r>
          </a:p>
          <a:p>
            <a:r>
              <a:rPr lang="en-US"/>
              <a:t>(Trong sự phát triển nhanh chóng của dữ liệu đa phương tiện trên Internet việc tìm kiếm và truy cập thông tin một cách hiệu quả trở nên vô cùng quan trọng, đặc biệt là trong lĩnh vực âm nhạc). Đoạn “highlight” giúp rút gọn thời gian xử lý dữ liệu âm nhạc, tăng cường trải nghiệm người dùng.</a:t>
            </a:r>
          </a:p>
          <a:p>
            <a:r>
              <a:rPr lang="en-US"/>
              <a:t>Một số ứng dụng của nó như trong việc nghe thử , Tìm kiếm ,Nội dung dạng ngắn và trong ứng dụng nhạc chuông của Samsung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Phổ đồ hiển thị phổ tần số theo thời gian, cung cấp nhiều thông tin hơn đáng kể so với dạng sóng âm</a:t>
            </a:r>
          </a:p>
          <a:p>
            <a:r>
              <a:rPr lang="en-US"/>
              <a:t>Phổ đồ Mel là một biến thể của phổ đồ</a:t>
            </a:r>
          </a:p>
          <a:p>
            <a:r>
              <a:rPr lang="en-US"/>
              <a:t>Trục tần số được chia tỷ lệ theo thang Mel và độ lớn được điều chỉnh để phù hợp hơn với nhận thức thính giác của con người</a:t>
            </a:r>
          </a:p>
          <a:p>
            <a:r>
              <a:rPr lang="en-US"/>
              <a:t>Đã được chứng minh là hiệu quả hơn phổ đồ tiêu chuẩn trong nhiều tác vụ học máy</a:t>
            </a:r>
          </a:p>
          <a:p>
            <a:r>
              <a:rPr lang="en-US"/>
              <a:t/>
            </a:r>
          </a:p>
          <a:p>
            <a:r>
              <a:rPr lang="en-US"/>
              <a:t>Mel spectrogram là một biến thể của spectrogram thường được sử dụng trong xử lý giọng nói và các tác vụ học máy. Nó tương tự như spectrogram ở chỗ nó hiển thị nội dung tần số của tín hiệu âm thanh theo thời gian, nhưng trên một trục tần số khác.Tuy nhiên, hệ thống thính giác của con người nhạy cảm hơn với những thay đổi ở tần số thấp hơn so với tần số cao hơn và độ nhạy này giảm theo logarit khi tần số tăng. Thang mel là thang đo nhận thức xấp xỉ đáp ứng tần số phi tuyến tính của tai người.</a:t>
            </a:r>
          </a:p>
          <a:p>
            <a:r>
              <a:rPr lang="en-US"/>
              <a:t>So với phổ đồ chuẩn, phổ đồ mel có thể nắm bắt được nhiều đặc điểm có ý nghĩa hơn của tín hiệu âm thanh để con người nhận thức, khiến nó trở thành lựa chọn phổ biến trong các nhiệm vụ như nhận dạng giọng nói, nhận dạng người nói và phân loại thể loại nhạc.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Từ audio  chuyển thành mel spectrogram  chia thành n_chunks mỗi chunks có độ dài 3s vì vậy mà tensor đầu vào sẽ có kích thước 128x129 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tiếp tục cho qua các lớp tích chập (qua lớp đầu tiên 64 filter và kernel ( 3x 128)) </a:t>
            </a:r>
          </a:p>
          <a:p>
            <a:r>
              <a:rPr lang="en-US"/>
              <a:t>nên đầu ra lúc này là [n_chunk,1,129,64]  </a:t>
            </a:r>
          </a:p>
          <a:p>
            <a:r>
              <a:rPr lang="en-US"/>
              <a:t>qua tiếp một lớp convolution  128 filter  kích thước kernel </a:t>
            </a:r>
          </a:p>
          <a:p>
            <a:r>
              <a:rPr lang="en-US"/>
              <a:t>(4 × 1) [n_chunk,1,129,128] </a:t>
            </a:r>
          </a:p>
          <a:p>
            <a:r>
              <a:rPr lang="en-US"/>
              <a:t> qua tiếp một lớp convolution  256 filter  kích thước kernel (4 × 1)</a:t>
            </a:r>
          </a:p>
          <a:p>
            <a:r>
              <a:rPr lang="en-US"/>
              <a:t> [n_chunk,1,129,256] </a:t>
            </a:r>
          </a:p>
          <a:p>
            <a:r>
              <a:rPr lang="en-US"/>
              <a:t> sau khi qua các lớp conv ta thu đc mỗi đoạn 1 biểu diễn kích thước</a:t>
            </a:r>
          </a:p>
          <a:p>
            <a:r>
              <a:rPr lang="en-US"/>
              <a:t> [1,129,256]</a:t>
            </a:r>
          </a:p>
          <a:p>
            <a:r>
              <a:rPr lang="en-US"/>
              <a:t> sau đó ta cho lớp này đi qua 1 lớp Max-pooling theo chiều thứ 2 lúc này các biểu diễn thu được sẽ có kích thước [256]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đến đây các biểu diễn của n_chunks đoạn sẽ đi theo 2 luồng.</a:t>
            </a:r>
          </a:p>
          <a:p>
            <a:r>
              <a:rPr lang="en-US"/>
              <a:t>•	Luồng 1: các biểu diễn sẽ được cộng thêm các mã hóa vị trí theo công thức đã được nêu ở phần trên và đi vào lớp attention  Lúc này các biểu diễn đặc trưng này sẽ đi qua 3 lớp fully- connected và đầu ra sẽ là 1 vecter trọng số (score) chú ý cho từng đoạn</a:t>
            </a:r>
          </a:p>
          <a:p>
            <a:r>
              <a:rPr lang="en-US"/>
              <a:t>•	Luồng 2 : từng biểu diễn sẽ đi qua 2 lớp fully connected với kích input là 1024 và đầu ra là 1 vecter 190 chiều là các xác xuất và các nhãn  sau khi qua lớp này ta tiến hành nhân [n_chunks,190] vector này với đầu ra của luồng 1 [nchunk] để ra dự đoán cuối cùng của cả bài.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đến đây các biểu diễn của n_chunks đoạn sẽ đi theo 2 luồng.</a:t>
            </a:r>
          </a:p>
          <a:p>
            <a:r>
              <a:rPr lang="en-US"/>
              <a:t>•	Luồng 1: các biểu diễn sẽ được cộng thêm các mã hóa vị trí theo công thức đã được nêu ở phần trên và đi vào lớp attention  Lúc này các biểu diễn đặc trưng này sẽ đi qua 3 lớp fully- connected và đầu ra sẽ là 1 vecter trọng số (score) chú ý cho từng đoạn</a:t>
            </a:r>
          </a:p>
          <a:p>
            <a:r>
              <a:rPr lang="en-US"/>
              <a:t>•	Luồng 2 : từng biểu diễn sẽ đi qua 2 lớp fully connected với kích input là 1024 và đầu ra là 1 vecter 190 chiều là các xác xuất và các nhãn  sau khi qua lớp này ta tiến hành nhân [n_chunks,190] vector này với đầu ra của luồng 1 [nchunk] để ra dự đoán cuối cùng của cả bài.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đến đây các biểu diễn của n_chunks đoạn sẽ đi theo 2 luồng.</a:t>
            </a:r>
          </a:p>
          <a:p>
            <a:r>
              <a:rPr lang="en-US"/>
              <a:t>•	Luồng 1: các biểu diễn sẽ được cộng thêm các mã hóa vị trí theo công thức đã được nêu ở phần trên và đi vào lớp attention  Lúc này các biểu diễn đặc trưng này sẽ đi qua 3 lớp fully- connected và đầu ra sẽ là 1 vecter trọng số (score) chú ý cho từng đoạn</a:t>
            </a:r>
          </a:p>
          <a:p>
            <a:r>
              <a:rPr lang="en-US"/>
              <a:t>•	Luồng 2 : từng biểu diễn sẽ đi qua 2 lớp fully connected với kích input là 1024 và đầu ra là 1 vecter 190 chiều là các xác xuất và các nhãn  sau khi qua lớp này ta tiến hành nhân [n_chunks,190] vector này với đầu ra của luồng 1 [nchunk] để ra dự đoán cuối cùng của cả bài.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Được sử dụng để cung cấp thông tin về vị trí của từng phần tử trong chuỗi đầu vào.</a:t>
            </a:r>
          </a:p>
          <a:p>
            <a:r>
              <a:rPr lang="en-US"/>
              <a:t>Mã hóa vị trí giúp mô hình hiểu và xử lý chuỗi dữ liệu mà không cần dựa vào cấu trúc tuần tự.</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Tổng trọng số của các dự đoán khối để có được dự đoán âm thanh cuối cùng</a:t>
            </a:r>
          </a:p>
          <a:p>
            <a:r>
              <a:rPr lang="en-US"/>
              <a:t/>
            </a:r>
          </a:p>
          <a:p>
            <a:r>
              <a:rPr lang="en-US"/>
              <a:t/>
            </a:r>
          </a:p>
          <a:p>
            <a:r>
              <a:rPr lang="en-US"/>
              <a:t>Luồng 2 : từng biểu diễn sẽ đi qua 2 lớp fully connected với kích input là 1024 và đầu ra là 1 vecter 190 chiều là các xác xuất và các nhãn  sau khi qua lớp này ta tiến hành nhân [n_chunks,190] vector này với đầu ra của luồng 1 [nchunk] để ra dự đoán cuối cùng của cả bài.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Mô tả: Bộ dữ liệu CAL500 được thiết kế để hỗ trợ nghiên cứu về gắn nhãn ngữ nghĩa cho âm nhạc, bao gồm việc tự động gán nhãn mô tả cho các bài hát dựa trên các đặc điểm âm thanh của chúng, chẳng hạn như cảm xúc, thể loại, nhạc cụ và các thuộc tính khác.</a:t>
            </a:r>
          </a:p>
          <a:p>
            <a:r>
              <a:rPr lang="en-US"/>
              <a:t>Nội dung: Bộ dữ liệu chứa 500 bài hát của nhiều nghệ sĩ từ nhiều thể loại khác nhau. Các bài hát được chọn để bao gồm nhiều thể loại và phong cách âm nhạc khác nhau.</a:t>
            </a:r>
          </a:p>
          <a:p>
            <a:r>
              <a:rPr lang="en-US"/>
              <a:t>Mỗi bài hát được chú thích bằng 3 đến 5 thẻ ngữ nghĩa do người nghe cung cấp. Các thẻ này bao gồm nhiều loại cảm xúc, giới tính, nhạc cụ và các mô tả ngữ nghĩa khác.</a:t>
            </a:r>
          </a:p>
          <a:p>
            <a:r>
              <a:rPr lang="en-US"/>
              <a:t>Chú thích của con người: Mỗi bài hát trong tập dữ liệu CAL500 được chú thích bởi người nghe, những người đánh giá và gắn thẻ nhạc dựa trên nội dung âm thanh của bài hát. Điều này tạo ra một tập hợp nhãn ngữ nghĩa phong phú có thể được sử dụng trong các tác vụ học máy liên quan đến âm nhạc.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Bộ dữ liệu huấn luyện: CAL 500 đã nói ở trước đó gồm 500 bài hát. Bên cạnh là kết quả khi huấn luyện mô hình 50 lần với tập dữ liệu trên. Hàm mất mát sử dụng cross-entropy để tính toán mất mát giữa nhãn thực và dự đoán. Sử dụng AdamOptimizer với learning rate 0.001 để giảm thiểu mất mát trong quá trình huấn luyện.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Bộ dữ liệu đánh giá: Bộ dữ liệu đánh giá bao gồm 100 bài hát tiếng Việt, mỗi bài hát có 3 nhãn là điểm nổi bật của bài hát đó. Bộ dữ liệu được thu thập thủ công và các nhãn là thời gian bắt đầu và kết thúc của độ dài 15 giây của bản nhạc nổi bật. Nhãn được gán dựa trên các đoạn nhạc nổi bật của Facebook. Khi sử dụng tính năng tạo tin(story) của Facebook, sẽ có lựa chọn thêm nhạc. Với mỗi bài hát, Facebook gợi ý 3 đoạn highlight của bài hát đó. </a:t>
            </a:r>
          </a:p>
          <a:p>
            <a:r>
              <a:rPr lang="en-US"/>
              <a:t/>
            </a:r>
          </a:p>
          <a:p>
            <a:r>
              <a:rPr lang="en-US"/>
              <a:t>Phương pháp đánh giá: Độ chính xác của một bài hát được tính bằng cách chia độ dài đoạn lặp lại dài nhất giữa nhãn thực tế và nhãn dự đoán cho thời gian của 1 đoạn highlight(đoạn highlight đang để cố định là 15s).</a:t>
            </a:r>
          </a:p>
          <a:p>
            <a:r>
              <a:rPr lang="en-US"/>
              <a:t/>
            </a:r>
          </a:p>
          <a:p>
            <a:r>
              <a:rPr lang="en-US"/>
              <a:t>Bên cạnh kết quả đánh giá của mô hình, bọn em còn so sánh với 1 số phương pháp khác. Kết quả như sau. </a:t>
            </a:r>
          </a:p>
          <a:p>
            <a:r>
              <a:rPr lang="en-US"/>
              <a:t/>
            </a:r>
          </a:p>
          <a:p>
            <a:r>
              <a:rPr lang="en-US"/>
              <a:t/>
            </a:r>
          </a:p>
          <a:p>
            <a:r>
              <a:rPr lang="en-US"/>
              <a:t>Ta có thể thấy kết quả mô hình sử dụng cảm xúc vượt trội hơn so với các phương pháp còn lại.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Khó khăn:</a:t>
            </a:r>
          </a:p>
          <a:p>
            <a:r>
              <a:rPr lang="en-US"/>
              <a:t/>
            </a:r>
          </a:p>
          <a:p>
            <a:r>
              <a:rPr lang="en-US"/>
              <a:t>Trong quá trình nghiên cứu đề tài do bị giới hạn về thời gian nên chưa có được tập dữ liệu huấn luyện và đánh giá đầy đủ và chính xác </a:t>
            </a:r>
          </a:p>
          <a:p>
            <a:r>
              <a:rPr lang="en-US"/>
              <a:t>Chưa có được cách đánh giá cụ thể và chính xác về các đoạn highlight trên một bài hát.</a:t>
            </a:r>
          </a:p>
          <a:p>
            <a:r>
              <a:rPr lang="en-US"/>
              <a:t>Hướng phát triển:</a:t>
            </a:r>
          </a:p>
          <a:p>
            <a:r>
              <a:rPr lang="en-US"/>
              <a:t>Thu thập một bộ dữ liệu gán nhãn được thu thập qua người nghe với độ chính xác cao.</a:t>
            </a:r>
          </a:p>
          <a:p>
            <a:r>
              <a:rPr lang="en-US"/>
              <a:t>Cải thiện độ chính xác của mô hình dựa vào tập dữ liệu huấn luyện vào đánh giá trên.</a:t>
            </a:r>
          </a:p>
          <a:p>
            <a:r>
              <a:rPr lang="en-US"/>
              <a:t>Tiếp cận và xây dựng mô hình một cách trực tiếp với tập dữ liệu chuẩn.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png" Type="http://schemas.openxmlformats.org/officeDocument/2006/relationships/image"/><Relationship Id="rId4"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5.png" Type="http://schemas.openxmlformats.org/officeDocument/2006/relationships/image"/><Relationship Id="rId4"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png" Type="http://schemas.openxmlformats.org/officeDocument/2006/relationships/image"/><Relationship Id="rId4"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4.png" Type="http://schemas.openxmlformats.org/officeDocument/2006/relationships/image"/><Relationship Id="rId6"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3.png" Type="http://schemas.openxmlformats.org/officeDocument/2006/relationships/image"/><Relationship Id="rId4"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14.png" Type="http://schemas.openxmlformats.org/officeDocument/2006/relationships/image"/><Relationship Id="rId6"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15.png" Type="http://schemas.openxmlformats.org/officeDocument/2006/relationships/image"/><Relationship Id="rId6" Target="../media/image4.pn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4.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4.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4.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 Id="rId9" Target="../media/image2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27.png" Type="http://schemas.openxmlformats.org/officeDocument/2006/relationships/image"/><Relationship Id="rId6" Target="../media/image4.png" Type="http://schemas.openxmlformats.org/officeDocument/2006/relationships/image"/><Relationship Id="rId7" Target="../media/image1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4.png" Type="http://schemas.openxmlformats.org/officeDocument/2006/relationships/image"/><Relationship Id="rId6" Target="../media/image12.png" Type="http://schemas.openxmlformats.org/officeDocument/2006/relationships/image"/><Relationship Id="rId7" Target="../media/image2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4.png" Type="http://schemas.openxmlformats.org/officeDocument/2006/relationships/image"/><Relationship Id="rId6" Target="../media/image2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4.png" Type="http://schemas.openxmlformats.org/officeDocument/2006/relationships/image"/><Relationship Id="rId6" Target="../media/image2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30.png" Type="http://schemas.openxmlformats.org/officeDocument/2006/relationships/image"/><Relationship Id="rId6" Target="../media/image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22" r="0" b="-9222"/>
            </a:stretch>
          </a:blipFill>
        </p:spPr>
      </p:sp>
      <p:sp>
        <p:nvSpPr>
          <p:cNvPr name="Freeform 3" id="3"/>
          <p:cNvSpPr/>
          <p:nvPr/>
        </p:nvSpPr>
        <p:spPr>
          <a:xfrm flipH="false" flipV="false" rot="0">
            <a:off x="7827351" y="408311"/>
            <a:ext cx="2633297" cy="1312163"/>
          </a:xfrm>
          <a:custGeom>
            <a:avLst/>
            <a:gdLst/>
            <a:ahLst/>
            <a:cxnLst/>
            <a:rect r="r" b="b" t="t" l="l"/>
            <a:pathLst>
              <a:path h="1312163" w="2633297">
                <a:moveTo>
                  <a:pt x="0" y="0"/>
                </a:moveTo>
                <a:lnTo>
                  <a:pt x="2633298" y="0"/>
                </a:lnTo>
                <a:lnTo>
                  <a:pt x="2633298" y="1312162"/>
                </a:lnTo>
                <a:lnTo>
                  <a:pt x="0" y="13121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6808141" y="2646717"/>
            <a:ext cx="2022321" cy="8460018"/>
            <a:chOff x="0" y="0"/>
            <a:chExt cx="532628" cy="2228153"/>
          </a:xfrm>
        </p:grpSpPr>
        <p:sp>
          <p:nvSpPr>
            <p:cNvPr name="Freeform 5" id="5"/>
            <p:cNvSpPr/>
            <p:nvPr/>
          </p:nvSpPr>
          <p:spPr>
            <a:xfrm flipH="false" flipV="false" rot="0">
              <a:off x="0" y="0"/>
              <a:ext cx="532628" cy="2228153"/>
            </a:xfrm>
            <a:custGeom>
              <a:avLst/>
              <a:gdLst/>
              <a:ahLst/>
              <a:cxnLst/>
              <a:rect r="r" b="b" t="t" l="l"/>
              <a:pathLst>
                <a:path h="2228153" w="532628">
                  <a:moveTo>
                    <a:pt x="0" y="0"/>
                  </a:moveTo>
                  <a:lnTo>
                    <a:pt x="532628" y="0"/>
                  </a:lnTo>
                  <a:lnTo>
                    <a:pt x="532628" y="2228153"/>
                  </a:lnTo>
                  <a:lnTo>
                    <a:pt x="0" y="2228153"/>
                  </a:lnTo>
                  <a:close/>
                </a:path>
              </a:pathLst>
            </a:custGeom>
            <a:solidFill>
              <a:srgbClr val="9F9F9F"/>
            </a:solidFill>
          </p:spPr>
        </p:sp>
        <p:sp>
          <p:nvSpPr>
            <p:cNvPr name="TextBox 6" id="6"/>
            <p:cNvSpPr txBox="true"/>
            <p:nvPr/>
          </p:nvSpPr>
          <p:spPr>
            <a:xfrm>
              <a:off x="0" y="-38100"/>
              <a:ext cx="532628" cy="226625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686387" y="-607424"/>
            <a:ext cx="3709695" cy="1015735"/>
            <a:chOff x="0" y="0"/>
            <a:chExt cx="977039" cy="267519"/>
          </a:xfrm>
        </p:grpSpPr>
        <p:sp>
          <p:nvSpPr>
            <p:cNvPr name="Freeform 8" id="8"/>
            <p:cNvSpPr/>
            <p:nvPr/>
          </p:nvSpPr>
          <p:spPr>
            <a:xfrm flipH="false" flipV="false" rot="0">
              <a:off x="0" y="0"/>
              <a:ext cx="977039" cy="267519"/>
            </a:xfrm>
            <a:custGeom>
              <a:avLst/>
              <a:gdLst/>
              <a:ahLst/>
              <a:cxnLst/>
              <a:rect r="r" b="b" t="t" l="l"/>
              <a:pathLst>
                <a:path h="267519" w="977039">
                  <a:moveTo>
                    <a:pt x="0" y="0"/>
                  </a:moveTo>
                  <a:lnTo>
                    <a:pt x="977039" y="0"/>
                  </a:lnTo>
                  <a:lnTo>
                    <a:pt x="977039" y="267519"/>
                  </a:lnTo>
                  <a:lnTo>
                    <a:pt x="0" y="267519"/>
                  </a:lnTo>
                  <a:close/>
                </a:path>
              </a:pathLst>
            </a:custGeom>
            <a:solidFill>
              <a:srgbClr val="9F9F9F"/>
            </a:solidFill>
          </p:spPr>
        </p:sp>
        <p:sp>
          <p:nvSpPr>
            <p:cNvPr name="TextBox 9" id="9"/>
            <p:cNvSpPr txBox="true"/>
            <p:nvPr/>
          </p:nvSpPr>
          <p:spPr>
            <a:xfrm>
              <a:off x="0" y="-38100"/>
              <a:ext cx="977039" cy="305619"/>
            </a:xfrm>
            <a:prstGeom prst="rect">
              <a:avLst/>
            </a:prstGeom>
          </p:spPr>
          <p:txBody>
            <a:bodyPr anchor="ctr" rtlCol="false" tIns="50800" lIns="50800" bIns="50800" rIns="50800"/>
            <a:lstStyle/>
            <a:p>
              <a:pPr algn="ctr">
                <a:lnSpc>
                  <a:spcPts val="3359"/>
                </a:lnSpc>
              </a:pPr>
            </a:p>
          </p:txBody>
        </p:sp>
      </p:grpSp>
      <p:sp>
        <p:nvSpPr>
          <p:cNvPr name="TextBox 10" id="10"/>
          <p:cNvSpPr txBox="true"/>
          <p:nvPr/>
        </p:nvSpPr>
        <p:spPr>
          <a:xfrm rot="0">
            <a:off x="1028700" y="1539498"/>
            <a:ext cx="16230600" cy="3134087"/>
          </a:xfrm>
          <a:prstGeom prst="rect">
            <a:avLst/>
          </a:prstGeom>
        </p:spPr>
        <p:txBody>
          <a:bodyPr anchor="t" rtlCol="false" tIns="0" lIns="0" bIns="0" rIns="0">
            <a:spAutoFit/>
          </a:bodyPr>
          <a:lstStyle/>
          <a:p>
            <a:pPr algn="ctr">
              <a:lnSpc>
                <a:spcPts val="12580"/>
              </a:lnSpc>
            </a:pPr>
            <a:r>
              <a:rPr lang="en-US" sz="8985">
                <a:solidFill>
                  <a:srgbClr val="000000"/>
                </a:solidFill>
                <a:latin typeface="Tomorrow"/>
                <a:ea typeface="Tomorrow"/>
                <a:cs typeface="Tomorrow"/>
                <a:sym typeface="Tomorrow"/>
              </a:rPr>
              <a:t>Deep learning-based for Music Highlight Detection</a:t>
            </a:r>
          </a:p>
        </p:txBody>
      </p:sp>
      <p:sp>
        <p:nvSpPr>
          <p:cNvPr name="TextBox 11" id="11"/>
          <p:cNvSpPr txBox="true"/>
          <p:nvPr/>
        </p:nvSpPr>
        <p:spPr>
          <a:xfrm rot="0">
            <a:off x="3155222" y="5805806"/>
            <a:ext cx="5683004" cy="4248150"/>
          </a:xfrm>
          <a:prstGeom prst="rect">
            <a:avLst/>
          </a:prstGeom>
        </p:spPr>
        <p:txBody>
          <a:bodyPr anchor="t" rtlCol="false" tIns="0" lIns="0" bIns="0" rIns="0">
            <a:spAutoFit/>
          </a:bodyPr>
          <a:lstStyle/>
          <a:p>
            <a:pPr algn="just">
              <a:lnSpc>
                <a:spcPts val="4200"/>
              </a:lnSpc>
            </a:pPr>
          </a:p>
          <a:p>
            <a:pPr algn="just">
              <a:lnSpc>
                <a:spcPts val="4200"/>
              </a:lnSpc>
            </a:pPr>
            <a:r>
              <a:rPr lang="en-US" sz="3000">
                <a:solidFill>
                  <a:srgbClr val="000000"/>
                </a:solidFill>
                <a:latin typeface="Garet Light"/>
                <a:ea typeface="Garet Light"/>
                <a:cs typeface="Garet Light"/>
                <a:sym typeface="Garet Light"/>
              </a:rPr>
              <a:t>Students</a:t>
            </a:r>
          </a:p>
          <a:p>
            <a:pPr algn="just" marL="647702" indent="-323851" lvl="1">
              <a:lnSpc>
                <a:spcPts val="4200"/>
              </a:lnSpc>
              <a:buFont typeface="Arial"/>
              <a:buChar char="•"/>
            </a:pPr>
            <a:r>
              <a:rPr lang="en-US" sz="3000">
                <a:solidFill>
                  <a:srgbClr val="000000"/>
                </a:solidFill>
                <a:latin typeface="Garet Light"/>
                <a:ea typeface="Garet Light"/>
                <a:cs typeface="Garet Light"/>
                <a:sym typeface="Garet Light"/>
              </a:rPr>
              <a:t>Pham Trong Bien</a:t>
            </a:r>
          </a:p>
          <a:p>
            <a:pPr algn="just" marL="647702" indent="-323851" lvl="1">
              <a:lnSpc>
                <a:spcPts val="4200"/>
              </a:lnSpc>
              <a:buFont typeface="Arial"/>
              <a:buChar char="•"/>
            </a:pPr>
            <a:r>
              <a:rPr lang="en-US" sz="3000">
                <a:solidFill>
                  <a:srgbClr val="000000"/>
                </a:solidFill>
                <a:latin typeface="Garet Light"/>
                <a:ea typeface="Garet Light"/>
                <a:cs typeface="Garet Light"/>
                <a:sym typeface="Garet Light"/>
              </a:rPr>
              <a:t>Bui Van Thong</a:t>
            </a:r>
          </a:p>
          <a:p>
            <a:pPr algn="just">
              <a:lnSpc>
                <a:spcPts val="4200"/>
              </a:lnSpc>
            </a:pPr>
            <a:r>
              <a:rPr lang="en-US" sz="3000">
                <a:solidFill>
                  <a:srgbClr val="000000"/>
                </a:solidFill>
                <a:latin typeface="Garet Light"/>
                <a:ea typeface="Garet Light"/>
                <a:cs typeface="Garet Light"/>
                <a:sym typeface="Garet Light"/>
              </a:rPr>
              <a:t>Mentors</a:t>
            </a:r>
          </a:p>
          <a:p>
            <a:pPr algn="just" marL="647702" indent="-323851" lvl="1">
              <a:lnSpc>
                <a:spcPts val="4200"/>
              </a:lnSpc>
              <a:buFont typeface="Arial"/>
              <a:buChar char="•"/>
            </a:pPr>
            <a:r>
              <a:rPr lang="en-US" sz="3000">
                <a:solidFill>
                  <a:srgbClr val="000000"/>
                </a:solidFill>
                <a:latin typeface="Garet Light"/>
                <a:ea typeface="Garet Light"/>
                <a:cs typeface="Garet Light"/>
                <a:sym typeface="Garet Light"/>
              </a:rPr>
              <a:t>Diep Hai Thinh</a:t>
            </a:r>
          </a:p>
          <a:p>
            <a:pPr algn="just" marL="647702" indent="-323851" lvl="1">
              <a:lnSpc>
                <a:spcPts val="4200"/>
              </a:lnSpc>
              <a:buFont typeface="Arial"/>
              <a:buChar char="•"/>
            </a:pPr>
            <a:r>
              <a:rPr lang="en-US" sz="3000">
                <a:solidFill>
                  <a:srgbClr val="000000"/>
                </a:solidFill>
                <a:latin typeface="Garet Light"/>
                <a:ea typeface="Garet Light"/>
                <a:cs typeface="Garet Light"/>
                <a:sym typeface="Garet Light"/>
              </a:rPr>
              <a:t>Dam Viet Anh</a:t>
            </a:r>
          </a:p>
          <a:p>
            <a:pPr algn="just">
              <a:lnSpc>
                <a:spcPts val="4200"/>
              </a:lnSpc>
            </a:pPr>
          </a:p>
        </p:txBody>
      </p:sp>
      <p:sp>
        <p:nvSpPr>
          <p:cNvPr name="TextBox 12" id="12"/>
          <p:cNvSpPr txBox="true"/>
          <p:nvPr/>
        </p:nvSpPr>
        <p:spPr>
          <a:xfrm rot="0">
            <a:off x="7740789" y="4897755"/>
            <a:ext cx="2806422"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Group T05</a:t>
            </a:r>
          </a:p>
        </p:txBody>
      </p:sp>
      <p:sp>
        <p:nvSpPr>
          <p:cNvPr name="Freeform 13" id="13"/>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6"/>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6808141" y="2646717"/>
            <a:ext cx="2022321" cy="8460018"/>
            <a:chOff x="0" y="0"/>
            <a:chExt cx="532628" cy="2228153"/>
          </a:xfrm>
        </p:grpSpPr>
        <p:sp>
          <p:nvSpPr>
            <p:cNvPr name="Freeform 4" id="4"/>
            <p:cNvSpPr/>
            <p:nvPr/>
          </p:nvSpPr>
          <p:spPr>
            <a:xfrm flipH="false" flipV="false" rot="0">
              <a:off x="0" y="0"/>
              <a:ext cx="532628" cy="2228153"/>
            </a:xfrm>
            <a:custGeom>
              <a:avLst/>
              <a:gdLst/>
              <a:ahLst/>
              <a:cxnLst/>
              <a:rect r="r" b="b" t="t" l="l"/>
              <a:pathLst>
                <a:path h="2228153" w="532628">
                  <a:moveTo>
                    <a:pt x="0" y="0"/>
                  </a:moveTo>
                  <a:lnTo>
                    <a:pt x="532628" y="0"/>
                  </a:lnTo>
                  <a:lnTo>
                    <a:pt x="532628" y="2228153"/>
                  </a:lnTo>
                  <a:lnTo>
                    <a:pt x="0" y="2228153"/>
                  </a:lnTo>
                  <a:close/>
                </a:path>
              </a:pathLst>
            </a:custGeom>
            <a:solidFill>
              <a:srgbClr val="9F9F9F"/>
            </a:solidFill>
          </p:spPr>
        </p:sp>
        <p:sp>
          <p:nvSpPr>
            <p:cNvPr name="TextBox 5" id="5"/>
            <p:cNvSpPr txBox="true"/>
            <p:nvPr/>
          </p:nvSpPr>
          <p:spPr>
            <a:xfrm>
              <a:off x="0" y="-38100"/>
              <a:ext cx="532628" cy="2266253"/>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686387" y="-607424"/>
            <a:ext cx="3869586" cy="1015735"/>
            <a:chOff x="0" y="0"/>
            <a:chExt cx="1019150" cy="267519"/>
          </a:xfrm>
        </p:grpSpPr>
        <p:sp>
          <p:nvSpPr>
            <p:cNvPr name="Freeform 7" id="7"/>
            <p:cNvSpPr/>
            <p:nvPr/>
          </p:nvSpPr>
          <p:spPr>
            <a:xfrm flipH="false" flipV="false" rot="0">
              <a:off x="0" y="0"/>
              <a:ext cx="1019150" cy="267519"/>
            </a:xfrm>
            <a:custGeom>
              <a:avLst/>
              <a:gdLst/>
              <a:ahLst/>
              <a:cxnLst/>
              <a:rect r="r" b="b" t="t" l="l"/>
              <a:pathLst>
                <a:path h="267519" w="1019150">
                  <a:moveTo>
                    <a:pt x="0" y="0"/>
                  </a:moveTo>
                  <a:lnTo>
                    <a:pt x="1019150" y="0"/>
                  </a:lnTo>
                  <a:lnTo>
                    <a:pt x="1019150" y="267519"/>
                  </a:lnTo>
                  <a:lnTo>
                    <a:pt x="0" y="267519"/>
                  </a:lnTo>
                  <a:close/>
                </a:path>
              </a:pathLst>
            </a:custGeom>
            <a:solidFill>
              <a:srgbClr val="9F9F9F"/>
            </a:solidFill>
          </p:spPr>
        </p:sp>
        <p:sp>
          <p:nvSpPr>
            <p:cNvPr name="TextBox 8" id="8"/>
            <p:cNvSpPr txBox="true"/>
            <p:nvPr/>
          </p:nvSpPr>
          <p:spPr>
            <a:xfrm>
              <a:off x="0" y="-38100"/>
              <a:ext cx="1019150" cy="305619"/>
            </a:xfrm>
            <a:prstGeom prst="rect">
              <a:avLst/>
            </a:prstGeom>
          </p:spPr>
          <p:txBody>
            <a:bodyPr anchor="ctr" rtlCol="false" tIns="50800" lIns="50800" bIns="50800" rIns="50800"/>
            <a:lstStyle/>
            <a:p>
              <a:pPr algn="ctr">
                <a:lnSpc>
                  <a:spcPts val="3359"/>
                </a:lnSpc>
              </a:pPr>
            </a:p>
          </p:txBody>
        </p:sp>
      </p:grpSp>
      <p:sp>
        <p:nvSpPr>
          <p:cNvPr name="TextBox 9" id="9"/>
          <p:cNvSpPr txBox="true"/>
          <p:nvPr/>
        </p:nvSpPr>
        <p:spPr>
          <a:xfrm rot="0">
            <a:off x="7209207" y="847725"/>
            <a:ext cx="3869586" cy="1543412"/>
          </a:xfrm>
          <a:prstGeom prst="rect">
            <a:avLst/>
          </a:prstGeom>
        </p:spPr>
        <p:txBody>
          <a:bodyPr anchor="t" rtlCol="false" tIns="0" lIns="0" bIns="0" rIns="0">
            <a:spAutoFit/>
          </a:bodyPr>
          <a:lstStyle/>
          <a:p>
            <a:pPr algn="l">
              <a:lnSpc>
                <a:spcPts val="12580"/>
              </a:lnSpc>
            </a:pPr>
            <a:r>
              <a:rPr lang="en-US" sz="8985">
                <a:solidFill>
                  <a:srgbClr val="000000"/>
                </a:solidFill>
                <a:latin typeface="Tomorrow"/>
                <a:ea typeface="Tomorrow"/>
                <a:cs typeface="Tomorrow"/>
                <a:sym typeface="Tomorrow"/>
              </a:rPr>
              <a:t>Outline</a:t>
            </a:r>
          </a:p>
        </p:txBody>
      </p:sp>
      <p:sp>
        <p:nvSpPr>
          <p:cNvPr name="TextBox 10" id="10"/>
          <p:cNvSpPr txBox="true"/>
          <p:nvPr/>
        </p:nvSpPr>
        <p:spPr>
          <a:xfrm rot="0">
            <a:off x="2621180" y="2915012"/>
            <a:ext cx="10206106" cy="5059680"/>
          </a:xfrm>
          <a:prstGeom prst="rect">
            <a:avLst/>
          </a:prstGeom>
        </p:spPr>
        <p:txBody>
          <a:bodyPr anchor="t" rtlCol="false" tIns="0" lIns="0" bIns="0" rIns="0">
            <a:spAutoFit/>
          </a:bodyPr>
          <a:lstStyle/>
          <a:p>
            <a:pPr algn="l" marL="1036320" indent="-518160" lvl="1">
              <a:lnSpc>
                <a:spcPts val="6719"/>
              </a:lnSpc>
              <a:buAutoNum type="arabicPeriod" startAt="1"/>
            </a:pPr>
            <a:r>
              <a:rPr lang="en-US" sz="4800">
                <a:solidFill>
                  <a:srgbClr val="000000"/>
                </a:solidFill>
                <a:latin typeface="Tomorrow"/>
                <a:ea typeface="Tomorrow"/>
                <a:cs typeface="Tomorrow"/>
                <a:sym typeface="Tomorrow"/>
              </a:rPr>
              <a:t>Introduction</a:t>
            </a:r>
          </a:p>
          <a:p>
            <a:pPr algn="l" marL="1036320" indent="-518160" lvl="1">
              <a:lnSpc>
                <a:spcPts val="6719"/>
              </a:lnSpc>
              <a:buAutoNum type="arabicPeriod" startAt="1"/>
            </a:pPr>
            <a:r>
              <a:rPr lang="en-US" sz="4800">
                <a:solidFill>
                  <a:srgbClr val="000000"/>
                </a:solidFill>
                <a:latin typeface="Tomorrow"/>
                <a:ea typeface="Tomorrow"/>
                <a:cs typeface="Tomorrow"/>
                <a:sym typeface="Tomorrow"/>
              </a:rPr>
              <a:t>Model architecture</a:t>
            </a:r>
          </a:p>
          <a:p>
            <a:pPr algn="l" marL="1036320" indent="-518160" lvl="1">
              <a:lnSpc>
                <a:spcPts val="6719"/>
              </a:lnSpc>
              <a:buAutoNum type="arabicPeriod" startAt="1"/>
            </a:pPr>
            <a:r>
              <a:rPr lang="en-US" sz="4800">
                <a:solidFill>
                  <a:srgbClr val="000000"/>
                </a:solidFill>
                <a:latin typeface="Tomorrow"/>
                <a:ea typeface="Tomorrow"/>
                <a:cs typeface="Tomorrow"/>
                <a:sym typeface="Tomorrow"/>
              </a:rPr>
              <a:t>Training</a:t>
            </a:r>
          </a:p>
          <a:p>
            <a:pPr algn="l" marL="1036320" indent="-518160" lvl="1">
              <a:lnSpc>
                <a:spcPts val="6719"/>
              </a:lnSpc>
              <a:buAutoNum type="arabicPeriod" startAt="1"/>
            </a:pPr>
            <a:r>
              <a:rPr lang="en-US" sz="4800">
                <a:solidFill>
                  <a:srgbClr val="000000"/>
                </a:solidFill>
                <a:latin typeface="Tomorrow"/>
                <a:ea typeface="Tomorrow"/>
                <a:cs typeface="Tomorrow"/>
                <a:sym typeface="Tomorrow"/>
              </a:rPr>
              <a:t>Evaluation</a:t>
            </a:r>
          </a:p>
          <a:p>
            <a:pPr algn="l" marL="1036320" indent="-518160" lvl="1">
              <a:lnSpc>
                <a:spcPts val="6719"/>
              </a:lnSpc>
              <a:buAutoNum type="arabicPeriod" startAt="1"/>
            </a:pPr>
            <a:r>
              <a:rPr lang="en-US" sz="4800">
                <a:solidFill>
                  <a:srgbClr val="000000"/>
                </a:solidFill>
                <a:latin typeface="Tomorrow"/>
                <a:ea typeface="Tomorrow"/>
                <a:cs typeface="Tomorrow"/>
                <a:sym typeface="Tomorrow"/>
              </a:rPr>
              <a:t>Conclusion</a:t>
            </a:r>
          </a:p>
          <a:p>
            <a:pPr algn="l" marL="1036320" indent="-518160" lvl="1">
              <a:lnSpc>
                <a:spcPts val="6719"/>
              </a:lnSpc>
              <a:buAutoNum type="arabicPeriod" startAt="1"/>
            </a:pPr>
            <a:r>
              <a:rPr lang="en-US" sz="4800">
                <a:solidFill>
                  <a:srgbClr val="000000"/>
                </a:solidFill>
                <a:latin typeface="Tomorrow"/>
                <a:ea typeface="Tomorrow"/>
                <a:cs typeface="Tomorrow"/>
                <a:sym typeface="Tomorrow"/>
              </a:rPr>
              <a:t>Demo</a:t>
            </a:r>
          </a:p>
        </p:txBody>
      </p:sp>
      <p:sp>
        <p:nvSpPr>
          <p:cNvPr name="Freeform 11" id="11"/>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7827351" y="2283995"/>
            <a:ext cx="2633297" cy="1312163"/>
          </a:xfrm>
          <a:custGeom>
            <a:avLst/>
            <a:gdLst/>
            <a:ahLst/>
            <a:cxnLst/>
            <a:rect r="r" b="b" t="t" l="l"/>
            <a:pathLst>
              <a:path h="1312163" w="2633297">
                <a:moveTo>
                  <a:pt x="0" y="0"/>
                </a:moveTo>
                <a:lnTo>
                  <a:pt x="2633298" y="0"/>
                </a:lnTo>
                <a:lnTo>
                  <a:pt x="2633298" y="1312163"/>
                </a:lnTo>
                <a:lnTo>
                  <a:pt x="0" y="13121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686387" y="-607424"/>
            <a:ext cx="3709695" cy="1015735"/>
            <a:chOff x="0" y="0"/>
            <a:chExt cx="977039" cy="267519"/>
          </a:xfrm>
        </p:grpSpPr>
        <p:sp>
          <p:nvSpPr>
            <p:cNvPr name="Freeform 5" id="5"/>
            <p:cNvSpPr/>
            <p:nvPr/>
          </p:nvSpPr>
          <p:spPr>
            <a:xfrm flipH="false" flipV="false" rot="0">
              <a:off x="0" y="0"/>
              <a:ext cx="977039" cy="267519"/>
            </a:xfrm>
            <a:custGeom>
              <a:avLst/>
              <a:gdLst/>
              <a:ahLst/>
              <a:cxnLst/>
              <a:rect r="r" b="b" t="t" l="l"/>
              <a:pathLst>
                <a:path h="267519" w="977039">
                  <a:moveTo>
                    <a:pt x="0" y="0"/>
                  </a:moveTo>
                  <a:lnTo>
                    <a:pt x="977039" y="0"/>
                  </a:lnTo>
                  <a:lnTo>
                    <a:pt x="977039" y="267519"/>
                  </a:lnTo>
                  <a:lnTo>
                    <a:pt x="0" y="267519"/>
                  </a:lnTo>
                  <a:close/>
                </a:path>
              </a:pathLst>
            </a:custGeom>
            <a:solidFill>
              <a:srgbClr val="9F9F9F"/>
            </a:solidFill>
          </p:spPr>
        </p:sp>
        <p:sp>
          <p:nvSpPr>
            <p:cNvPr name="TextBox 6" id="6"/>
            <p:cNvSpPr txBox="true"/>
            <p:nvPr/>
          </p:nvSpPr>
          <p:spPr>
            <a:xfrm>
              <a:off x="0" y="-38100"/>
              <a:ext cx="977039" cy="305619"/>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1988599" y="7022439"/>
            <a:ext cx="738450" cy="1015735"/>
            <a:chOff x="0" y="0"/>
            <a:chExt cx="194489" cy="267519"/>
          </a:xfrm>
        </p:grpSpPr>
        <p:sp>
          <p:nvSpPr>
            <p:cNvPr name="Freeform 8" id="8"/>
            <p:cNvSpPr/>
            <p:nvPr/>
          </p:nvSpPr>
          <p:spPr>
            <a:xfrm flipH="false" flipV="false" rot="0">
              <a:off x="0" y="0"/>
              <a:ext cx="194489" cy="267519"/>
            </a:xfrm>
            <a:custGeom>
              <a:avLst/>
              <a:gdLst/>
              <a:ahLst/>
              <a:cxnLst/>
              <a:rect r="r" b="b" t="t" l="l"/>
              <a:pathLst>
                <a:path h="267519" w="194489">
                  <a:moveTo>
                    <a:pt x="0" y="0"/>
                  </a:moveTo>
                  <a:lnTo>
                    <a:pt x="194489" y="0"/>
                  </a:lnTo>
                  <a:lnTo>
                    <a:pt x="194489" y="267519"/>
                  </a:lnTo>
                  <a:lnTo>
                    <a:pt x="0" y="267519"/>
                  </a:lnTo>
                  <a:close/>
                </a:path>
              </a:pathLst>
            </a:custGeom>
            <a:solidFill>
              <a:srgbClr val="9F9F9F"/>
            </a:solidFill>
          </p:spPr>
        </p:sp>
        <p:sp>
          <p:nvSpPr>
            <p:cNvPr name="TextBox 9" id="9"/>
            <p:cNvSpPr txBox="true"/>
            <p:nvPr/>
          </p:nvSpPr>
          <p:spPr>
            <a:xfrm>
              <a:off x="0" y="-38100"/>
              <a:ext cx="194489" cy="305619"/>
            </a:xfrm>
            <a:prstGeom prst="rect">
              <a:avLst/>
            </a:prstGeom>
          </p:spPr>
          <p:txBody>
            <a:bodyPr anchor="ctr" rtlCol="false" tIns="50800" lIns="50800" bIns="50800" rIns="50800"/>
            <a:lstStyle/>
            <a:p>
              <a:pPr algn="ctr">
                <a:lnSpc>
                  <a:spcPts val="3359"/>
                </a:lnSpc>
              </a:pPr>
            </a:p>
          </p:txBody>
        </p:sp>
      </p:grpSp>
      <p:sp>
        <p:nvSpPr>
          <p:cNvPr name="TextBox 10" id="10"/>
          <p:cNvSpPr txBox="true"/>
          <p:nvPr/>
        </p:nvSpPr>
        <p:spPr>
          <a:xfrm rot="0">
            <a:off x="1028700" y="4053358"/>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Introduction</a:t>
            </a:r>
          </a:p>
        </p:txBody>
      </p:sp>
      <p:sp>
        <p:nvSpPr>
          <p:cNvPr name="Freeform 11" id="11"/>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1722525" y="2639834"/>
            <a:ext cx="5536775" cy="4686817"/>
          </a:xfrm>
          <a:custGeom>
            <a:avLst/>
            <a:gdLst/>
            <a:ahLst/>
            <a:cxnLst/>
            <a:rect r="r" b="b" t="t" l="l"/>
            <a:pathLst>
              <a:path h="4686817" w="5536775">
                <a:moveTo>
                  <a:pt x="0" y="0"/>
                </a:moveTo>
                <a:lnTo>
                  <a:pt x="5536775" y="0"/>
                </a:lnTo>
                <a:lnTo>
                  <a:pt x="5536775" y="4686818"/>
                </a:lnTo>
                <a:lnTo>
                  <a:pt x="0" y="4686818"/>
                </a:lnTo>
                <a:lnTo>
                  <a:pt x="0" y="0"/>
                </a:lnTo>
                <a:close/>
              </a:path>
            </a:pathLst>
          </a:custGeom>
          <a:blipFill>
            <a:blip r:embed="rId3"/>
            <a:stretch>
              <a:fillRect l="-9309" t="0" r="-10155" b="0"/>
            </a:stretch>
          </a:blipFill>
        </p:spPr>
      </p:sp>
      <p:sp>
        <p:nvSpPr>
          <p:cNvPr name="TextBox 9" id="9"/>
          <p:cNvSpPr txBox="true"/>
          <p:nvPr/>
        </p:nvSpPr>
        <p:spPr>
          <a:xfrm rot="0">
            <a:off x="1332160" y="1722952"/>
            <a:ext cx="13158753" cy="1047750"/>
          </a:xfrm>
          <a:prstGeom prst="rect">
            <a:avLst/>
          </a:prstGeom>
        </p:spPr>
        <p:txBody>
          <a:bodyPr anchor="t" rtlCol="false" tIns="0" lIns="0" bIns="0" rIns="0">
            <a:spAutoFit/>
          </a:bodyPr>
          <a:lstStyle/>
          <a:p>
            <a:pPr algn="l">
              <a:lnSpc>
                <a:spcPts val="8400"/>
              </a:lnSpc>
            </a:pPr>
            <a:r>
              <a:rPr lang="en-US" sz="6000">
                <a:solidFill>
                  <a:srgbClr val="000000"/>
                </a:solidFill>
                <a:latin typeface="Tomorrow"/>
                <a:ea typeface="Tomorrow"/>
                <a:cs typeface="Tomorrow"/>
                <a:sym typeface="Tomorrow"/>
              </a:rPr>
              <a:t>What is music highlight detection?</a:t>
            </a:r>
          </a:p>
        </p:txBody>
      </p:sp>
      <p:sp>
        <p:nvSpPr>
          <p:cNvPr name="TextBox 10" id="10"/>
          <p:cNvSpPr txBox="true"/>
          <p:nvPr/>
        </p:nvSpPr>
        <p:spPr>
          <a:xfrm rot="0">
            <a:off x="1332160" y="2904343"/>
            <a:ext cx="10390365" cy="1407795"/>
          </a:xfrm>
          <a:prstGeom prst="rect">
            <a:avLst/>
          </a:prstGeom>
        </p:spPr>
        <p:txBody>
          <a:bodyPr anchor="t" rtlCol="false" tIns="0" lIns="0" bIns="0" rIns="0">
            <a:spAutoFit/>
          </a:bodyPr>
          <a:lstStyle/>
          <a:p>
            <a:pPr algn="just" marL="582928" indent="-291464" lvl="1">
              <a:lnSpc>
                <a:spcPts val="3779"/>
              </a:lnSpc>
              <a:buFont typeface="Arial"/>
              <a:buChar char="•"/>
            </a:pPr>
            <a:r>
              <a:rPr lang="en-US" sz="2699">
                <a:solidFill>
                  <a:srgbClr val="000000"/>
                </a:solidFill>
                <a:latin typeface="Garet"/>
                <a:ea typeface="Garet"/>
                <a:cs typeface="Garet"/>
                <a:sym typeface="Garet"/>
              </a:rPr>
              <a:t>Extract a short consecutive segment of a piece of music that is somehow representative of the whole piece</a:t>
            </a:r>
          </a:p>
        </p:txBody>
      </p:sp>
      <p:sp>
        <p:nvSpPr>
          <p:cNvPr name="TextBox 11" id="11"/>
          <p:cNvSpPr txBox="true"/>
          <p:nvPr/>
        </p:nvSpPr>
        <p:spPr>
          <a:xfrm rot="0">
            <a:off x="1332160" y="5955994"/>
            <a:ext cx="11111117" cy="2360295"/>
          </a:xfrm>
          <a:prstGeom prst="rect">
            <a:avLst/>
          </a:prstGeom>
        </p:spPr>
        <p:txBody>
          <a:bodyPr anchor="t" rtlCol="false" tIns="0" lIns="0" bIns="0" rIns="0">
            <a:spAutoFit/>
          </a:bodyPr>
          <a:lstStyle/>
          <a:p>
            <a:pPr algn="just" marL="582928" indent="-291464" lvl="1">
              <a:lnSpc>
                <a:spcPts val="3779"/>
              </a:lnSpc>
              <a:buFont typeface="Arial"/>
              <a:buChar char="•"/>
            </a:pPr>
            <a:r>
              <a:rPr lang="en-US" sz="2699">
                <a:solidFill>
                  <a:srgbClr val="000000"/>
                </a:solidFill>
                <a:latin typeface="Garet"/>
                <a:ea typeface="Garet"/>
                <a:cs typeface="Garet"/>
                <a:sym typeface="Garet"/>
              </a:rPr>
              <a:t>Music preview</a:t>
            </a:r>
          </a:p>
          <a:p>
            <a:pPr algn="just" marL="582928" indent="-291464" lvl="1">
              <a:lnSpc>
                <a:spcPts val="3779"/>
              </a:lnSpc>
              <a:buFont typeface="Arial"/>
              <a:buChar char="•"/>
            </a:pPr>
            <a:r>
              <a:rPr lang="en-US" sz="2699">
                <a:solidFill>
                  <a:srgbClr val="000000"/>
                </a:solidFill>
                <a:latin typeface="Garet"/>
                <a:ea typeface="Garet"/>
                <a:cs typeface="Garet"/>
                <a:sym typeface="Garet"/>
              </a:rPr>
              <a:t>Short-form content</a:t>
            </a:r>
          </a:p>
          <a:p>
            <a:pPr algn="just" marL="582928" indent="-291464" lvl="1">
              <a:lnSpc>
                <a:spcPts val="3779"/>
              </a:lnSpc>
              <a:buFont typeface="Arial"/>
              <a:buChar char="•"/>
            </a:pPr>
            <a:r>
              <a:rPr lang="en-US" sz="2699">
                <a:solidFill>
                  <a:srgbClr val="000000"/>
                </a:solidFill>
                <a:latin typeface="Garet"/>
                <a:ea typeface="Garet"/>
                <a:cs typeface="Garet"/>
                <a:sym typeface="Garet"/>
              </a:rPr>
              <a:t>Helpful for other tasks such as music information retrieval</a:t>
            </a:r>
          </a:p>
          <a:p>
            <a:pPr algn="just" marL="582928" indent="-291464" lvl="1">
              <a:lnSpc>
                <a:spcPts val="3779"/>
              </a:lnSpc>
              <a:buFont typeface="Arial"/>
              <a:buChar char="•"/>
            </a:pPr>
            <a:r>
              <a:rPr lang="en-US" sz="2699">
                <a:solidFill>
                  <a:srgbClr val="000000"/>
                </a:solidFill>
                <a:latin typeface="Garet"/>
                <a:ea typeface="Garet"/>
                <a:cs typeface="Garet"/>
                <a:sym typeface="Garet"/>
              </a:rPr>
              <a:t>Trial listening</a:t>
            </a:r>
          </a:p>
          <a:p>
            <a:pPr algn="just" marL="582928" indent="-291464" lvl="1">
              <a:lnSpc>
                <a:spcPts val="3779"/>
              </a:lnSpc>
              <a:buFont typeface="Arial"/>
              <a:buChar char="•"/>
            </a:pPr>
            <a:r>
              <a:rPr lang="en-US" sz="2699">
                <a:solidFill>
                  <a:srgbClr val="000000"/>
                </a:solidFill>
                <a:latin typeface="Garet"/>
                <a:ea typeface="Garet"/>
                <a:cs typeface="Garet"/>
                <a:sym typeface="Garet"/>
              </a:rPr>
              <a:t>Ringtone creation (Samsung devices)</a:t>
            </a:r>
          </a:p>
        </p:txBody>
      </p:sp>
      <p:sp>
        <p:nvSpPr>
          <p:cNvPr name="TextBox 12" id="12"/>
          <p:cNvSpPr txBox="true"/>
          <p:nvPr/>
        </p:nvSpPr>
        <p:spPr>
          <a:xfrm rot="0">
            <a:off x="1332160" y="4774894"/>
            <a:ext cx="13158753" cy="1047750"/>
          </a:xfrm>
          <a:prstGeom prst="rect">
            <a:avLst/>
          </a:prstGeom>
        </p:spPr>
        <p:txBody>
          <a:bodyPr anchor="t" rtlCol="false" tIns="0" lIns="0" bIns="0" rIns="0">
            <a:spAutoFit/>
          </a:bodyPr>
          <a:lstStyle/>
          <a:p>
            <a:pPr algn="l">
              <a:lnSpc>
                <a:spcPts val="8400"/>
              </a:lnSpc>
            </a:pPr>
            <a:r>
              <a:rPr lang="en-US" sz="6000">
                <a:solidFill>
                  <a:srgbClr val="000000"/>
                </a:solidFill>
                <a:latin typeface="Tomorrow"/>
                <a:ea typeface="Tomorrow"/>
                <a:cs typeface="Tomorrow"/>
                <a:sym typeface="Tomorrow"/>
              </a:rPr>
              <a:t>Why do we need it?</a:t>
            </a:r>
          </a:p>
        </p:txBody>
      </p:sp>
      <p:sp>
        <p:nvSpPr>
          <p:cNvPr name="Freeform 13" id="13"/>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3"/>
            <a:stretch>
              <a:fillRect l="0" t="0" r="0" b="0"/>
            </a:stretch>
          </a:blipFill>
        </p:spPr>
      </p:sp>
      <p:sp>
        <p:nvSpPr>
          <p:cNvPr name="Freeform 9" id="9"/>
          <p:cNvSpPr/>
          <p:nvPr/>
        </p:nvSpPr>
        <p:spPr>
          <a:xfrm flipH="false" flipV="false" rot="0">
            <a:off x="1965078" y="1834549"/>
            <a:ext cx="2806204" cy="4047782"/>
          </a:xfrm>
          <a:custGeom>
            <a:avLst/>
            <a:gdLst/>
            <a:ahLst/>
            <a:cxnLst/>
            <a:rect r="r" b="b" t="t" l="l"/>
            <a:pathLst>
              <a:path h="4047782" w="2806204">
                <a:moveTo>
                  <a:pt x="0" y="0"/>
                </a:moveTo>
                <a:lnTo>
                  <a:pt x="2806204" y="0"/>
                </a:lnTo>
                <a:lnTo>
                  <a:pt x="2806204" y="4047782"/>
                </a:lnTo>
                <a:lnTo>
                  <a:pt x="0" y="4047782"/>
                </a:lnTo>
                <a:lnTo>
                  <a:pt x="0" y="0"/>
                </a:lnTo>
                <a:close/>
              </a:path>
            </a:pathLst>
          </a:custGeom>
          <a:blipFill>
            <a:blip r:embed="rId4"/>
            <a:stretch>
              <a:fillRect l="-83894" t="0" r="-72891" b="0"/>
            </a:stretch>
          </a:blipFill>
        </p:spPr>
      </p:sp>
      <p:sp>
        <p:nvSpPr>
          <p:cNvPr name="Freeform 10" id="10"/>
          <p:cNvSpPr/>
          <p:nvPr/>
        </p:nvSpPr>
        <p:spPr>
          <a:xfrm flipH="false" flipV="false" rot="0">
            <a:off x="7409128" y="1028700"/>
            <a:ext cx="6409345" cy="2956311"/>
          </a:xfrm>
          <a:custGeom>
            <a:avLst/>
            <a:gdLst/>
            <a:ahLst/>
            <a:cxnLst/>
            <a:rect r="r" b="b" t="t" l="l"/>
            <a:pathLst>
              <a:path h="2956311" w="6409345">
                <a:moveTo>
                  <a:pt x="0" y="0"/>
                </a:moveTo>
                <a:lnTo>
                  <a:pt x="6409345" y="0"/>
                </a:lnTo>
                <a:lnTo>
                  <a:pt x="6409345" y="2956311"/>
                </a:lnTo>
                <a:lnTo>
                  <a:pt x="0" y="2956311"/>
                </a:lnTo>
                <a:lnTo>
                  <a:pt x="0" y="0"/>
                </a:lnTo>
                <a:close/>
              </a:path>
            </a:pathLst>
          </a:custGeom>
          <a:blipFill>
            <a:blip r:embed="rId5"/>
            <a:stretch>
              <a:fillRect l="0" t="0" r="0" b="0"/>
            </a:stretch>
          </a:blipFill>
        </p:spPr>
      </p:sp>
      <p:sp>
        <p:nvSpPr>
          <p:cNvPr name="Freeform 11" id="11"/>
          <p:cNvSpPr/>
          <p:nvPr/>
        </p:nvSpPr>
        <p:spPr>
          <a:xfrm flipH="false" flipV="false" rot="0">
            <a:off x="7409128" y="5272655"/>
            <a:ext cx="6409345" cy="3244731"/>
          </a:xfrm>
          <a:custGeom>
            <a:avLst/>
            <a:gdLst/>
            <a:ahLst/>
            <a:cxnLst/>
            <a:rect r="r" b="b" t="t" l="l"/>
            <a:pathLst>
              <a:path h="3244731" w="6409345">
                <a:moveTo>
                  <a:pt x="0" y="0"/>
                </a:moveTo>
                <a:lnTo>
                  <a:pt x="6409345" y="0"/>
                </a:lnTo>
                <a:lnTo>
                  <a:pt x="6409345" y="3244731"/>
                </a:lnTo>
                <a:lnTo>
                  <a:pt x="0" y="3244731"/>
                </a:lnTo>
                <a:lnTo>
                  <a:pt x="0" y="0"/>
                </a:lnTo>
                <a:close/>
              </a:path>
            </a:pathLst>
          </a:custGeom>
          <a:blipFill>
            <a:blip r:embed="rId6"/>
            <a:stretch>
              <a:fillRect l="0" t="0" r="0" b="0"/>
            </a:stretch>
          </a:blipFill>
        </p:spPr>
      </p:sp>
      <p:sp>
        <p:nvSpPr>
          <p:cNvPr name="TextBox 12" id="12"/>
          <p:cNvSpPr txBox="true"/>
          <p:nvPr/>
        </p:nvSpPr>
        <p:spPr>
          <a:xfrm rot="0">
            <a:off x="1945780" y="6255549"/>
            <a:ext cx="2844800" cy="396240"/>
          </a:xfrm>
          <a:prstGeom prst="rect">
            <a:avLst/>
          </a:prstGeom>
        </p:spPr>
        <p:txBody>
          <a:bodyPr anchor="t" rtlCol="false" tIns="0" lIns="0" bIns="0" rIns="0">
            <a:spAutoFit/>
          </a:bodyPr>
          <a:lstStyle/>
          <a:p>
            <a:pPr algn="ctr">
              <a:lnSpc>
                <a:spcPts val="3359"/>
              </a:lnSpc>
              <a:spcBef>
                <a:spcPct val="0"/>
              </a:spcBef>
            </a:pPr>
            <a:r>
              <a:rPr lang="en-US" sz="2400">
                <a:solidFill>
                  <a:srgbClr val="000000"/>
                </a:solidFill>
                <a:latin typeface="Garet Light"/>
                <a:ea typeface="Garet Light"/>
                <a:cs typeface="Garet Light"/>
                <a:sym typeface="Garet Light"/>
              </a:rPr>
              <a:t>Ringtone creation</a:t>
            </a:r>
          </a:p>
        </p:txBody>
      </p:sp>
      <p:sp>
        <p:nvSpPr>
          <p:cNvPr name="TextBox 13" id="13"/>
          <p:cNvSpPr txBox="true"/>
          <p:nvPr/>
        </p:nvSpPr>
        <p:spPr>
          <a:xfrm rot="0">
            <a:off x="9382160" y="4348409"/>
            <a:ext cx="2106216" cy="396240"/>
          </a:xfrm>
          <a:prstGeom prst="rect">
            <a:avLst/>
          </a:prstGeom>
        </p:spPr>
        <p:txBody>
          <a:bodyPr anchor="t" rtlCol="false" tIns="0" lIns="0" bIns="0" rIns="0">
            <a:spAutoFit/>
          </a:bodyPr>
          <a:lstStyle/>
          <a:p>
            <a:pPr algn="ctr">
              <a:lnSpc>
                <a:spcPts val="3359"/>
              </a:lnSpc>
              <a:spcBef>
                <a:spcPct val="0"/>
              </a:spcBef>
            </a:pPr>
            <a:r>
              <a:rPr lang="en-US" sz="2400">
                <a:solidFill>
                  <a:srgbClr val="000000"/>
                </a:solidFill>
                <a:latin typeface="Garet Light"/>
                <a:ea typeface="Garet Light"/>
                <a:cs typeface="Garet Light"/>
                <a:sym typeface="Garet Light"/>
              </a:rPr>
              <a:t>Trial listening</a:t>
            </a:r>
          </a:p>
        </p:txBody>
      </p:sp>
      <p:sp>
        <p:nvSpPr>
          <p:cNvPr name="TextBox 14" id="14"/>
          <p:cNvSpPr txBox="true"/>
          <p:nvPr/>
        </p:nvSpPr>
        <p:spPr>
          <a:xfrm rot="0">
            <a:off x="9382160" y="8663555"/>
            <a:ext cx="3126449" cy="396240"/>
          </a:xfrm>
          <a:prstGeom prst="rect">
            <a:avLst/>
          </a:prstGeom>
        </p:spPr>
        <p:txBody>
          <a:bodyPr anchor="t" rtlCol="false" tIns="0" lIns="0" bIns="0" rIns="0">
            <a:spAutoFit/>
          </a:bodyPr>
          <a:lstStyle/>
          <a:p>
            <a:pPr algn="ctr">
              <a:lnSpc>
                <a:spcPts val="3359"/>
              </a:lnSpc>
              <a:spcBef>
                <a:spcPct val="0"/>
              </a:spcBef>
            </a:pPr>
            <a:r>
              <a:rPr lang="en-US" sz="2400">
                <a:solidFill>
                  <a:srgbClr val="000000"/>
                </a:solidFill>
                <a:latin typeface="Garet Light"/>
                <a:ea typeface="Garet Light"/>
                <a:cs typeface="Garet Light"/>
                <a:sym typeface="Garet Light"/>
              </a:rPr>
              <a:t>Short-form content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1722525" y="2639834"/>
            <a:ext cx="5536775" cy="4686817"/>
          </a:xfrm>
          <a:custGeom>
            <a:avLst/>
            <a:gdLst/>
            <a:ahLst/>
            <a:cxnLst/>
            <a:rect r="r" b="b" t="t" l="l"/>
            <a:pathLst>
              <a:path h="4686817" w="5536775">
                <a:moveTo>
                  <a:pt x="0" y="0"/>
                </a:moveTo>
                <a:lnTo>
                  <a:pt x="5536775" y="0"/>
                </a:lnTo>
                <a:lnTo>
                  <a:pt x="5536775" y="4686818"/>
                </a:lnTo>
                <a:lnTo>
                  <a:pt x="0" y="4686818"/>
                </a:lnTo>
                <a:lnTo>
                  <a:pt x="0" y="0"/>
                </a:lnTo>
                <a:close/>
              </a:path>
            </a:pathLst>
          </a:custGeom>
          <a:blipFill>
            <a:blip r:embed="rId3"/>
            <a:stretch>
              <a:fillRect l="-9309" t="0" r="-10155" b="0"/>
            </a:stretch>
          </a:blipFill>
        </p:spPr>
      </p:sp>
      <p:sp>
        <p:nvSpPr>
          <p:cNvPr name="TextBox 9" id="9"/>
          <p:cNvSpPr txBox="true"/>
          <p:nvPr/>
        </p:nvSpPr>
        <p:spPr>
          <a:xfrm rot="0">
            <a:off x="1332160" y="1722952"/>
            <a:ext cx="13158753" cy="1047750"/>
          </a:xfrm>
          <a:prstGeom prst="rect">
            <a:avLst/>
          </a:prstGeom>
        </p:spPr>
        <p:txBody>
          <a:bodyPr anchor="t" rtlCol="false" tIns="0" lIns="0" bIns="0" rIns="0">
            <a:spAutoFit/>
          </a:bodyPr>
          <a:lstStyle/>
          <a:p>
            <a:pPr algn="l">
              <a:lnSpc>
                <a:spcPts val="8400"/>
              </a:lnSpc>
            </a:pPr>
            <a:r>
              <a:rPr lang="en-US" sz="6000">
                <a:solidFill>
                  <a:srgbClr val="000000"/>
                </a:solidFill>
                <a:latin typeface="Tomorrow"/>
                <a:ea typeface="Tomorrow"/>
                <a:cs typeface="Tomorrow"/>
                <a:sym typeface="Tomorrow"/>
              </a:rPr>
              <a:t>Project objectives</a:t>
            </a:r>
          </a:p>
        </p:txBody>
      </p:sp>
      <p:sp>
        <p:nvSpPr>
          <p:cNvPr name="TextBox 10" id="10"/>
          <p:cNvSpPr txBox="true"/>
          <p:nvPr/>
        </p:nvSpPr>
        <p:spPr>
          <a:xfrm rot="0">
            <a:off x="1332160" y="2904343"/>
            <a:ext cx="11023754" cy="1407795"/>
          </a:xfrm>
          <a:prstGeom prst="rect">
            <a:avLst/>
          </a:prstGeom>
        </p:spPr>
        <p:txBody>
          <a:bodyPr anchor="t" rtlCol="false" tIns="0" lIns="0" bIns="0" rIns="0">
            <a:spAutoFit/>
          </a:bodyPr>
          <a:lstStyle/>
          <a:p>
            <a:pPr algn="just" marL="582928" indent="-291464" lvl="1">
              <a:lnSpc>
                <a:spcPts val="3779"/>
              </a:lnSpc>
              <a:buFont typeface="Arial"/>
              <a:buChar char="•"/>
            </a:pPr>
            <a:r>
              <a:rPr lang="en-US" sz="2699">
                <a:solidFill>
                  <a:srgbClr val="000000"/>
                </a:solidFill>
                <a:latin typeface="Garet"/>
                <a:ea typeface="Garet"/>
                <a:cs typeface="Garet"/>
                <a:sym typeface="Garet"/>
              </a:rPr>
              <a:t>Research and understand</a:t>
            </a:r>
            <a:r>
              <a:rPr lang="en-US" sz="2699">
                <a:solidFill>
                  <a:srgbClr val="000000"/>
                </a:solidFill>
                <a:latin typeface="Garet"/>
                <a:ea typeface="Garet"/>
                <a:cs typeface="Garet"/>
                <a:sym typeface="Garet"/>
              </a:rPr>
              <a:t> how deep learning can be used in this task</a:t>
            </a:r>
          </a:p>
          <a:p>
            <a:pPr algn="just">
              <a:lnSpc>
                <a:spcPts val="3779"/>
              </a:lnSpc>
            </a:pPr>
          </a:p>
        </p:txBody>
      </p:sp>
      <p:sp>
        <p:nvSpPr>
          <p:cNvPr name="TextBox 11" id="11"/>
          <p:cNvSpPr txBox="true"/>
          <p:nvPr/>
        </p:nvSpPr>
        <p:spPr>
          <a:xfrm rot="0">
            <a:off x="1332160" y="5955994"/>
            <a:ext cx="11504255" cy="2360295"/>
          </a:xfrm>
          <a:prstGeom prst="rect">
            <a:avLst/>
          </a:prstGeom>
        </p:spPr>
        <p:txBody>
          <a:bodyPr anchor="t" rtlCol="false" tIns="0" lIns="0" bIns="0" rIns="0">
            <a:spAutoFit/>
          </a:bodyPr>
          <a:lstStyle/>
          <a:p>
            <a:pPr algn="just" marL="582928" indent="-291464" lvl="1">
              <a:lnSpc>
                <a:spcPts val="3779"/>
              </a:lnSpc>
              <a:buFont typeface="Arial"/>
              <a:buChar char="•"/>
            </a:pPr>
            <a:r>
              <a:rPr lang="en-US" sz="2699">
                <a:solidFill>
                  <a:srgbClr val="000000"/>
                </a:solidFill>
                <a:latin typeface="Garet"/>
                <a:ea typeface="Garet"/>
                <a:cs typeface="Garet"/>
                <a:sym typeface="Garet"/>
              </a:rPr>
              <a:t>Build an Android application to extract highlight segments from chosen audio file</a:t>
            </a:r>
          </a:p>
          <a:p>
            <a:pPr algn="just" marL="582928" indent="-291464" lvl="1">
              <a:lnSpc>
                <a:spcPts val="3779"/>
              </a:lnSpc>
              <a:buFont typeface="Arial"/>
              <a:buChar char="•"/>
            </a:pPr>
            <a:r>
              <a:rPr lang="en-US" sz="2699">
                <a:solidFill>
                  <a:srgbClr val="000000"/>
                </a:solidFill>
                <a:latin typeface="Garet"/>
                <a:ea typeface="Garet"/>
                <a:cs typeface="Garet"/>
                <a:sym typeface="Garet"/>
              </a:rPr>
              <a:t>Create test dataset for model evaluation</a:t>
            </a:r>
          </a:p>
          <a:p>
            <a:pPr algn="just" marL="582928" indent="-291464" lvl="1">
              <a:lnSpc>
                <a:spcPts val="3779"/>
              </a:lnSpc>
              <a:buFont typeface="Arial"/>
              <a:buChar char="•"/>
            </a:pPr>
            <a:r>
              <a:rPr lang="en-US" sz="2699">
                <a:solidFill>
                  <a:srgbClr val="000000"/>
                </a:solidFill>
                <a:latin typeface="Garet"/>
                <a:ea typeface="Garet"/>
                <a:cs typeface="Garet"/>
                <a:sym typeface="Garet"/>
              </a:rPr>
              <a:t>Investigate and explore model architectures for the problem</a:t>
            </a:r>
          </a:p>
          <a:p>
            <a:pPr algn="just" marL="582928" indent="-291464" lvl="1">
              <a:lnSpc>
                <a:spcPts val="3779"/>
              </a:lnSpc>
              <a:buFont typeface="Arial"/>
              <a:buChar char="•"/>
            </a:pPr>
            <a:r>
              <a:rPr lang="en-US" sz="2699">
                <a:solidFill>
                  <a:srgbClr val="000000"/>
                </a:solidFill>
                <a:latin typeface="Garet"/>
                <a:ea typeface="Garet"/>
                <a:cs typeface="Garet"/>
                <a:sym typeface="Garet"/>
              </a:rPr>
              <a:t>Benchmark the developed model against other techniques</a:t>
            </a:r>
          </a:p>
        </p:txBody>
      </p:sp>
      <p:sp>
        <p:nvSpPr>
          <p:cNvPr name="TextBox 12" id="12"/>
          <p:cNvSpPr txBox="true"/>
          <p:nvPr/>
        </p:nvSpPr>
        <p:spPr>
          <a:xfrm rot="0">
            <a:off x="1332160" y="4774894"/>
            <a:ext cx="13158753" cy="1047750"/>
          </a:xfrm>
          <a:prstGeom prst="rect">
            <a:avLst/>
          </a:prstGeom>
        </p:spPr>
        <p:txBody>
          <a:bodyPr anchor="t" rtlCol="false" tIns="0" lIns="0" bIns="0" rIns="0">
            <a:spAutoFit/>
          </a:bodyPr>
          <a:lstStyle/>
          <a:p>
            <a:pPr algn="l">
              <a:lnSpc>
                <a:spcPts val="8400"/>
              </a:lnSpc>
            </a:pPr>
            <a:r>
              <a:rPr lang="en-US" sz="6000">
                <a:solidFill>
                  <a:srgbClr val="000000"/>
                </a:solidFill>
                <a:latin typeface="Tomorrow"/>
                <a:ea typeface="Tomorrow"/>
                <a:cs typeface="Tomorrow"/>
                <a:sym typeface="Tomorrow"/>
              </a:rPr>
              <a:t>Desired output</a:t>
            </a:r>
          </a:p>
        </p:txBody>
      </p:sp>
      <p:sp>
        <p:nvSpPr>
          <p:cNvPr name="Freeform 13" id="13"/>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1722525" y="2639834"/>
            <a:ext cx="5536775" cy="4686817"/>
          </a:xfrm>
          <a:custGeom>
            <a:avLst/>
            <a:gdLst/>
            <a:ahLst/>
            <a:cxnLst/>
            <a:rect r="r" b="b" t="t" l="l"/>
            <a:pathLst>
              <a:path h="4686817" w="5536775">
                <a:moveTo>
                  <a:pt x="0" y="0"/>
                </a:moveTo>
                <a:lnTo>
                  <a:pt x="5536775" y="0"/>
                </a:lnTo>
                <a:lnTo>
                  <a:pt x="5536775" y="4686818"/>
                </a:lnTo>
                <a:lnTo>
                  <a:pt x="0" y="4686818"/>
                </a:lnTo>
                <a:lnTo>
                  <a:pt x="0" y="0"/>
                </a:lnTo>
                <a:close/>
              </a:path>
            </a:pathLst>
          </a:custGeom>
          <a:blipFill>
            <a:blip r:embed="rId3"/>
            <a:stretch>
              <a:fillRect l="-9309" t="0" r="-10155" b="0"/>
            </a:stretch>
          </a:blipFill>
        </p:spPr>
      </p:sp>
      <p:sp>
        <p:nvSpPr>
          <p:cNvPr name="TextBox 9" id="9"/>
          <p:cNvSpPr txBox="true"/>
          <p:nvPr/>
        </p:nvSpPr>
        <p:spPr>
          <a:xfrm rot="0">
            <a:off x="1332160" y="1722952"/>
            <a:ext cx="13158753" cy="1047750"/>
          </a:xfrm>
          <a:prstGeom prst="rect">
            <a:avLst/>
          </a:prstGeom>
        </p:spPr>
        <p:txBody>
          <a:bodyPr anchor="t" rtlCol="false" tIns="0" lIns="0" bIns="0" rIns="0">
            <a:spAutoFit/>
          </a:bodyPr>
          <a:lstStyle/>
          <a:p>
            <a:pPr algn="l">
              <a:lnSpc>
                <a:spcPts val="8400"/>
              </a:lnSpc>
            </a:pPr>
            <a:r>
              <a:rPr lang="en-US" sz="6000">
                <a:solidFill>
                  <a:srgbClr val="000000"/>
                </a:solidFill>
                <a:latin typeface="Tomorrow"/>
                <a:ea typeface="Tomorrow"/>
                <a:cs typeface="Tomorrow"/>
                <a:sym typeface="Tomorrow"/>
              </a:rPr>
              <a:t>Approach</a:t>
            </a:r>
          </a:p>
        </p:txBody>
      </p:sp>
      <p:sp>
        <p:nvSpPr>
          <p:cNvPr name="TextBox 10" id="10"/>
          <p:cNvSpPr txBox="true"/>
          <p:nvPr/>
        </p:nvSpPr>
        <p:spPr>
          <a:xfrm rot="0">
            <a:off x="1332160" y="2904343"/>
            <a:ext cx="10521411" cy="5217795"/>
          </a:xfrm>
          <a:prstGeom prst="rect">
            <a:avLst/>
          </a:prstGeom>
        </p:spPr>
        <p:txBody>
          <a:bodyPr anchor="t" rtlCol="false" tIns="0" lIns="0" bIns="0" rIns="0">
            <a:spAutoFit/>
          </a:bodyPr>
          <a:lstStyle/>
          <a:p>
            <a:pPr algn="just">
              <a:lnSpc>
                <a:spcPts val="3779"/>
              </a:lnSpc>
            </a:pPr>
            <a:r>
              <a:rPr lang="en-US" sz="2699" b="true">
                <a:solidFill>
                  <a:srgbClr val="000000"/>
                </a:solidFill>
                <a:latin typeface="Garet Bold"/>
                <a:ea typeface="Garet Bold"/>
                <a:cs typeface="Garet Bold"/>
                <a:sym typeface="Garet Bold"/>
              </a:rPr>
              <a:t>Problem</a:t>
            </a:r>
          </a:p>
          <a:p>
            <a:pPr algn="just" marL="582928" indent="-291464" lvl="1">
              <a:lnSpc>
                <a:spcPts val="3779"/>
              </a:lnSpc>
              <a:buFont typeface="Arial"/>
              <a:buChar char="•"/>
            </a:pPr>
            <a:r>
              <a:rPr lang="en-US" sz="2699">
                <a:solidFill>
                  <a:srgbClr val="000000"/>
                </a:solidFill>
                <a:latin typeface="Garet"/>
                <a:ea typeface="Garet"/>
                <a:cs typeface="Garet"/>
                <a:sym typeface="Garet"/>
              </a:rPr>
              <a:t>No publicly available dataset of labeled song highlights exists for research</a:t>
            </a:r>
          </a:p>
          <a:p>
            <a:pPr algn="just" marL="582928" indent="-291464" lvl="1">
              <a:lnSpc>
                <a:spcPts val="3779"/>
              </a:lnSpc>
              <a:buFont typeface="Arial"/>
              <a:buChar char="•"/>
            </a:pPr>
            <a:r>
              <a:rPr lang="en-US" sz="2699">
                <a:solidFill>
                  <a:srgbClr val="000000"/>
                </a:solidFill>
                <a:latin typeface="Garet"/>
                <a:ea typeface="Garet"/>
                <a:cs typeface="Garet"/>
                <a:sym typeface="Garet"/>
              </a:rPr>
              <a:t>Past methods mainly focus on energy and choruses as highlights</a:t>
            </a:r>
          </a:p>
          <a:p>
            <a:pPr algn="just">
              <a:lnSpc>
                <a:spcPts val="3779"/>
              </a:lnSpc>
            </a:pPr>
            <a:r>
              <a:rPr lang="en-US" sz="2699" b="true">
                <a:solidFill>
                  <a:srgbClr val="000000"/>
                </a:solidFill>
                <a:latin typeface="Garet Bold"/>
                <a:ea typeface="Garet Bold"/>
                <a:cs typeface="Garet Bold"/>
                <a:sym typeface="Garet Bold"/>
              </a:rPr>
              <a:t>Assumption</a:t>
            </a:r>
          </a:p>
          <a:p>
            <a:pPr algn="just" marL="582928" indent="-291464" lvl="1">
              <a:lnSpc>
                <a:spcPts val="3779"/>
              </a:lnSpc>
              <a:buFont typeface="Arial"/>
              <a:buChar char="•"/>
            </a:pPr>
            <a:r>
              <a:rPr lang="en-US" sz="2699">
                <a:solidFill>
                  <a:srgbClr val="000000"/>
                </a:solidFill>
                <a:latin typeface="Garet"/>
                <a:ea typeface="Garet"/>
                <a:cs typeface="Garet"/>
                <a:sym typeface="Garet"/>
              </a:rPr>
              <a:t>Song highlights are strongly linked to the emotional impact of the music.</a:t>
            </a:r>
          </a:p>
          <a:p>
            <a:pPr algn="just">
              <a:lnSpc>
                <a:spcPts val="3779"/>
              </a:lnSpc>
            </a:pPr>
            <a:r>
              <a:rPr lang="en-US" sz="2699" b="true">
                <a:solidFill>
                  <a:srgbClr val="000000"/>
                </a:solidFill>
                <a:latin typeface="Garet Bold"/>
                <a:ea typeface="Garet Bold"/>
                <a:cs typeface="Garet Bold"/>
                <a:sym typeface="Garet Bold"/>
              </a:rPr>
              <a:t>Idea</a:t>
            </a:r>
          </a:p>
          <a:p>
            <a:pPr algn="just" marL="582928" indent="-291464" lvl="1">
              <a:lnSpc>
                <a:spcPts val="3779"/>
              </a:lnSpc>
              <a:buFont typeface="Arial"/>
              <a:buChar char="•"/>
            </a:pPr>
            <a:r>
              <a:rPr lang="en-US" sz="2699">
                <a:solidFill>
                  <a:srgbClr val="000000"/>
                </a:solidFill>
                <a:latin typeface="Garet"/>
                <a:ea typeface="Garet"/>
                <a:cs typeface="Garet"/>
                <a:sym typeface="Garet"/>
              </a:rPr>
              <a:t>Train a music emotion classification model with an additional layer to identify the key sections of a song.</a:t>
            </a:r>
          </a:p>
        </p:txBody>
      </p:sp>
      <p:sp>
        <p:nvSpPr>
          <p:cNvPr name="Freeform 11" id="11"/>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7827351" y="2283995"/>
            <a:ext cx="2633297" cy="1312163"/>
          </a:xfrm>
          <a:custGeom>
            <a:avLst/>
            <a:gdLst/>
            <a:ahLst/>
            <a:cxnLst/>
            <a:rect r="r" b="b" t="t" l="l"/>
            <a:pathLst>
              <a:path h="1312163" w="2633297">
                <a:moveTo>
                  <a:pt x="0" y="0"/>
                </a:moveTo>
                <a:lnTo>
                  <a:pt x="2633298" y="0"/>
                </a:lnTo>
                <a:lnTo>
                  <a:pt x="2633298" y="1312163"/>
                </a:lnTo>
                <a:lnTo>
                  <a:pt x="0" y="13121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686387" y="-607424"/>
            <a:ext cx="3709695" cy="1015735"/>
            <a:chOff x="0" y="0"/>
            <a:chExt cx="977039" cy="267519"/>
          </a:xfrm>
        </p:grpSpPr>
        <p:sp>
          <p:nvSpPr>
            <p:cNvPr name="Freeform 5" id="5"/>
            <p:cNvSpPr/>
            <p:nvPr/>
          </p:nvSpPr>
          <p:spPr>
            <a:xfrm flipH="false" flipV="false" rot="0">
              <a:off x="0" y="0"/>
              <a:ext cx="977039" cy="267519"/>
            </a:xfrm>
            <a:custGeom>
              <a:avLst/>
              <a:gdLst/>
              <a:ahLst/>
              <a:cxnLst/>
              <a:rect r="r" b="b" t="t" l="l"/>
              <a:pathLst>
                <a:path h="267519" w="977039">
                  <a:moveTo>
                    <a:pt x="0" y="0"/>
                  </a:moveTo>
                  <a:lnTo>
                    <a:pt x="977039" y="0"/>
                  </a:lnTo>
                  <a:lnTo>
                    <a:pt x="977039" y="267519"/>
                  </a:lnTo>
                  <a:lnTo>
                    <a:pt x="0" y="267519"/>
                  </a:lnTo>
                  <a:close/>
                </a:path>
              </a:pathLst>
            </a:custGeom>
            <a:solidFill>
              <a:srgbClr val="9F9F9F"/>
            </a:solidFill>
          </p:spPr>
        </p:sp>
        <p:sp>
          <p:nvSpPr>
            <p:cNvPr name="TextBox 6" id="6"/>
            <p:cNvSpPr txBox="true"/>
            <p:nvPr/>
          </p:nvSpPr>
          <p:spPr>
            <a:xfrm>
              <a:off x="0" y="-38100"/>
              <a:ext cx="977039" cy="305619"/>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1988599" y="7022439"/>
            <a:ext cx="738450" cy="1015735"/>
            <a:chOff x="0" y="0"/>
            <a:chExt cx="194489" cy="267519"/>
          </a:xfrm>
        </p:grpSpPr>
        <p:sp>
          <p:nvSpPr>
            <p:cNvPr name="Freeform 8" id="8"/>
            <p:cNvSpPr/>
            <p:nvPr/>
          </p:nvSpPr>
          <p:spPr>
            <a:xfrm flipH="false" flipV="false" rot="0">
              <a:off x="0" y="0"/>
              <a:ext cx="194489" cy="267519"/>
            </a:xfrm>
            <a:custGeom>
              <a:avLst/>
              <a:gdLst/>
              <a:ahLst/>
              <a:cxnLst/>
              <a:rect r="r" b="b" t="t" l="l"/>
              <a:pathLst>
                <a:path h="267519" w="194489">
                  <a:moveTo>
                    <a:pt x="0" y="0"/>
                  </a:moveTo>
                  <a:lnTo>
                    <a:pt x="194489" y="0"/>
                  </a:lnTo>
                  <a:lnTo>
                    <a:pt x="194489" y="267519"/>
                  </a:lnTo>
                  <a:lnTo>
                    <a:pt x="0" y="267519"/>
                  </a:lnTo>
                  <a:close/>
                </a:path>
              </a:pathLst>
            </a:custGeom>
            <a:solidFill>
              <a:srgbClr val="9F9F9F"/>
            </a:solidFill>
          </p:spPr>
        </p:sp>
        <p:sp>
          <p:nvSpPr>
            <p:cNvPr name="TextBox 9" id="9"/>
            <p:cNvSpPr txBox="true"/>
            <p:nvPr/>
          </p:nvSpPr>
          <p:spPr>
            <a:xfrm>
              <a:off x="0" y="-38100"/>
              <a:ext cx="194489" cy="305619"/>
            </a:xfrm>
            <a:prstGeom prst="rect">
              <a:avLst/>
            </a:prstGeom>
          </p:spPr>
          <p:txBody>
            <a:bodyPr anchor="ctr" rtlCol="false" tIns="50800" lIns="50800" bIns="50800" rIns="50800"/>
            <a:lstStyle/>
            <a:p>
              <a:pPr algn="ctr">
                <a:lnSpc>
                  <a:spcPts val="3359"/>
                </a:lnSpc>
              </a:pPr>
            </a:p>
          </p:txBody>
        </p:sp>
      </p:grpSp>
      <p:sp>
        <p:nvSpPr>
          <p:cNvPr name="TextBox 10" id="10"/>
          <p:cNvSpPr txBox="true"/>
          <p:nvPr/>
        </p:nvSpPr>
        <p:spPr>
          <a:xfrm rot="0">
            <a:off x="1028700" y="4053358"/>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Model architecture</a:t>
            </a:r>
          </a:p>
        </p:txBody>
      </p:sp>
      <p:sp>
        <p:nvSpPr>
          <p:cNvPr name="Freeform 11" id="11"/>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4022" y="2201315"/>
            <a:ext cx="8178449" cy="6574952"/>
          </a:xfrm>
          <a:custGeom>
            <a:avLst/>
            <a:gdLst/>
            <a:ahLst/>
            <a:cxnLst/>
            <a:rect r="r" b="b" t="t" l="l"/>
            <a:pathLst>
              <a:path h="6574952" w="8178449">
                <a:moveTo>
                  <a:pt x="0" y="0"/>
                </a:moveTo>
                <a:lnTo>
                  <a:pt x="8178449" y="0"/>
                </a:lnTo>
                <a:lnTo>
                  <a:pt x="8178449" y="6574952"/>
                </a:lnTo>
                <a:lnTo>
                  <a:pt x="0" y="6574952"/>
                </a:lnTo>
                <a:lnTo>
                  <a:pt x="0" y="0"/>
                </a:lnTo>
                <a:close/>
              </a:path>
            </a:pathLst>
          </a:custGeom>
          <a:blipFill>
            <a:blip r:embed="rId4"/>
            <a:stretch>
              <a:fillRect l="0" t="0" r="-64068" b="0"/>
            </a:stretch>
          </a:blipFill>
        </p:spPr>
      </p:sp>
      <p:sp>
        <p:nvSpPr>
          <p:cNvPr name="Freeform 10" id="10"/>
          <p:cNvSpPr/>
          <p:nvPr/>
        </p:nvSpPr>
        <p:spPr>
          <a:xfrm flipH="false" flipV="false" rot="0">
            <a:off x="11604441" y="3165979"/>
            <a:ext cx="4075207" cy="4378851"/>
          </a:xfrm>
          <a:custGeom>
            <a:avLst/>
            <a:gdLst/>
            <a:ahLst/>
            <a:cxnLst/>
            <a:rect r="r" b="b" t="t" l="l"/>
            <a:pathLst>
              <a:path h="4378851" w="4075207">
                <a:moveTo>
                  <a:pt x="0" y="0"/>
                </a:moveTo>
                <a:lnTo>
                  <a:pt x="4075207" y="0"/>
                </a:lnTo>
                <a:lnTo>
                  <a:pt x="4075207" y="4378851"/>
                </a:lnTo>
                <a:lnTo>
                  <a:pt x="0" y="4378851"/>
                </a:lnTo>
                <a:lnTo>
                  <a:pt x="0" y="0"/>
                </a:lnTo>
                <a:close/>
              </a:path>
            </a:pathLst>
          </a:custGeom>
          <a:blipFill>
            <a:blip r:embed="rId4"/>
            <a:stretch>
              <a:fillRect l="-220284" t="-43553" r="-8981" b="-6599"/>
            </a:stretch>
          </a:blipFill>
        </p:spPr>
      </p:sp>
      <p:sp>
        <p:nvSpPr>
          <p:cNvPr name="Freeform 11" id="11"/>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
        <p:nvSpPr>
          <p:cNvPr name="Freeform 12" id="12"/>
          <p:cNvSpPr/>
          <p:nvPr/>
        </p:nvSpPr>
        <p:spPr>
          <a:xfrm flipH="false" flipV="false" rot="0">
            <a:off x="5108023" y="4800906"/>
            <a:ext cx="502344" cy="480503"/>
          </a:xfrm>
          <a:custGeom>
            <a:avLst/>
            <a:gdLst/>
            <a:ahLst/>
            <a:cxnLst/>
            <a:rect r="r" b="b" t="t" l="l"/>
            <a:pathLst>
              <a:path h="480503" w="502344">
                <a:moveTo>
                  <a:pt x="0" y="0"/>
                </a:moveTo>
                <a:lnTo>
                  <a:pt x="502344" y="0"/>
                </a:lnTo>
                <a:lnTo>
                  <a:pt x="502344" y="480503"/>
                </a:lnTo>
                <a:lnTo>
                  <a:pt x="0" y="480503"/>
                </a:lnTo>
                <a:lnTo>
                  <a:pt x="0" y="0"/>
                </a:lnTo>
                <a:close/>
              </a:path>
            </a:pathLst>
          </a:custGeom>
          <a:blipFill>
            <a:blip r:embed="rId6"/>
            <a:stretch>
              <a:fillRect l="0" t="0" r="0" b="0"/>
            </a:stretch>
          </a:blipFill>
        </p:spPr>
      </p:sp>
      <p:sp>
        <p:nvSpPr>
          <p:cNvPr name="TextBox 13" id="13"/>
          <p:cNvSpPr txBox="true"/>
          <p:nvPr/>
        </p:nvSpPr>
        <p:spPr>
          <a:xfrm rot="0">
            <a:off x="4014627" y="46437"/>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Model architecture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9772075" y="2519061"/>
            <a:ext cx="7487225" cy="6020655"/>
          </a:xfrm>
          <a:custGeom>
            <a:avLst/>
            <a:gdLst/>
            <a:ahLst/>
            <a:cxnLst/>
            <a:rect r="r" b="b" t="t" l="l"/>
            <a:pathLst>
              <a:path h="6020655" w="7487225">
                <a:moveTo>
                  <a:pt x="0" y="0"/>
                </a:moveTo>
                <a:lnTo>
                  <a:pt x="7487225" y="0"/>
                </a:lnTo>
                <a:lnTo>
                  <a:pt x="7487225" y="6020655"/>
                </a:lnTo>
                <a:lnTo>
                  <a:pt x="0" y="6020655"/>
                </a:lnTo>
                <a:lnTo>
                  <a:pt x="0" y="0"/>
                </a:lnTo>
                <a:close/>
              </a:path>
            </a:pathLst>
          </a:custGeom>
          <a:blipFill>
            <a:blip r:embed="rId3"/>
            <a:stretch>
              <a:fillRect l="0" t="0" r="0" b="0"/>
            </a:stretch>
          </a:blipFill>
        </p:spPr>
      </p:sp>
      <p:sp>
        <p:nvSpPr>
          <p:cNvPr name="TextBox 9" id="9"/>
          <p:cNvSpPr txBox="true"/>
          <p:nvPr/>
        </p:nvSpPr>
        <p:spPr>
          <a:xfrm rot="0">
            <a:off x="5238080" y="677264"/>
            <a:ext cx="7811840" cy="1047740"/>
          </a:xfrm>
          <a:prstGeom prst="rect">
            <a:avLst/>
          </a:prstGeom>
        </p:spPr>
        <p:txBody>
          <a:bodyPr anchor="t" rtlCol="false" tIns="0" lIns="0" bIns="0" rIns="0">
            <a:spAutoFit/>
          </a:bodyPr>
          <a:lstStyle/>
          <a:p>
            <a:pPr algn="ctr">
              <a:lnSpc>
                <a:spcPts val="8400"/>
              </a:lnSpc>
            </a:pPr>
            <a:r>
              <a:rPr lang="en-US" sz="6000">
                <a:solidFill>
                  <a:srgbClr val="000000"/>
                </a:solidFill>
                <a:latin typeface="Tomorrow"/>
                <a:ea typeface="Tomorrow"/>
                <a:cs typeface="Tomorrow"/>
                <a:sym typeface="Tomorrow"/>
              </a:rPr>
              <a:t>Mel spectrogram</a:t>
            </a:r>
          </a:p>
        </p:txBody>
      </p:sp>
      <p:sp>
        <p:nvSpPr>
          <p:cNvPr name="TextBox 10" id="10"/>
          <p:cNvSpPr txBox="true"/>
          <p:nvPr/>
        </p:nvSpPr>
        <p:spPr>
          <a:xfrm rot="0">
            <a:off x="1462279" y="2471436"/>
            <a:ext cx="8117614" cy="5694045"/>
          </a:xfrm>
          <a:prstGeom prst="rect">
            <a:avLst/>
          </a:prstGeom>
        </p:spPr>
        <p:txBody>
          <a:bodyPr anchor="t" rtlCol="false" tIns="0" lIns="0" bIns="0" rIns="0">
            <a:spAutoFit/>
          </a:bodyPr>
          <a:lstStyle/>
          <a:p>
            <a:pPr algn="l" marL="582928" indent="-291464" lvl="1">
              <a:lnSpc>
                <a:spcPts val="3779"/>
              </a:lnSpc>
              <a:buFont typeface="Arial"/>
              <a:buChar char="•"/>
            </a:pPr>
            <a:r>
              <a:rPr lang="en-US" sz="2699">
                <a:solidFill>
                  <a:srgbClr val="000000"/>
                </a:solidFill>
                <a:latin typeface="Garet"/>
                <a:ea typeface="Garet"/>
                <a:cs typeface="Garet"/>
                <a:sym typeface="Garet"/>
              </a:rPr>
              <a:t>The spectrogram displays the frequency spectrum over time, provides significantly more information than a sound waveform</a:t>
            </a:r>
          </a:p>
          <a:p>
            <a:pPr algn="l" marL="582928" indent="-291464" lvl="1">
              <a:lnSpc>
                <a:spcPts val="3779"/>
              </a:lnSpc>
              <a:buFont typeface="Arial"/>
              <a:buChar char="•"/>
            </a:pPr>
            <a:r>
              <a:rPr lang="en-US" sz="2699">
                <a:solidFill>
                  <a:srgbClr val="000000"/>
                </a:solidFill>
                <a:latin typeface="Garet"/>
                <a:ea typeface="Garet"/>
                <a:cs typeface="Garet"/>
                <a:sym typeface="Garet"/>
              </a:rPr>
              <a:t>Mel spectrogram is a variation of spectrogram</a:t>
            </a:r>
          </a:p>
          <a:p>
            <a:pPr algn="l" marL="582928" indent="-291464" lvl="1">
              <a:lnSpc>
                <a:spcPts val="3779"/>
              </a:lnSpc>
              <a:buFont typeface="Arial"/>
              <a:buChar char="•"/>
            </a:pPr>
            <a:r>
              <a:rPr lang="en-US" sz="2699">
                <a:solidFill>
                  <a:srgbClr val="000000"/>
                </a:solidFill>
                <a:latin typeface="Garet"/>
                <a:ea typeface="Garet"/>
                <a:cs typeface="Garet"/>
                <a:sym typeface="Garet"/>
              </a:rPr>
              <a:t>The frequency axis scaled according to the Mel scale and the magnitude adjusted to align more closely with human auditory perception</a:t>
            </a:r>
          </a:p>
          <a:p>
            <a:pPr algn="l" marL="582928" indent="-291464" lvl="1">
              <a:lnSpc>
                <a:spcPts val="3779"/>
              </a:lnSpc>
              <a:buFont typeface="Arial"/>
              <a:buChar char="•"/>
            </a:pPr>
            <a:r>
              <a:rPr lang="en-US" sz="2699">
                <a:solidFill>
                  <a:srgbClr val="000000"/>
                </a:solidFill>
                <a:latin typeface="Garet"/>
                <a:ea typeface="Garet"/>
                <a:cs typeface="Garet"/>
                <a:sym typeface="Garet"/>
              </a:rPr>
              <a:t>Has been shown to be more effective than standard spectrograms in many machine learning tasks</a:t>
            </a:r>
          </a:p>
        </p:txBody>
      </p:sp>
      <p:sp>
        <p:nvSpPr>
          <p:cNvPr name="Freeform 11" id="11"/>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694292" y="2933635"/>
            <a:ext cx="10815438" cy="1568651"/>
          </a:xfrm>
          <a:custGeom>
            <a:avLst/>
            <a:gdLst/>
            <a:ahLst/>
            <a:cxnLst/>
            <a:rect r="r" b="b" t="t" l="l"/>
            <a:pathLst>
              <a:path h="1568651" w="10815438">
                <a:moveTo>
                  <a:pt x="0" y="0"/>
                </a:moveTo>
                <a:lnTo>
                  <a:pt x="10815438" y="0"/>
                </a:lnTo>
                <a:lnTo>
                  <a:pt x="10815438" y="1568651"/>
                </a:lnTo>
                <a:lnTo>
                  <a:pt x="0" y="1568651"/>
                </a:lnTo>
                <a:lnTo>
                  <a:pt x="0" y="0"/>
                </a:lnTo>
                <a:close/>
              </a:path>
            </a:pathLst>
          </a:custGeom>
          <a:blipFill>
            <a:blip r:embed="rId5"/>
            <a:stretch>
              <a:fillRect l="0" t="0" r="0" b="0"/>
            </a:stretch>
          </a:blipFill>
        </p:spPr>
      </p:sp>
      <p:sp>
        <p:nvSpPr>
          <p:cNvPr name="Freeform 10" id="10"/>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6"/>
            <a:stretch>
              <a:fillRect l="0" t="0" r="0" b="0"/>
            </a:stretch>
          </a:blipFill>
        </p:spPr>
      </p:sp>
      <p:grpSp>
        <p:nvGrpSpPr>
          <p:cNvPr name="Group 11" id="11"/>
          <p:cNvGrpSpPr/>
          <p:nvPr/>
        </p:nvGrpSpPr>
        <p:grpSpPr>
          <a:xfrm rot="0">
            <a:off x="6986427" y="6676486"/>
            <a:ext cx="685932" cy="68593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9F9F9F"/>
            </a:solidFill>
          </p:spPr>
        </p:sp>
        <p:sp>
          <p:nvSpPr>
            <p:cNvPr name="TextBox 13" id="13"/>
            <p:cNvSpPr txBox="true"/>
            <p:nvPr/>
          </p:nvSpPr>
          <p:spPr>
            <a:xfrm>
              <a:off x="0" y="165100"/>
              <a:ext cx="711200" cy="444500"/>
            </a:xfrm>
            <a:prstGeom prst="rect">
              <a:avLst/>
            </a:prstGeom>
          </p:spPr>
          <p:txBody>
            <a:bodyPr anchor="ctr" rtlCol="false" tIns="50800" lIns="50800" bIns="50800" rIns="50800"/>
            <a:lstStyle/>
            <a:p>
              <a:pPr algn="ctr">
                <a:lnSpc>
                  <a:spcPts val="3359"/>
                </a:lnSpc>
              </a:pPr>
            </a:p>
          </p:txBody>
        </p:sp>
      </p:grpSp>
      <p:sp>
        <p:nvSpPr>
          <p:cNvPr name="TextBox 14" id="14"/>
          <p:cNvSpPr txBox="true"/>
          <p:nvPr/>
        </p:nvSpPr>
        <p:spPr>
          <a:xfrm rot="0">
            <a:off x="2665931" y="1207559"/>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Detail model architecture</a:t>
            </a:r>
          </a:p>
        </p:txBody>
      </p:sp>
      <p:sp>
        <p:nvSpPr>
          <p:cNvPr name="TextBox 15" id="15"/>
          <p:cNvSpPr txBox="true"/>
          <p:nvPr/>
        </p:nvSpPr>
        <p:spPr>
          <a:xfrm rot="0">
            <a:off x="1694292" y="4576132"/>
            <a:ext cx="9245203" cy="1471930"/>
          </a:xfrm>
          <a:prstGeom prst="rect">
            <a:avLst/>
          </a:prstGeom>
        </p:spPr>
        <p:txBody>
          <a:bodyPr anchor="t" rtlCol="false" tIns="0" lIns="0" bIns="0" rIns="0">
            <a:spAutoFit/>
          </a:bodyPr>
          <a:lstStyle/>
          <a:p>
            <a:pPr algn="l">
              <a:lnSpc>
                <a:spcPts val="3919"/>
              </a:lnSpc>
            </a:pPr>
            <a:r>
              <a:rPr lang="en-US" sz="2799">
                <a:solidFill>
                  <a:srgbClr val="000000"/>
                </a:solidFill>
                <a:latin typeface="Garet Light"/>
                <a:ea typeface="Garet Light"/>
                <a:cs typeface="Garet Light"/>
                <a:sym typeface="Garet Light"/>
              </a:rPr>
              <a:t>Convert audio wave form to mel spectrogram</a:t>
            </a:r>
          </a:p>
          <a:p>
            <a:pPr algn="l">
              <a:lnSpc>
                <a:spcPts val="3919"/>
              </a:lnSpc>
            </a:pPr>
            <a:r>
              <a:rPr lang="en-US" sz="2799">
                <a:solidFill>
                  <a:srgbClr val="000000"/>
                </a:solidFill>
                <a:latin typeface="Garet Light"/>
                <a:ea typeface="Garet Light"/>
                <a:cs typeface="Garet Light"/>
                <a:sym typeface="Garet Light"/>
              </a:rPr>
              <a:t>chunk the mel spectrogram into 3-second chunks</a:t>
            </a:r>
          </a:p>
          <a:p>
            <a:pPr algn="l">
              <a:lnSpc>
                <a:spcPts val="3919"/>
              </a:lnSpc>
              <a:spcBef>
                <a:spcPct val="0"/>
              </a:spcBef>
            </a:pPr>
            <a:r>
              <a:rPr lang="en-US" sz="2799">
                <a:solidFill>
                  <a:srgbClr val="000000"/>
                </a:solidFill>
                <a:latin typeface="Garet Light"/>
                <a:ea typeface="Garet Light"/>
                <a:cs typeface="Garet Light"/>
                <a:sym typeface="Garet Light"/>
              </a:rPr>
              <a:t>Formula calculate dimention of chunk:</a:t>
            </a:r>
          </a:p>
        </p:txBody>
      </p:sp>
      <p:sp>
        <p:nvSpPr>
          <p:cNvPr name="TextBox 16" id="16"/>
          <p:cNvSpPr txBox="true"/>
          <p:nvPr/>
        </p:nvSpPr>
        <p:spPr>
          <a:xfrm rot="0">
            <a:off x="1957076" y="6283396"/>
            <a:ext cx="3596878" cy="1934845"/>
          </a:xfrm>
          <a:prstGeom prst="rect">
            <a:avLst/>
          </a:prstGeom>
        </p:spPr>
        <p:txBody>
          <a:bodyPr anchor="t" rtlCol="false" tIns="0" lIns="0" bIns="0" rIns="0">
            <a:spAutoFit/>
          </a:bodyPr>
          <a:lstStyle/>
          <a:p>
            <a:pPr algn="l" marL="474981" indent="-237491" lvl="1">
              <a:lnSpc>
                <a:spcPts val="3080"/>
              </a:lnSpc>
              <a:buFont typeface="Arial"/>
              <a:buChar char="•"/>
            </a:pPr>
            <a:r>
              <a:rPr lang="en-US" sz="2200">
                <a:solidFill>
                  <a:srgbClr val="000000"/>
                </a:solidFill>
                <a:latin typeface="Garet Light"/>
                <a:ea typeface="Garet Light"/>
                <a:cs typeface="Garet Light"/>
                <a:sym typeface="Garet Light"/>
              </a:rPr>
              <a:t>Mel_chanel = 128</a:t>
            </a:r>
          </a:p>
          <a:p>
            <a:pPr algn="l" marL="474981" indent="-237491" lvl="1">
              <a:lnSpc>
                <a:spcPts val="3080"/>
              </a:lnSpc>
              <a:buFont typeface="Arial"/>
              <a:buChar char="•"/>
            </a:pPr>
            <a:r>
              <a:rPr lang="en-US" sz="2200">
                <a:solidFill>
                  <a:srgbClr val="000000"/>
                </a:solidFill>
                <a:latin typeface="Garet Light"/>
                <a:ea typeface="Garet Light"/>
                <a:cs typeface="Garet Light"/>
                <a:sym typeface="Garet Light"/>
              </a:rPr>
              <a:t>Sample_rate = 22050 </a:t>
            </a:r>
          </a:p>
          <a:p>
            <a:pPr algn="l" marL="474981" indent="-237491" lvl="1">
              <a:lnSpc>
                <a:spcPts val="3080"/>
              </a:lnSpc>
              <a:buFont typeface="Arial"/>
              <a:buChar char="•"/>
            </a:pPr>
            <a:r>
              <a:rPr lang="en-US" sz="2200">
                <a:solidFill>
                  <a:srgbClr val="000000"/>
                </a:solidFill>
                <a:latin typeface="Garet Light"/>
                <a:ea typeface="Garet Light"/>
                <a:cs typeface="Garet Light"/>
                <a:sym typeface="Garet Light"/>
              </a:rPr>
              <a:t>Duration = 3 seconds</a:t>
            </a:r>
          </a:p>
          <a:p>
            <a:pPr algn="l" marL="474981" indent="-237491" lvl="1">
              <a:lnSpc>
                <a:spcPts val="3080"/>
              </a:lnSpc>
              <a:buFont typeface="Arial"/>
              <a:buChar char="•"/>
            </a:pPr>
            <a:r>
              <a:rPr lang="en-US" sz="2200">
                <a:solidFill>
                  <a:srgbClr val="000000"/>
                </a:solidFill>
                <a:latin typeface="Garet Light"/>
                <a:ea typeface="Garet Light"/>
                <a:cs typeface="Garet Light"/>
                <a:sym typeface="Garet Light"/>
              </a:rPr>
              <a:t>hop_length = 512</a:t>
            </a:r>
          </a:p>
          <a:p>
            <a:pPr algn="l">
              <a:lnSpc>
                <a:spcPts val="3080"/>
              </a:lnSpc>
              <a:spcBef>
                <a:spcPct val="0"/>
              </a:spcBef>
            </a:pPr>
          </a:p>
        </p:txBody>
      </p:sp>
      <p:sp>
        <p:nvSpPr>
          <p:cNvPr name="TextBox 17" id="17"/>
          <p:cNvSpPr txBox="true"/>
          <p:nvPr/>
        </p:nvSpPr>
        <p:spPr>
          <a:xfrm rot="0">
            <a:off x="8324154" y="6638386"/>
            <a:ext cx="8228277" cy="763270"/>
          </a:xfrm>
          <a:prstGeom prst="rect">
            <a:avLst/>
          </a:prstGeom>
        </p:spPr>
        <p:txBody>
          <a:bodyPr anchor="t" rtlCol="false" tIns="0" lIns="0" bIns="0" rIns="0">
            <a:spAutoFit/>
          </a:bodyPr>
          <a:lstStyle/>
          <a:p>
            <a:pPr algn="l">
              <a:lnSpc>
                <a:spcPts val="3080"/>
              </a:lnSpc>
            </a:pPr>
            <a:r>
              <a:rPr lang="en-US" sz="2200" b="true">
                <a:solidFill>
                  <a:srgbClr val="000000"/>
                </a:solidFill>
                <a:latin typeface="Garet Bold"/>
                <a:ea typeface="Garet Bold"/>
                <a:cs typeface="Garet Bold"/>
                <a:sym typeface="Garet Bold"/>
              </a:rPr>
              <a:t> frame_of_chunk = (Sample_rate* Duration)/hop_length </a:t>
            </a:r>
          </a:p>
          <a:p>
            <a:pPr algn="l">
              <a:lnSpc>
                <a:spcPts val="3080"/>
              </a:lnSpc>
              <a:spcBef>
                <a:spcPct val="0"/>
              </a:spcBef>
            </a:pPr>
            <a:r>
              <a:rPr lang="en-US" b="true" sz="2200">
                <a:solidFill>
                  <a:srgbClr val="000000"/>
                </a:solidFill>
                <a:latin typeface="Garet Bold"/>
                <a:ea typeface="Garet Bold"/>
                <a:cs typeface="Garet Bold"/>
                <a:sym typeface="Garet Bold"/>
              </a:rPr>
              <a:t>                                     = (22050*3)/512 ≈ 129</a:t>
            </a:r>
          </a:p>
        </p:txBody>
      </p:sp>
      <p:sp>
        <p:nvSpPr>
          <p:cNvPr name="TextBox 18" id="18"/>
          <p:cNvSpPr txBox="true"/>
          <p:nvPr/>
        </p:nvSpPr>
        <p:spPr>
          <a:xfrm rot="0">
            <a:off x="5864985" y="5543362"/>
            <a:ext cx="903817" cy="2481331"/>
          </a:xfrm>
          <a:prstGeom prst="rect">
            <a:avLst/>
          </a:prstGeom>
        </p:spPr>
        <p:txBody>
          <a:bodyPr anchor="t" rtlCol="false" tIns="0" lIns="0" bIns="0" rIns="0">
            <a:spAutoFit/>
          </a:bodyPr>
          <a:lstStyle/>
          <a:p>
            <a:pPr algn="l">
              <a:lnSpc>
                <a:spcPts val="20208"/>
              </a:lnSpc>
              <a:spcBef>
                <a:spcPct val="0"/>
              </a:spcBef>
            </a:pPr>
            <a:r>
              <a:rPr lang="en-US" sz="14434">
                <a:solidFill>
                  <a:srgbClr val="000000"/>
                </a:solidFill>
                <a:latin typeface="Garet"/>
                <a:ea typeface="Garet"/>
                <a:cs typeface="Garet"/>
                <a:sym typeface="Garet"/>
              </a:rPr>
              <a:t>}</a:t>
            </a:r>
          </a:p>
        </p:txBody>
      </p:sp>
      <p:sp>
        <p:nvSpPr>
          <p:cNvPr name="TextBox 19" id="19"/>
          <p:cNvSpPr txBox="true"/>
          <p:nvPr/>
        </p:nvSpPr>
        <p:spPr>
          <a:xfrm rot="0">
            <a:off x="1456899" y="8091492"/>
            <a:ext cx="10262658" cy="1471930"/>
          </a:xfrm>
          <a:prstGeom prst="rect">
            <a:avLst/>
          </a:prstGeom>
        </p:spPr>
        <p:txBody>
          <a:bodyPr anchor="t" rtlCol="false" tIns="0" lIns="0" bIns="0" rIns="0">
            <a:spAutoFit/>
          </a:bodyPr>
          <a:lstStyle/>
          <a:p>
            <a:pPr algn="l">
              <a:lnSpc>
                <a:spcPts val="3919"/>
              </a:lnSpc>
            </a:pPr>
          </a:p>
          <a:p>
            <a:pPr algn="l">
              <a:lnSpc>
                <a:spcPts val="3919"/>
              </a:lnSpc>
            </a:pPr>
            <a:r>
              <a:rPr lang="en-US" sz="2799">
                <a:solidFill>
                  <a:srgbClr val="000000"/>
                </a:solidFill>
                <a:latin typeface="Garet Light"/>
                <a:ea typeface="Garet Light"/>
                <a:cs typeface="Garet Light"/>
                <a:sym typeface="Garet Light"/>
              </a:rPr>
              <a:t>So the tensor input has shape of (num_chunks, 129, 128)</a:t>
            </a:r>
          </a:p>
          <a:p>
            <a:pPr algn="l">
              <a:lnSpc>
                <a:spcPts val="391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1909417" y="1544256"/>
            <a:ext cx="5500603" cy="5259197"/>
          </a:xfrm>
          <a:custGeom>
            <a:avLst/>
            <a:gdLst/>
            <a:ahLst/>
            <a:cxnLst/>
            <a:rect r="r" b="b" t="t" l="l"/>
            <a:pathLst>
              <a:path h="5259197" w="5500603">
                <a:moveTo>
                  <a:pt x="0" y="0"/>
                </a:moveTo>
                <a:lnTo>
                  <a:pt x="5500603" y="0"/>
                </a:lnTo>
                <a:lnTo>
                  <a:pt x="5500603" y="5259198"/>
                </a:lnTo>
                <a:lnTo>
                  <a:pt x="0" y="5259198"/>
                </a:lnTo>
                <a:lnTo>
                  <a:pt x="0" y="0"/>
                </a:lnTo>
                <a:close/>
              </a:path>
            </a:pathLst>
          </a:custGeom>
          <a:blipFill>
            <a:blip r:embed="rId5"/>
            <a:stretch>
              <a:fillRect l="0" t="0" r="0" b="0"/>
            </a:stretch>
          </a:blipFill>
        </p:spPr>
      </p:sp>
      <p:sp>
        <p:nvSpPr>
          <p:cNvPr name="Freeform 10" id="10"/>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6"/>
            <a:stretch>
              <a:fillRect l="0" t="0" r="0" b="0"/>
            </a:stretch>
          </a:blipFill>
        </p:spPr>
      </p:sp>
      <p:sp>
        <p:nvSpPr>
          <p:cNvPr name="Freeform 11" id="11"/>
          <p:cNvSpPr/>
          <p:nvPr/>
        </p:nvSpPr>
        <p:spPr>
          <a:xfrm flipH="false" flipV="false" rot="0">
            <a:off x="1553896" y="2396363"/>
            <a:ext cx="9385296" cy="2927740"/>
          </a:xfrm>
          <a:custGeom>
            <a:avLst/>
            <a:gdLst/>
            <a:ahLst/>
            <a:cxnLst/>
            <a:rect r="r" b="b" t="t" l="l"/>
            <a:pathLst>
              <a:path h="2927740" w="9385296">
                <a:moveTo>
                  <a:pt x="0" y="0"/>
                </a:moveTo>
                <a:lnTo>
                  <a:pt x="9385296" y="0"/>
                </a:lnTo>
                <a:lnTo>
                  <a:pt x="9385296" y="2927740"/>
                </a:lnTo>
                <a:lnTo>
                  <a:pt x="0" y="2927740"/>
                </a:lnTo>
                <a:lnTo>
                  <a:pt x="0" y="0"/>
                </a:lnTo>
                <a:close/>
              </a:path>
            </a:pathLst>
          </a:custGeom>
          <a:blipFill>
            <a:blip r:embed="rId7"/>
            <a:stretch>
              <a:fillRect l="0" t="0" r="0" b="0"/>
            </a:stretch>
          </a:blipFill>
        </p:spPr>
      </p:sp>
      <p:sp>
        <p:nvSpPr>
          <p:cNvPr name="Freeform 12" id="12"/>
          <p:cNvSpPr/>
          <p:nvPr/>
        </p:nvSpPr>
        <p:spPr>
          <a:xfrm flipH="false" flipV="false" rot="0">
            <a:off x="12129927" y="7201804"/>
            <a:ext cx="4148956" cy="922797"/>
          </a:xfrm>
          <a:custGeom>
            <a:avLst/>
            <a:gdLst/>
            <a:ahLst/>
            <a:cxnLst/>
            <a:rect r="r" b="b" t="t" l="l"/>
            <a:pathLst>
              <a:path h="922797" w="4148956">
                <a:moveTo>
                  <a:pt x="0" y="0"/>
                </a:moveTo>
                <a:lnTo>
                  <a:pt x="4148956" y="0"/>
                </a:lnTo>
                <a:lnTo>
                  <a:pt x="4148956" y="922797"/>
                </a:lnTo>
                <a:lnTo>
                  <a:pt x="0" y="922797"/>
                </a:lnTo>
                <a:lnTo>
                  <a:pt x="0" y="0"/>
                </a:lnTo>
                <a:close/>
              </a:path>
            </a:pathLst>
          </a:custGeom>
          <a:blipFill>
            <a:blip r:embed="rId8"/>
            <a:stretch>
              <a:fillRect l="0" t="0" r="0" b="0"/>
            </a:stretch>
          </a:blipFill>
        </p:spPr>
      </p:sp>
      <p:sp>
        <p:nvSpPr>
          <p:cNvPr name="Freeform 13" id="13"/>
          <p:cNvSpPr/>
          <p:nvPr/>
        </p:nvSpPr>
        <p:spPr>
          <a:xfrm flipH="false" flipV="false" rot="0">
            <a:off x="12129927" y="8449196"/>
            <a:ext cx="4148956" cy="371335"/>
          </a:xfrm>
          <a:custGeom>
            <a:avLst/>
            <a:gdLst/>
            <a:ahLst/>
            <a:cxnLst/>
            <a:rect r="r" b="b" t="t" l="l"/>
            <a:pathLst>
              <a:path h="371335" w="4148956">
                <a:moveTo>
                  <a:pt x="0" y="0"/>
                </a:moveTo>
                <a:lnTo>
                  <a:pt x="4148956" y="0"/>
                </a:lnTo>
                <a:lnTo>
                  <a:pt x="4148956" y="371335"/>
                </a:lnTo>
                <a:lnTo>
                  <a:pt x="0" y="371335"/>
                </a:lnTo>
                <a:lnTo>
                  <a:pt x="0" y="0"/>
                </a:lnTo>
                <a:close/>
              </a:path>
            </a:pathLst>
          </a:custGeom>
          <a:blipFill>
            <a:blip r:embed="rId9"/>
            <a:stretch>
              <a:fillRect l="0" t="0" r="0" b="0"/>
            </a:stretch>
          </a:blipFill>
        </p:spPr>
      </p:sp>
      <p:sp>
        <p:nvSpPr>
          <p:cNvPr name="TextBox 14" id="14"/>
          <p:cNvSpPr txBox="true"/>
          <p:nvPr/>
        </p:nvSpPr>
        <p:spPr>
          <a:xfrm rot="0">
            <a:off x="4014627" y="46437"/>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Model architecture</a:t>
            </a:r>
          </a:p>
        </p:txBody>
      </p:sp>
      <p:sp>
        <p:nvSpPr>
          <p:cNvPr name="TextBox 15" id="15"/>
          <p:cNvSpPr txBox="true"/>
          <p:nvPr/>
        </p:nvSpPr>
        <p:spPr>
          <a:xfrm rot="0">
            <a:off x="1986606" y="5951691"/>
            <a:ext cx="8952585" cy="2491740"/>
          </a:xfrm>
          <a:prstGeom prst="rect">
            <a:avLst/>
          </a:prstGeom>
        </p:spPr>
        <p:txBody>
          <a:bodyPr anchor="t" rtlCol="false" tIns="0" lIns="0" bIns="0" rIns="0">
            <a:spAutoFit/>
          </a:bodyPr>
          <a:lstStyle/>
          <a:p>
            <a:pPr algn="just">
              <a:lnSpc>
                <a:spcPts val="3359"/>
              </a:lnSpc>
            </a:pPr>
          </a:p>
          <a:p>
            <a:pPr algn="just">
              <a:lnSpc>
                <a:spcPts val="3359"/>
              </a:lnSpc>
            </a:pPr>
            <a:r>
              <a:rPr lang="en-US" sz="2400">
                <a:solidFill>
                  <a:srgbClr val="000000"/>
                </a:solidFill>
                <a:latin typeface="Garet Light"/>
                <a:ea typeface="Garet Light"/>
                <a:cs typeface="Garet Light"/>
                <a:sym typeface="Garet Light"/>
              </a:rPr>
              <a:t>Pass input through convolutional layers to obtain chunk representation vector</a:t>
            </a:r>
          </a:p>
          <a:p>
            <a:pPr algn="just">
              <a:lnSpc>
                <a:spcPts val="3359"/>
              </a:lnSpc>
            </a:pPr>
            <a:r>
              <a:rPr lang="en-US" sz="2400">
                <a:solidFill>
                  <a:srgbClr val="000000"/>
                </a:solidFill>
                <a:latin typeface="Garet Light"/>
                <a:ea typeface="Garet Light"/>
                <a:cs typeface="Garet Light"/>
                <a:sym typeface="Garet Light"/>
              </a:rPr>
              <a:t>We slide the kernel over the time.</a:t>
            </a:r>
          </a:p>
          <a:p>
            <a:pPr algn="just">
              <a:lnSpc>
                <a:spcPts val="3359"/>
              </a:lnSpc>
            </a:pPr>
            <a:r>
              <a:rPr lang="en-US" sz="2400">
                <a:solidFill>
                  <a:srgbClr val="000000"/>
                </a:solidFill>
                <a:latin typeface="Garet Light"/>
                <a:ea typeface="Garet Light"/>
                <a:cs typeface="Garet Light"/>
                <a:sym typeface="Garet Light"/>
              </a:rPr>
              <a:t>we use 3 conv layers </a:t>
            </a:r>
          </a:p>
          <a:p>
            <a:pPr algn="just">
              <a:lnSpc>
                <a:spcPts val="3359"/>
              </a:lnSpc>
              <a:spcBef>
                <a:spcPct val="0"/>
              </a:spcBef>
            </a:pPr>
            <a:r>
              <a:rPr lang="en-US" sz="2400">
                <a:solidFill>
                  <a:srgbClr val="000000"/>
                </a:solidFill>
                <a:latin typeface="Garet Light"/>
                <a:ea typeface="Garet Light"/>
                <a:cs typeface="Garet Light"/>
                <a:sym typeface="Garet Light"/>
              </a:rPr>
              <a:t>Output has shape of (num_chunks, 256)</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
        <p:nvSpPr>
          <p:cNvPr name="Freeform 10" id="10"/>
          <p:cNvSpPr/>
          <p:nvPr/>
        </p:nvSpPr>
        <p:spPr>
          <a:xfrm flipH="false" flipV="false" rot="0">
            <a:off x="1334005" y="1431728"/>
            <a:ext cx="9101014" cy="5469154"/>
          </a:xfrm>
          <a:custGeom>
            <a:avLst/>
            <a:gdLst/>
            <a:ahLst/>
            <a:cxnLst/>
            <a:rect r="r" b="b" t="t" l="l"/>
            <a:pathLst>
              <a:path h="5469154" w="9101014">
                <a:moveTo>
                  <a:pt x="0" y="0"/>
                </a:moveTo>
                <a:lnTo>
                  <a:pt x="9101014" y="0"/>
                </a:lnTo>
                <a:lnTo>
                  <a:pt x="9101014" y="5469154"/>
                </a:lnTo>
                <a:lnTo>
                  <a:pt x="0" y="5469154"/>
                </a:lnTo>
                <a:lnTo>
                  <a:pt x="0" y="0"/>
                </a:lnTo>
                <a:close/>
              </a:path>
            </a:pathLst>
          </a:custGeom>
          <a:blipFill>
            <a:blip r:embed="rId6"/>
            <a:stretch>
              <a:fillRect l="0" t="0" r="0" b="0"/>
            </a:stretch>
          </a:blipFill>
        </p:spPr>
      </p:sp>
      <p:sp>
        <p:nvSpPr>
          <p:cNvPr name="Freeform 11" id="11"/>
          <p:cNvSpPr/>
          <p:nvPr/>
        </p:nvSpPr>
        <p:spPr>
          <a:xfrm flipH="false" flipV="false" rot="0">
            <a:off x="11316713" y="3243809"/>
            <a:ext cx="3157439" cy="2758515"/>
          </a:xfrm>
          <a:custGeom>
            <a:avLst/>
            <a:gdLst/>
            <a:ahLst/>
            <a:cxnLst/>
            <a:rect r="r" b="b" t="t" l="l"/>
            <a:pathLst>
              <a:path h="2758515" w="3157439">
                <a:moveTo>
                  <a:pt x="0" y="0"/>
                </a:moveTo>
                <a:lnTo>
                  <a:pt x="3157439" y="0"/>
                </a:lnTo>
                <a:lnTo>
                  <a:pt x="3157439" y="2758514"/>
                </a:lnTo>
                <a:lnTo>
                  <a:pt x="0" y="2758514"/>
                </a:lnTo>
                <a:lnTo>
                  <a:pt x="0" y="0"/>
                </a:lnTo>
                <a:close/>
              </a:path>
            </a:pathLst>
          </a:custGeom>
          <a:blipFill>
            <a:blip r:embed="rId7"/>
            <a:stretch>
              <a:fillRect l="0" t="0" r="0" b="0"/>
            </a:stretch>
          </a:blipFill>
        </p:spPr>
      </p:sp>
      <p:sp>
        <p:nvSpPr>
          <p:cNvPr name="TextBox 12" id="12"/>
          <p:cNvSpPr txBox="true"/>
          <p:nvPr/>
        </p:nvSpPr>
        <p:spPr>
          <a:xfrm rot="0">
            <a:off x="4014627" y="46437"/>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Model architecture</a:t>
            </a:r>
          </a:p>
        </p:txBody>
      </p:sp>
      <p:sp>
        <p:nvSpPr>
          <p:cNvPr name="TextBox 13" id="13"/>
          <p:cNvSpPr txBox="true"/>
          <p:nvPr/>
        </p:nvSpPr>
        <p:spPr>
          <a:xfrm rot="0">
            <a:off x="1828036" y="6955798"/>
            <a:ext cx="7019840" cy="2072640"/>
          </a:xfrm>
          <a:prstGeom prst="rect">
            <a:avLst/>
          </a:prstGeom>
        </p:spPr>
        <p:txBody>
          <a:bodyPr anchor="t" rtlCol="false" tIns="0" lIns="0" bIns="0" rIns="0">
            <a:spAutoFit/>
          </a:bodyPr>
          <a:lstStyle/>
          <a:p>
            <a:pPr algn="l">
              <a:lnSpc>
                <a:spcPts val="3359"/>
              </a:lnSpc>
            </a:pPr>
            <a:r>
              <a:rPr lang="en-US" sz="2400">
                <a:solidFill>
                  <a:srgbClr val="000000"/>
                </a:solidFill>
                <a:latin typeface="Garet Light"/>
                <a:ea typeface="Garet Light"/>
                <a:cs typeface="Garet Light"/>
                <a:sym typeface="Garet Light"/>
              </a:rPr>
              <a:t>Thread 1:  Pass chunk representation as input to attention layer.</a:t>
            </a:r>
          </a:p>
          <a:p>
            <a:pPr algn="l" marL="518160" indent="-259080" lvl="1">
              <a:lnSpc>
                <a:spcPts val="3359"/>
              </a:lnSpc>
              <a:buFont typeface="Arial"/>
              <a:buChar char="•"/>
            </a:pPr>
            <a:r>
              <a:rPr lang="en-US" sz="2400">
                <a:solidFill>
                  <a:srgbClr val="000000"/>
                </a:solidFill>
                <a:latin typeface="Garet Light"/>
                <a:ea typeface="Garet Light"/>
                <a:cs typeface="Garet Light"/>
                <a:sym typeface="Garet Light"/>
              </a:rPr>
              <a:t>Passing chunk representation  in 4 FC layer .</a:t>
            </a:r>
          </a:p>
          <a:p>
            <a:pPr algn="l" marL="518160" indent="-259080" lvl="1">
              <a:lnSpc>
                <a:spcPts val="3359"/>
              </a:lnSpc>
              <a:spcBef>
                <a:spcPct val="0"/>
              </a:spcBef>
              <a:buFont typeface="Arial"/>
              <a:buChar char="•"/>
            </a:pPr>
            <a:r>
              <a:rPr lang="en-US" sz="2400">
                <a:solidFill>
                  <a:srgbClr val="000000"/>
                </a:solidFill>
                <a:latin typeface="Garet Light"/>
                <a:ea typeface="Garet Light"/>
                <a:cs typeface="Garet Light"/>
                <a:sym typeface="Garet Light"/>
              </a:rPr>
              <a:t>Output is  n_chunks-dimensional  vector</a:t>
            </a:r>
          </a:p>
        </p:txBody>
      </p:sp>
      <p:sp>
        <p:nvSpPr>
          <p:cNvPr name="TextBox 14" id="14"/>
          <p:cNvSpPr txBox="true"/>
          <p:nvPr/>
        </p:nvSpPr>
        <p:spPr>
          <a:xfrm rot="0">
            <a:off x="10184587" y="6955798"/>
            <a:ext cx="7019840" cy="2072640"/>
          </a:xfrm>
          <a:prstGeom prst="rect">
            <a:avLst/>
          </a:prstGeom>
        </p:spPr>
        <p:txBody>
          <a:bodyPr anchor="t" rtlCol="false" tIns="0" lIns="0" bIns="0" rIns="0">
            <a:spAutoFit/>
          </a:bodyPr>
          <a:lstStyle/>
          <a:p>
            <a:pPr algn="l">
              <a:lnSpc>
                <a:spcPts val="3359"/>
              </a:lnSpc>
            </a:pPr>
            <a:r>
              <a:rPr lang="en-US" sz="2400">
                <a:solidFill>
                  <a:srgbClr val="000000"/>
                </a:solidFill>
                <a:latin typeface="Garet Light"/>
                <a:ea typeface="Garet Light"/>
                <a:cs typeface="Garet Light"/>
                <a:sym typeface="Garet Light"/>
              </a:rPr>
              <a:t>Thread 2:  Pass chunk representation as input to attention layer.</a:t>
            </a:r>
          </a:p>
          <a:p>
            <a:pPr algn="l" marL="518160" indent="-259080" lvl="1">
              <a:lnSpc>
                <a:spcPts val="3359"/>
              </a:lnSpc>
              <a:buFont typeface="Arial"/>
              <a:buChar char="•"/>
            </a:pPr>
            <a:r>
              <a:rPr lang="en-US" sz="2400">
                <a:solidFill>
                  <a:srgbClr val="000000"/>
                </a:solidFill>
                <a:latin typeface="Garet Light"/>
                <a:ea typeface="Garet Light"/>
                <a:cs typeface="Garet Light"/>
                <a:sym typeface="Garet Light"/>
              </a:rPr>
              <a:t>Passing chunk representation  in 2 FC layer with activation function “sortmax”.</a:t>
            </a:r>
          </a:p>
          <a:p>
            <a:pPr algn="l" marL="518160" indent="-259080" lvl="1">
              <a:lnSpc>
                <a:spcPts val="3359"/>
              </a:lnSpc>
              <a:spcBef>
                <a:spcPct val="0"/>
              </a:spcBef>
              <a:buFont typeface="Arial"/>
              <a:buChar char="•"/>
            </a:pPr>
            <a:r>
              <a:rPr lang="en-US" sz="2400">
                <a:solidFill>
                  <a:srgbClr val="000000"/>
                </a:solidFill>
                <a:latin typeface="Garet Light"/>
                <a:ea typeface="Garet Light"/>
                <a:cs typeface="Garet Light"/>
                <a:sym typeface="Garet Light"/>
              </a:rPr>
              <a:t>Output is numpy  [n_chunks, 18]</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
        <p:nvSpPr>
          <p:cNvPr name="Freeform 10" id="10"/>
          <p:cNvSpPr/>
          <p:nvPr/>
        </p:nvSpPr>
        <p:spPr>
          <a:xfrm flipH="false" flipV="false" rot="0">
            <a:off x="1334005" y="1431728"/>
            <a:ext cx="3512289" cy="5469154"/>
          </a:xfrm>
          <a:custGeom>
            <a:avLst/>
            <a:gdLst/>
            <a:ahLst/>
            <a:cxnLst/>
            <a:rect r="r" b="b" t="t" l="l"/>
            <a:pathLst>
              <a:path h="5469154" w="3512289">
                <a:moveTo>
                  <a:pt x="0" y="0"/>
                </a:moveTo>
                <a:lnTo>
                  <a:pt x="3512289" y="0"/>
                </a:lnTo>
                <a:lnTo>
                  <a:pt x="3512289" y="5469154"/>
                </a:lnTo>
                <a:lnTo>
                  <a:pt x="0" y="5469154"/>
                </a:lnTo>
                <a:lnTo>
                  <a:pt x="0" y="0"/>
                </a:lnTo>
                <a:close/>
              </a:path>
            </a:pathLst>
          </a:custGeom>
          <a:blipFill>
            <a:blip r:embed="rId6"/>
            <a:stretch>
              <a:fillRect l="0" t="0" r="-159119" b="0"/>
            </a:stretch>
          </a:blipFill>
        </p:spPr>
      </p:sp>
      <p:sp>
        <p:nvSpPr>
          <p:cNvPr name="Freeform 11" id="11"/>
          <p:cNvSpPr/>
          <p:nvPr/>
        </p:nvSpPr>
        <p:spPr>
          <a:xfrm flipH="false" flipV="false" rot="0">
            <a:off x="1511431" y="5009522"/>
            <a:ext cx="2979606" cy="1273196"/>
          </a:xfrm>
          <a:custGeom>
            <a:avLst/>
            <a:gdLst/>
            <a:ahLst/>
            <a:cxnLst/>
            <a:rect r="r" b="b" t="t" l="l"/>
            <a:pathLst>
              <a:path h="1273196" w="2979606">
                <a:moveTo>
                  <a:pt x="0" y="0"/>
                </a:moveTo>
                <a:lnTo>
                  <a:pt x="2979606" y="0"/>
                </a:lnTo>
                <a:lnTo>
                  <a:pt x="2979606" y="1273196"/>
                </a:lnTo>
                <a:lnTo>
                  <a:pt x="0" y="1273196"/>
                </a:lnTo>
                <a:lnTo>
                  <a:pt x="0" y="0"/>
                </a:lnTo>
                <a:close/>
              </a:path>
            </a:pathLst>
          </a:custGeom>
          <a:blipFill>
            <a:blip r:embed="rId7"/>
            <a:stretch>
              <a:fillRect l="0" t="0" r="0" b="-104457"/>
            </a:stretch>
          </a:blipFill>
        </p:spPr>
      </p:sp>
      <p:sp>
        <p:nvSpPr>
          <p:cNvPr name="Freeform 12" id="12"/>
          <p:cNvSpPr/>
          <p:nvPr/>
        </p:nvSpPr>
        <p:spPr>
          <a:xfrm flipH="false" flipV="false" rot="0">
            <a:off x="4555387" y="5646120"/>
            <a:ext cx="2982757" cy="718071"/>
          </a:xfrm>
          <a:custGeom>
            <a:avLst/>
            <a:gdLst/>
            <a:ahLst/>
            <a:cxnLst/>
            <a:rect r="r" b="b" t="t" l="l"/>
            <a:pathLst>
              <a:path h="718071" w="2982757">
                <a:moveTo>
                  <a:pt x="0" y="0"/>
                </a:moveTo>
                <a:lnTo>
                  <a:pt x="2982757" y="0"/>
                </a:lnTo>
                <a:lnTo>
                  <a:pt x="2982757" y="718071"/>
                </a:lnTo>
                <a:lnTo>
                  <a:pt x="0" y="718071"/>
                </a:lnTo>
                <a:lnTo>
                  <a:pt x="0" y="0"/>
                </a:lnTo>
                <a:close/>
              </a:path>
            </a:pathLst>
          </a:custGeom>
          <a:blipFill>
            <a:blip r:embed="rId8"/>
            <a:stretch>
              <a:fillRect l="0" t="0" r="0" b="0"/>
            </a:stretch>
          </a:blipFill>
        </p:spPr>
      </p:sp>
      <p:sp>
        <p:nvSpPr>
          <p:cNvPr name="Freeform 13" id="13"/>
          <p:cNvSpPr/>
          <p:nvPr/>
        </p:nvSpPr>
        <p:spPr>
          <a:xfrm flipH="false" flipV="false" rot="0">
            <a:off x="7538144" y="2936802"/>
            <a:ext cx="10166185" cy="1611789"/>
          </a:xfrm>
          <a:custGeom>
            <a:avLst/>
            <a:gdLst/>
            <a:ahLst/>
            <a:cxnLst/>
            <a:rect r="r" b="b" t="t" l="l"/>
            <a:pathLst>
              <a:path h="1611789" w="10166185">
                <a:moveTo>
                  <a:pt x="0" y="0"/>
                </a:moveTo>
                <a:lnTo>
                  <a:pt x="10166185" y="0"/>
                </a:lnTo>
                <a:lnTo>
                  <a:pt x="10166185" y="1611789"/>
                </a:lnTo>
                <a:lnTo>
                  <a:pt x="0" y="1611789"/>
                </a:lnTo>
                <a:lnTo>
                  <a:pt x="0" y="0"/>
                </a:lnTo>
                <a:close/>
              </a:path>
            </a:pathLst>
          </a:custGeom>
          <a:blipFill>
            <a:blip r:embed="rId9"/>
            <a:stretch>
              <a:fillRect l="0" t="0" r="0" b="-40339"/>
            </a:stretch>
          </a:blipFill>
        </p:spPr>
      </p:sp>
      <p:grpSp>
        <p:nvGrpSpPr>
          <p:cNvPr name="Group 14" id="14"/>
          <p:cNvGrpSpPr/>
          <p:nvPr/>
        </p:nvGrpSpPr>
        <p:grpSpPr>
          <a:xfrm rot="0">
            <a:off x="5123858" y="3329541"/>
            <a:ext cx="1992659" cy="413156"/>
            <a:chOff x="0" y="0"/>
            <a:chExt cx="3920154" cy="812800"/>
          </a:xfrm>
        </p:grpSpPr>
        <p:sp>
          <p:nvSpPr>
            <p:cNvPr name="Freeform 15" id="15"/>
            <p:cNvSpPr/>
            <p:nvPr/>
          </p:nvSpPr>
          <p:spPr>
            <a:xfrm flipH="false" flipV="false" rot="0">
              <a:off x="0" y="0"/>
              <a:ext cx="3920154" cy="812800"/>
            </a:xfrm>
            <a:custGeom>
              <a:avLst/>
              <a:gdLst/>
              <a:ahLst/>
              <a:cxnLst/>
              <a:rect r="r" b="b" t="t" l="l"/>
              <a:pathLst>
                <a:path h="812800" w="3920154">
                  <a:moveTo>
                    <a:pt x="3920154" y="406400"/>
                  </a:moveTo>
                  <a:lnTo>
                    <a:pt x="3513754" y="0"/>
                  </a:lnTo>
                  <a:lnTo>
                    <a:pt x="3513754" y="203200"/>
                  </a:lnTo>
                  <a:lnTo>
                    <a:pt x="0" y="203200"/>
                  </a:lnTo>
                  <a:lnTo>
                    <a:pt x="0" y="609600"/>
                  </a:lnTo>
                  <a:lnTo>
                    <a:pt x="3513754" y="609600"/>
                  </a:lnTo>
                  <a:lnTo>
                    <a:pt x="3513754" y="812800"/>
                  </a:lnTo>
                  <a:lnTo>
                    <a:pt x="3920154" y="406400"/>
                  </a:lnTo>
                  <a:close/>
                </a:path>
              </a:pathLst>
            </a:custGeom>
            <a:solidFill>
              <a:srgbClr val="9F9F9F"/>
            </a:solidFill>
          </p:spPr>
        </p:sp>
        <p:sp>
          <p:nvSpPr>
            <p:cNvPr name="TextBox 16" id="16"/>
            <p:cNvSpPr txBox="true"/>
            <p:nvPr/>
          </p:nvSpPr>
          <p:spPr>
            <a:xfrm>
              <a:off x="0" y="165100"/>
              <a:ext cx="3818554" cy="444500"/>
            </a:xfrm>
            <a:prstGeom prst="rect">
              <a:avLst/>
            </a:prstGeom>
          </p:spPr>
          <p:txBody>
            <a:bodyPr anchor="ctr" rtlCol="false" tIns="50800" lIns="50800" bIns="50800" rIns="50800"/>
            <a:lstStyle/>
            <a:p>
              <a:pPr algn="ctr">
                <a:lnSpc>
                  <a:spcPts val="3359"/>
                </a:lnSpc>
              </a:pPr>
            </a:p>
          </p:txBody>
        </p:sp>
      </p:grpSp>
      <p:sp>
        <p:nvSpPr>
          <p:cNvPr name="TextBox 17" id="17"/>
          <p:cNvSpPr txBox="true"/>
          <p:nvPr/>
        </p:nvSpPr>
        <p:spPr>
          <a:xfrm rot="0">
            <a:off x="4014627" y="46437"/>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Model architecture</a:t>
            </a:r>
          </a:p>
        </p:txBody>
      </p:sp>
      <p:sp>
        <p:nvSpPr>
          <p:cNvPr name="TextBox 18" id="18"/>
          <p:cNvSpPr txBox="true"/>
          <p:nvPr/>
        </p:nvSpPr>
        <p:spPr>
          <a:xfrm rot="0">
            <a:off x="1336374" y="6955798"/>
            <a:ext cx="11571816" cy="1653540"/>
          </a:xfrm>
          <a:prstGeom prst="rect">
            <a:avLst/>
          </a:prstGeom>
        </p:spPr>
        <p:txBody>
          <a:bodyPr anchor="t" rtlCol="false" tIns="0" lIns="0" bIns="0" rIns="0">
            <a:spAutoFit/>
          </a:bodyPr>
          <a:lstStyle/>
          <a:p>
            <a:pPr algn="l">
              <a:lnSpc>
                <a:spcPts val="3359"/>
              </a:lnSpc>
            </a:pPr>
            <a:r>
              <a:rPr lang="en-US" sz="2400">
                <a:solidFill>
                  <a:srgbClr val="000000"/>
                </a:solidFill>
                <a:latin typeface="Garet Light"/>
                <a:ea typeface="Garet Light"/>
                <a:cs typeface="Garet Light"/>
                <a:sym typeface="Garet Light"/>
              </a:rPr>
              <a:t>Thread 1:  Pass chunk representation as input to attention layer.</a:t>
            </a:r>
          </a:p>
          <a:p>
            <a:pPr algn="l" marL="518160" indent="-259080" lvl="1">
              <a:lnSpc>
                <a:spcPts val="3359"/>
              </a:lnSpc>
              <a:buFont typeface="Arial"/>
              <a:buChar char="•"/>
            </a:pPr>
            <a:r>
              <a:rPr lang="en-US" sz="2400">
                <a:solidFill>
                  <a:srgbClr val="000000"/>
                </a:solidFill>
                <a:latin typeface="Garet Light"/>
                <a:ea typeface="Garet Light"/>
                <a:cs typeface="Garet Light"/>
                <a:sym typeface="Garet Light"/>
              </a:rPr>
              <a:t>Passing chunk representation  in 2 FC layer with activation function “sortmax”.</a:t>
            </a:r>
          </a:p>
          <a:p>
            <a:pPr algn="l" marL="518160" indent="-259080" lvl="1">
              <a:lnSpc>
                <a:spcPts val="3359"/>
              </a:lnSpc>
              <a:spcBef>
                <a:spcPct val="0"/>
              </a:spcBef>
              <a:buFont typeface="Arial"/>
              <a:buChar char="•"/>
            </a:pPr>
            <a:r>
              <a:rPr lang="en-US" sz="2400">
                <a:solidFill>
                  <a:srgbClr val="000000"/>
                </a:solidFill>
                <a:latin typeface="Garet Light"/>
                <a:ea typeface="Garet Light"/>
                <a:cs typeface="Garet Light"/>
                <a:sym typeface="Garet Light"/>
              </a:rPr>
              <a:t>Output is numpy  [n_chunks, 18]</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grpSp>
        <p:nvGrpSpPr>
          <p:cNvPr name="Group 10" id="10"/>
          <p:cNvGrpSpPr/>
          <p:nvPr/>
        </p:nvGrpSpPr>
        <p:grpSpPr>
          <a:xfrm rot="0">
            <a:off x="768865" y="1431728"/>
            <a:ext cx="8986805" cy="5469154"/>
            <a:chOff x="0" y="0"/>
            <a:chExt cx="11982406" cy="7292205"/>
          </a:xfrm>
        </p:grpSpPr>
        <p:sp>
          <p:nvSpPr>
            <p:cNvPr name="Freeform 11" id="11"/>
            <p:cNvSpPr/>
            <p:nvPr/>
          </p:nvSpPr>
          <p:spPr>
            <a:xfrm flipH="false" flipV="false" rot="0">
              <a:off x="6111413" y="0"/>
              <a:ext cx="5870994" cy="7292205"/>
            </a:xfrm>
            <a:custGeom>
              <a:avLst/>
              <a:gdLst/>
              <a:ahLst/>
              <a:cxnLst/>
              <a:rect r="r" b="b" t="t" l="l"/>
              <a:pathLst>
                <a:path h="7292205" w="5870994">
                  <a:moveTo>
                    <a:pt x="0" y="0"/>
                  </a:moveTo>
                  <a:lnTo>
                    <a:pt x="5870993" y="0"/>
                  </a:lnTo>
                  <a:lnTo>
                    <a:pt x="5870993" y="7292205"/>
                  </a:lnTo>
                  <a:lnTo>
                    <a:pt x="0" y="7292205"/>
                  </a:lnTo>
                  <a:lnTo>
                    <a:pt x="0" y="0"/>
                  </a:lnTo>
                  <a:close/>
                </a:path>
              </a:pathLst>
            </a:custGeom>
            <a:blipFill>
              <a:blip r:embed="rId6"/>
              <a:stretch>
                <a:fillRect l="-108160" t="-355" r="0" b="-355"/>
              </a:stretch>
            </a:blipFill>
          </p:spPr>
        </p:sp>
        <p:sp>
          <p:nvSpPr>
            <p:cNvPr name="Freeform 12" id="12"/>
            <p:cNvSpPr/>
            <p:nvPr/>
          </p:nvSpPr>
          <p:spPr>
            <a:xfrm flipH="false" flipV="false" rot="0">
              <a:off x="0" y="2462279"/>
              <a:ext cx="6389368" cy="4829926"/>
            </a:xfrm>
            <a:custGeom>
              <a:avLst/>
              <a:gdLst/>
              <a:ahLst/>
              <a:cxnLst/>
              <a:rect r="r" b="b" t="t" l="l"/>
              <a:pathLst>
                <a:path h="4829926" w="6389368">
                  <a:moveTo>
                    <a:pt x="0" y="0"/>
                  </a:moveTo>
                  <a:lnTo>
                    <a:pt x="6389368" y="0"/>
                  </a:lnTo>
                  <a:lnTo>
                    <a:pt x="6389368" y="4829926"/>
                  </a:lnTo>
                  <a:lnTo>
                    <a:pt x="0" y="4829926"/>
                  </a:lnTo>
                  <a:lnTo>
                    <a:pt x="0" y="0"/>
                  </a:lnTo>
                  <a:close/>
                </a:path>
              </a:pathLst>
            </a:custGeom>
            <a:blipFill>
              <a:blip r:embed="rId6"/>
              <a:stretch>
                <a:fillRect l="0" t="-51517" r="-91272" b="-537"/>
              </a:stretch>
            </a:blipFill>
          </p:spPr>
        </p:sp>
      </p:grpSp>
      <p:sp>
        <p:nvSpPr>
          <p:cNvPr name="Freeform 13" id="13"/>
          <p:cNvSpPr/>
          <p:nvPr/>
        </p:nvSpPr>
        <p:spPr>
          <a:xfrm flipH="false" flipV="false" rot="0">
            <a:off x="1257184" y="5787315"/>
            <a:ext cx="3157439" cy="2758515"/>
          </a:xfrm>
          <a:custGeom>
            <a:avLst/>
            <a:gdLst/>
            <a:ahLst/>
            <a:cxnLst/>
            <a:rect r="r" b="b" t="t" l="l"/>
            <a:pathLst>
              <a:path h="2758515" w="3157439">
                <a:moveTo>
                  <a:pt x="0" y="0"/>
                </a:moveTo>
                <a:lnTo>
                  <a:pt x="3157439" y="0"/>
                </a:lnTo>
                <a:lnTo>
                  <a:pt x="3157439" y="2758515"/>
                </a:lnTo>
                <a:lnTo>
                  <a:pt x="0" y="2758515"/>
                </a:lnTo>
                <a:lnTo>
                  <a:pt x="0" y="0"/>
                </a:lnTo>
                <a:close/>
              </a:path>
            </a:pathLst>
          </a:custGeom>
          <a:blipFill>
            <a:blip r:embed="rId7"/>
            <a:stretch>
              <a:fillRect l="0" t="0" r="0" b="0"/>
            </a:stretch>
          </a:blipFill>
        </p:spPr>
      </p:sp>
      <p:sp>
        <p:nvSpPr>
          <p:cNvPr name="Freeform 14" id="14"/>
          <p:cNvSpPr/>
          <p:nvPr/>
        </p:nvSpPr>
        <p:spPr>
          <a:xfrm flipH="false" flipV="false" rot="0">
            <a:off x="1257184" y="8726335"/>
            <a:ext cx="2982757" cy="718071"/>
          </a:xfrm>
          <a:custGeom>
            <a:avLst/>
            <a:gdLst/>
            <a:ahLst/>
            <a:cxnLst/>
            <a:rect r="r" b="b" t="t" l="l"/>
            <a:pathLst>
              <a:path h="718071" w="2982757">
                <a:moveTo>
                  <a:pt x="0" y="0"/>
                </a:moveTo>
                <a:lnTo>
                  <a:pt x="2982758" y="0"/>
                </a:lnTo>
                <a:lnTo>
                  <a:pt x="2982758" y="718071"/>
                </a:lnTo>
                <a:lnTo>
                  <a:pt x="0" y="718071"/>
                </a:lnTo>
                <a:lnTo>
                  <a:pt x="0" y="0"/>
                </a:lnTo>
                <a:close/>
              </a:path>
            </a:pathLst>
          </a:custGeom>
          <a:blipFill>
            <a:blip r:embed="rId8"/>
            <a:stretch>
              <a:fillRect l="0" t="0" r="0" b="0"/>
            </a:stretch>
          </a:blipFill>
        </p:spPr>
      </p:sp>
      <p:grpSp>
        <p:nvGrpSpPr>
          <p:cNvPr name="Group 15" id="15"/>
          <p:cNvGrpSpPr/>
          <p:nvPr/>
        </p:nvGrpSpPr>
        <p:grpSpPr>
          <a:xfrm rot="0">
            <a:off x="9502764" y="4417637"/>
            <a:ext cx="607622" cy="607622"/>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9F9F9F"/>
            </a:solidFill>
          </p:spPr>
        </p:sp>
        <p:sp>
          <p:nvSpPr>
            <p:cNvPr name="TextBox 17" id="17"/>
            <p:cNvSpPr txBox="true"/>
            <p:nvPr/>
          </p:nvSpPr>
          <p:spPr>
            <a:xfrm>
              <a:off x="0" y="165100"/>
              <a:ext cx="711200" cy="444500"/>
            </a:xfrm>
            <a:prstGeom prst="rect">
              <a:avLst/>
            </a:prstGeom>
          </p:spPr>
          <p:txBody>
            <a:bodyPr anchor="ctr" rtlCol="false" tIns="50800" lIns="50800" bIns="50800" rIns="50800"/>
            <a:lstStyle/>
            <a:p>
              <a:pPr algn="ctr">
                <a:lnSpc>
                  <a:spcPts val="3359"/>
                </a:lnSpc>
              </a:pPr>
            </a:p>
          </p:txBody>
        </p:sp>
      </p:grpSp>
      <p:sp>
        <p:nvSpPr>
          <p:cNvPr name="Freeform 18" id="18"/>
          <p:cNvSpPr/>
          <p:nvPr/>
        </p:nvSpPr>
        <p:spPr>
          <a:xfrm flipH="false" flipV="false" rot="0">
            <a:off x="10291361" y="3525863"/>
            <a:ext cx="7325560" cy="2261453"/>
          </a:xfrm>
          <a:custGeom>
            <a:avLst/>
            <a:gdLst/>
            <a:ahLst/>
            <a:cxnLst/>
            <a:rect r="r" b="b" t="t" l="l"/>
            <a:pathLst>
              <a:path h="2261453" w="7325560">
                <a:moveTo>
                  <a:pt x="0" y="0"/>
                </a:moveTo>
                <a:lnTo>
                  <a:pt x="7325560" y="0"/>
                </a:lnTo>
                <a:lnTo>
                  <a:pt x="7325560" y="2261452"/>
                </a:lnTo>
                <a:lnTo>
                  <a:pt x="0" y="2261452"/>
                </a:lnTo>
                <a:lnTo>
                  <a:pt x="0" y="0"/>
                </a:lnTo>
                <a:close/>
              </a:path>
            </a:pathLst>
          </a:custGeom>
          <a:blipFill>
            <a:blip r:embed="rId9"/>
            <a:stretch>
              <a:fillRect l="0" t="0" r="0" b="0"/>
            </a:stretch>
          </a:blipFill>
        </p:spPr>
      </p:sp>
      <p:sp>
        <p:nvSpPr>
          <p:cNvPr name="TextBox 19" id="19"/>
          <p:cNvSpPr txBox="true"/>
          <p:nvPr/>
        </p:nvSpPr>
        <p:spPr>
          <a:xfrm rot="0">
            <a:off x="4014627" y="46437"/>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Model architecture</a:t>
            </a:r>
          </a:p>
        </p:txBody>
      </p:sp>
      <p:sp>
        <p:nvSpPr>
          <p:cNvPr name="TextBox 20" id="20"/>
          <p:cNvSpPr txBox="true"/>
          <p:nvPr/>
        </p:nvSpPr>
        <p:spPr>
          <a:xfrm rot="0">
            <a:off x="8499870" y="7280910"/>
            <a:ext cx="7019840" cy="2491740"/>
          </a:xfrm>
          <a:prstGeom prst="rect">
            <a:avLst/>
          </a:prstGeom>
        </p:spPr>
        <p:txBody>
          <a:bodyPr anchor="t" rtlCol="false" tIns="0" lIns="0" bIns="0" rIns="0">
            <a:spAutoFit/>
          </a:bodyPr>
          <a:lstStyle/>
          <a:p>
            <a:pPr algn="l">
              <a:lnSpc>
                <a:spcPts val="3359"/>
              </a:lnSpc>
            </a:pPr>
            <a:r>
              <a:rPr lang="en-US" sz="2400">
                <a:solidFill>
                  <a:srgbClr val="000000"/>
                </a:solidFill>
                <a:latin typeface="Garet Light"/>
                <a:ea typeface="Garet Light"/>
                <a:cs typeface="Garet Light"/>
                <a:sym typeface="Garet Light"/>
              </a:rPr>
              <a:t>Thread 2:  Pass chunk representation as input to attention layer.</a:t>
            </a:r>
          </a:p>
          <a:p>
            <a:pPr algn="l" marL="518160" indent="-259080" lvl="1">
              <a:lnSpc>
                <a:spcPts val="3359"/>
              </a:lnSpc>
              <a:buFont typeface="Arial"/>
              <a:buChar char="•"/>
            </a:pPr>
            <a:r>
              <a:rPr lang="en-US" sz="2400">
                <a:solidFill>
                  <a:srgbClr val="000000"/>
                </a:solidFill>
                <a:latin typeface="Garet Light"/>
                <a:ea typeface="Garet Light"/>
                <a:cs typeface="Garet Light"/>
                <a:sym typeface="Garet Light"/>
              </a:rPr>
              <a:t>Passing chunk representation in 4 FC layer .</a:t>
            </a:r>
          </a:p>
          <a:p>
            <a:pPr algn="l" marL="518160" indent="-259080" lvl="1">
              <a:lnSpc>
                <a:spcPts val="3359"/>
              </a:lnSpc>
              <a:buFont typeface="Arial"/>
              <a:buChar char="•"/>
            </a:pPr>
            <a:r>
              <a:rPr lang="en-US" sz="2400">
                <a:solidFill>
                  <a:srgbClr val="000000"/>
                </a:solidFill>
                <a:latin typeface="Garet Light"/>
                <a:ea typeface="Garet Light"/>
                <a:cs typeface="Garet Light"/>
                <a:sym typeface="Garet Light"/>
              </a:rPr>
              <a:t>Output is n_chunks-dimensional vector</a:t>
            </a:r>
          </a:p>
          <a:p>
            <a:pPr algn="l">
              <a:lnSpc>
                <a:spcPts val="3359"/>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sp>
        <p:nvSpPr>
          <p:cNvPr name="Freeform 2" id="2"/>
          <p:cNvSpPr/>
          <p:nvPr/>
        </p:nvSpPr>
        <p:spPr>
          <a:xfrm flipH="false" flipV="false" rot="0">
            <a:off x="-286089" y="9069973"/>
            <a:ext cx="3153958" cy="2976190"/>
          </a:xfrm>
          <a:custGeom>
            <a:avLst/>
            <a:gdLst/>
            <a:ahLst/>
            <a:cxnLst/>
            <a:rect r="r" b="b" t="t" l="l"/>
            <a:pathLst>
              <a:path h="2976190" w="3153958">
                <a:moveTo>
                  <a:pt x="0" y="0"/>
                </a:moveTo>
                <a:lnTo>
                  <a:pt x="3153958" y="0"/>
                </a:lnTo>
                <a:lnTo>
                  <a:pt x="3153958" y="2976190"/>
                </a:lnTo>
                <a:lnTo>
                  <a:pt x="0" y="29761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28700" y="549541"/>
            <a:ext cx="5281739" cy="998729"/>
          </a:xfrm>
          <a:custGeom>
            <a:avLst/>
            <a:gdLst/>
            <a:ahLst/>
            <a:cxnLst/>
            <a:rect r="r" b="b" t="t" l="l"/>
            <a:pathLst>
              <a:path h="998729" w="5281739">
                <a:moveTo>
                  <a:pt x="0" y="0"/>
                </a:moveTo>
                <a:lnTo>
                  <a:pt x="5281739" y="0"/>
                </a:lnTo>
                <a:lnTo>
                  <a:pt x="5281739" y="998729"/>
                </a:lnTo>
                <a:lnTo>
                  <a:pt x="0" y="9987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7707853" y="549541"/>
            <a:ext cx="1160293" cy="3086100"/>
            <a:chOff x="0" y="0"/>
            <a:chExt cx="305592" cy="812800"/>
          </a:xfrm>
        </p:grpSpPr>
        <p:sp>
          <p:nvSpPr>
            <p:cNvPr name="Freeform 5" id="5"/>
            <p:cNvSpPr/>
            <p:nvPr/>
          </p:nvSpPr>
          <p:spPr>
            <a:xfrm flipH="false" flipV="false" rot="0">
              <a:off x="0" y="0"/>
              <a:ext cx="305592" cy="812800"/>
            </a:xfrm>
            <a:custGeom>
              <a:avLst/>
              <a:gdLst/>
              <a:ahLst/>
              <a:cxnLst/>
              <a:rect r="r" b="b" t="t" l="l"/>
              <a:pathLst>
                <a:path h="812800" w="305592">
                  <a:moveTo>
                    <a:pt x="0" y="0"/>
                  </a:moveTo>
                  <a:lnTo>
                    <a:pt x="305592" y="0"/>
                  </a:lnTo>
                  <a:lnTo>
                    <a:pt x="305592" y="812800"/>
                  </a:lnTo>
                  <a:lnTo>
                    <a:pt x="0" y="812800"/>
                  </a:lnTo>
                  <a:close/>
                </a:path>
              </a:pathLst>
            </a:custGeom>
            <a:solidFill>
              <a:srgbClr val="9F9F9F"/>
            </a:solidFill>
          </p:spPr>
        </p:sp>
        <p:sp>
          <p:nvSpPr>
            <p:cNvPr name="TextBox 6" id="6"/>
            <p:cNvSpPr txBox="true"/>
            <p:nvPr/>
          </p:nvSpPr>
          <p:spPr>
            <a:xfrm>
              <a:off x="0" y="-38100"/>
              <a:ext cx="305592" cy="850900"/>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9718737" y="8960063"/>
            <a:ext cx="1893934" cy="1765547"/>
            <a:chOff x="0" y="0"/>
            <a:chExt cx="498814" cy="465000"/>
          </a:xfrm>
        </p:grpSpPr>
        <p:sp>
          <p:nvSpPr>
            <p:cNvPr name="Freeform 8" id="8"/>
            <p:cNvSpPr/>
            <p:nvPr/>
          </p:nvSpPr>
          <p:spPr>
            <a:xfrm flipH="false" flipV="false" rot="0">
              <a:off x="0" y="0"/>
              <a:ext cx="498814" cy="465000"/>
            </a:xfrm>
            <a:custGeom>
              <a:avLst/>
              <a:gdLst/>
              <a:ahLst/>
              <a:cxnLst/>
              <a:rect r="r" b="b" t="t" l="l"/>
              <a:pathLst>
                <a:path h="465000" w="498814">
                  <a:moveTo>
                    <a:pt x="0" y="0"/>
                  </a:moveTo>
                  <a:lnTo>
                    <a:pt x="498814" y="0"/>
                  </a:lnTo>
                  <a:lnTo>
                    <a:pt x="498814" y="465000"/>
                  </a:lnTo>
                  <a:lnTo>
                    <a:pt x="0" y="465000"/>
                  </a:lnTo>
                  <a:close/>
                </a:path>
              </a:pathLst>
            </a:custGeom>
            <a:solidFill>
              <a:srgbClr val="9F9F9F"/>
            </a:solidFill>
          </p:spPr>
        </p:sp>
        <p:sp>
          <p:nvSpPr>
            <p:cNvPr name="TextBox 9" id="9"/>
            <p:cNvSpPr txBox="true"/>
            <p:nvPr/>
          </p:nvSpPr>
          <p:spPr>
            <a:xfrm>
              <a:off x="0" y="-38100"/>
              <a:ext cx="498814" cy="503100"/>
            </a:xfrm>
            <a:prstGeom prst="rect">
              <a:avLst/>
            </a:prstGeom>
          </p:spPr>
          <p:txBody>
            <a:bodyPr anchor="ctr" rtlCol="false" tIns="50800" lIns="50800" bIns="50800" rIns="50800"/>
            <a:lstStyle/>
            <a:p>
              <a:pPr algn="ctr">
                <a:lnSpc>
                  <a:spcPts val="3359"/>
                </a:lnSpc>
              </a:pPr>
            </a:p>
          </p:txBody>
        </p:sp>
      </p:grpSp>
      <p:grpSp>
        <p:nvGrpSpPr>
          <p:cNvPr name="Group 10" id="10"/>
          <p:cNvGrpSpPr/>
          <p:nvPr/>
        </p:nvGrpSpPr>
        <p:grpSpPr>
          <a:xfrm rot="0">
            <a:off x="-580147" y="4945031"/>
            <a:ext cx="1160293" cy="940201"/>
            <a:chOff x="0" y="0"/>
            <a:chExt cx="305592" cy="247625"/>
          </a:xfrm>
        </p:grpSpPr>
        <p:sp>
          <p:nvSpPr>
            <p:cNvPr name="Freeform 11" id="11"/>
            <p:cNvSpPr/>
            <p:nvPr/>
          </p:nvSpPr>
          <p:spPr>
            <a:xfrm flipH="false" flipV="false" rot="0">
              <a:off x="0" y="0"/>
              <a:ext cx="305592" cy="247625"/>
            </a:xfrm>
            <a:custGeom>
              <a:avLst/>
              <a:gdLst/>
              <a:ahLst/>
              <a:cxnLst/>
              <a:rect r="r" b="b" t="t" l="l"/>
              <a:pathLst>
                <a:path h="247625" w="305592">
                  <a:moveTo>
                    <a:pt x="0" y="0"/>
                  </a:moveTo>
                  <a:lnTo>
                    <a:pt x="305592" y="0"/>
                  </a:lnTo>
                  <a:lnTo>
                    <a:pt x="305592" y="247625"/>
                  </a:lnTo>
                  <a:lnTo>
                    <a:pt x="0" y="247625"/>
                  </a:lnTo>
                  <a:close/>
                </a:path>
              </a:pathLst>
            </a:custGeom>
            <a:solidFill>
              <a:srgbClr val="9F9F9F"/>
            </a:solidFill>
          </p:spPr>
        </p:sp>
        <p:sp>
          <p:nvSpPr>
            <p:cNvPr name="TextBox 12" id="12"/>
            <p:cNvSpPr txBox="true"/>
            <p:nvPr/>
          </p:nvSpPr>
          <p:spPr>
            <a:xfrm>
              <a:off x="0" y="-38100"/>
              <a:ext cx="305592" cy="285725"/>
            </a:xfrm>
            <a:prstGeom prst="rect">
              <a:avLst/>
            </a:prstGeom>
          </p:spPr>
          <p:txBody>
            <a:bodyPr anchor="ctr" rtlCol="false" tIns="50800" lIns="50800" bIns="50800" rIns="50800"/>
            <a:lstStyle/>
            <a:p>
              <a:pPr algn="ctr">
                <a:lnSpc>
                  <a:spcPts val="3359"/>
                </a:lnSpc>
              </a:pPr>
            </a:p>
          </p:txBody>
        </p:sp>
      </p:grpSp>
      <p:sp>
        <p:nvSpPr>
          <p:cNvPr name="Freeform 13" id="13"/>
          <p:cNvSpPr/>
          <p:nvPr/>
        </p:nvSpPr>
        <p:spPr>
          <a:xfrm flipH="false" flipV="false" rot="0">
            <a:off x="7589306" y="4448862"/>
            <a:ext cx="9945171" cy="2199853"/>
          </a:xfrm>
          <a:custGeom>
            <a:avLst/>
            <a:gdLst/>
            <a:ahLst/>
            <a:cxnLst/>
            <a:rect r="r" b="b" t="t" l="l"/>
            <a:pathLst>
              <a:path h="2199853" w="9945171">
                <a:moveTo>
                  <a:pt x="0" y="0"/>
                </a:moveTo>
                <a:lnTo>
                  <a:pt x="9945171" y="0"/>
                </a:lnTo>
                <a:lnTo>
                  <a:pt x="9945171" y="2199853"/>
                </a:lnTo>
                <a:lnTo>
                  <a:pt x="0" y="2199853"/>
                </a:lnTo>
                <a:lnTo>
                  <a:pt x="0" y="0"/>
                </a:lnTo>
                <a:close/>
              </a:path>
            </a:pathLst>
          </a:custGeom>
          <a:blipFill>
            <a:blip r:embed="rId7"/>
            <a:stretch>
              <a:fillRect l="0" t="0" r="0" b="0"/>
            </a:stretch>
          </a:blipFill>
        </p:spPr>
      </p:sp>
      <p:sp>
        <p:nvSpPr>
          <p:cNvPr name="TextBox 14" id="14"/>
          <p:cNvSpPr txBox="true"/>
          <p:nvPr/>
        </p:nvSpPr>
        <p:spPr>
          <a:xfrm rot="0">
            <a:off x="580147" y="1133123"/>
            <a:ext cx="15706220" cy="1121127"/>
          </a:xfrm>
          <a:prstGeom prst="rect">
            <a:avLst/>
          </a:prstGeom>
        </p:spPr>
        <p:txBody>
          <a:bodyPr anchor="t" rtlCol="false" tIns="0" lIns="0" bIns="0" rIns="0">
            <a:spAutoFit/>
          </a:bodyPr>
          <a:lstStyle/>
          <a:p>
            <a:pPr algn="ctr">
              <a:lnSpc>
                <a:spcPts val="9080"/>
              </a:lnSpc>
            </a:pPr>
            <a:r>
              <a:rPr lang="en-US" sz="6486">
                <a:solidFill>
                  <a:srgbClr val="000000"/>
                </a:solidFill>
                <a:latin typeface="Tomorrow"/>
                <a:ea typeface="Tomorrow"/>
                <a:cs typeface="Tomorrow"/>
                <a:sym typeface="Tomorrow"/>
              </a:rPr>
              <a:t>Positional Encoding</a:t>
            </a:r>
          </a:p>
        </p:txBody>
      </p:sp>
      <p:sp>
        <p:nvSpPr>
          <p:cNvPr name="TextBox 15" id="15"/>
          <p:cNvSpPr txBox="true"/>
          <p:nvPr/>
        </p:nvSpPr>
        <p:spPr>
          <a:xfrm rot="0">
            <a:off x="1772491" y="4410762"/>
            <a:ext cx="5406051" cy="374904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Garet Light"/>
                <a:ea typeface="Garet Light"/>
                <a:cs typeface="Garet Light"/>
                <a:sym typeface="Garet Light"/>
              </a:rPr>
              <a:t>Used to provide information about the position of each element in the input sequence.</a:t>
            </a:r>
          </a:p>
          <a:p>
            <a:pPr algn="l" marL="518160" indent="-259080" lvl="1">
              <a:lnSpc>
                <a:spcPts val="3359"/>
              </a:lnSpc>
              <a:buFont typeface="Arial"/>
              <a:buChar char="•"/>
            </a:pPr>
            <a:r>
              <a:rPr lang="en-US" sz="2400">
                <a:solidFill>
                  <a:srgbClr val="000000"/>
                </a:solidFill>
                <a:latin typeface="Garet Light"/>
                <a:ea typeface="Garet Light"/>
                <a:cs typeface="Garet Light"/>
                <a:sym typeface="Garet Light"/>
              </a:rPr>
              <a:t>Positional Encoding helps the model understand and process data sequences without relying on a sequential structure.</a:t>
            </a:r>
          </a:p>
        </p:txBody>
      </p:sp>
      <p:sp>
        <p:nvSpPr>
          <p:cNvPr name="TextBox 16" id="16"/>
          <p:cNvSpPr txBox="true"/>
          <p:nvPr/>
        </p:nvSpPr>
        <p:spPr>
          <a:xfrm rot="0">
            <a:off x="8433257" y="6901002"/>
            <a:ext cx="9468184" cy="1480185"/>
          </a:xfrm>
          <a:prstGeom prst="rect">
            <a:avLst/>
          </a:prstGeom>
        </p:spPr>
        <p:txBody>
          <a:bodyPr anchor="t" rtlCol="false" tIns="0" lIns="0" bIns="0" rIns="0">
            <a:spAutoFit/>
          </a:bodyPr>
          <a:lstStyle/>
          <a:p>
            <a:pPr algn="l" marL="453392" indent="-226696" lvl="1">
              <a:lnSpc>
                <a:spcPts val="2940"/>
              </a:lnSpc>
              <a:buFont typeface="Arial"/>
              <a:buChar char="•"/>
            </a:pPr>
            <a:r>
              <a:rPr lang="en-US" b="true" sz="2100" i="true">
                <a:solidFill>
                  <a:srgbClr val="000000"/>
                </a:solidFill>
                <a:latin typeface="Garet Bold Italics"/>
                <a:ea typeface="Garet Bold Italics"/>
                <a:cs typeface="Garet Bold Italics"/>
                <a:sym typeface="Garet Bold Italics"/>
              </a:rPr>
              <a:t>Pos</a:t>
            </a:r>
            <a:r>
              <a:rPr lang="en-US" sz="2100" i="true">
                <a:solidFill>
                  <a:srgbClr val="000000"/>
                </a:solidFill>
                <a:latin typeface="Garet Italics"/>
                <a:ea typeface="Garet Italics"/>
                <a:cs typeface="Garet Italics"/>
                <a:sym typeface="Garet Italics"/>
              </a:rPr>
              <a:t> is the position of the element in the sequence</a:t>
            </a:r>
          </a:p>
          <a:p>
            <a:pPr algn="l" marL="453392" indent="-226696" lvl="1">
              <a:lnSpc>
                <a:spcPts val="2940"/>
              </a:lnSpc>
              <a:buFont typeface="Arial"/>
              <a:buChar char="•"/>
            </a:pPr>
            <a:r>
              <a:rPr lang="en-US" b="true" sz="2100" i="true">
                <a:solidFill>
                  <a:srgbClr val="000000"/>
                </a:solidFill>
                <a:latin typeface="Garet Bold Italics"/>
                <a:ea typeface="Garet Bold Italics"/>
                <a:cs typeface="Garet Bold Italics"/>
                <a:sym typeface="Garet Bold Italics"/>
              </a:rPr>
              <a:t>i </a:t>
            </a:r>
            <a:r>
              <a:rPr lang="en-US" sz="2100" i="true">
                <a:solidFill>
                  <a:srgbClr val="000000"/>
                </a:solidFill>
                <a:latin typeface="Garet Italics"/>
                <a:ea typeface="Garet Italics"/>
                <a:cs typeface="Garet Italics"/>
                <a:sym typeface="Garet Italics"/>
              </a:rPr>
              <a:t>is the index of the elements in the vector</a:t>
            </a:r>
          </a:p>
          <a:p>
            <a:pPr algn="l" marL="453392" indent="-226696" lvl="1">
              <a:lnSpc>
                <a:spcPts val="2940"/>
              </a:lnSpc>
              <a:buFont typeface="Arial"/>
              <a:buChar char="•"/>
            </a:pPr>
            <a:r>
              <a:rPr lang="en-US" b="true" sz="2100" i="true">
                <a:solidFill>
                  <a:srgbClr val="000000"/>
                </a:solidFill>
                <a:latin typeface="Garet Bold Italics"/>
                <a:ea typeface="Garet Bold Italics"/>
                <a:cs typeface="Garet Bold Italics"/>
                <a:sym typeface="Garet Bold Italics"/>
              </a:rPr>
              <a:t>dmodel </a:t>
            </a:r>
            <a:r>
              <a:rPr lang="en-US" sz="2100" i="true">
                <a:solidFill>
                  <a:srgbClr val="000000"/>
                </a:solidFill>
                <a:latin typeface="Garet Italics"/>
                <a:ea typeface="Garet Italics"/>
                <a:cs typeface="Garet Italics"/>
                <a:sym typeface="Garet Italics"/>
              </a:rPr>
              <a:t>is the size of the vector.</a:t>
            </a:r>
          </a:p>
          <a:p>
            <a:pPr algn="l">
              <a:lnSpc>
                <a:spcPts val="2940"/>
              </a:lnSpc>
            </a:pPr>
          </a:p>
        </p:txBody>
      </p:sp>
      <p:sp>
        <p:nvSpPr>
          <p:cNvPr name="Freeform 17" id="17"/>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8"/>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233290" y="3080925"/>
            <a:ext cx="10896637" cy="2314330"/>
          </a:xfrm>
          <a:custGeom>
            <a:avLst/>
            <a:gdLst/>
            <a:ahLst/>
            <a:cxnLst/>
            <a:rect r="r" b="b" t="t" l="l"/>
            <a:pathLst>
              <a:path h="2314330" w="10896637">
                <a:moveTo>
                  <a:pt x="0" y="0"/>
                </a:moveTo>
                <a:lnTo>
                  <a:pt x="10896637" y="0"/>
                </a:lnTo>
                <a:lnTo>
                  <a:pt x="10896637" y="2314330"/>
                </a:lnTo>
                <a:lnTo>
                  <a:pt x="0" y="2314330"/>
                </a:lnTo>
                <a:lnTo>
                  <a:pt x="0" y="0"/>
                </a:lnTo>
                <a:close/>
              </a:path>
            </a:pathLst>
          </a:custGeom>
          <a:blipFill>
            <a:blip r:embed="rId5"/>
            <a:stretch>
              <a:fillRect l="0" t="0" r="0" b="0"/>
            </a:stretch>
          </a:blipFill>
        </p:spPr>
      </p:sp>
      <p:sp>
        <p:nvSpPr>
          <p:cNvPr name="Freeform 10" id="10"/>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6"/>
            <a:stretch>
              <a:fillRect l="0" t="0" r="0" b="0"/>
            </a:stretch>
          </a:blipFill>
        </p:spPr>
      </p:sp>
      <p:sp>
        <p:nvSpPr>
          <p:cNvPr name="TextBox 11" id="11"/>
          <p:cNvSpPr txBox="true"/>
          <p:nvPr/>
        </p:nvSpPr>
        <p:spPr>
          <a:xfrm rot="0">
            <a:off x="4014627" y="46437"/>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Model architecture</a:t>
            </a:r>
          </a:p>
        </p:txBody>
      </p:sp>
      <p:sp>
        <p:nvSpPr>
          <p:cNvPr name="TextBox 12" id="12"/>
          <p:cNvSpPr txBox="true"/>
          <p:nvPr/>
        </p:nvSpPr>
        <p:spPr>
          <a:xfrm rot="0">
            <a:off x="2431268" y="7195828"/>
            <a:ext cx="7019840" cy="815340"/>
          </a:xfrm>
          <a:prstGeom prst="rect">
            <a:avLst/>
          </a:prstGeom>
        </p:spPr>
        <p:txBody>
          <a:bodyPr anchor="t" rtlCol="false" tIns="0" lIns="0" bIns="0" rIns="0">
            <a:spAutoFit/>
          </a:bodyPr>
          <a:lstStyle/>
          <a:p>
            <a:pPr algn="l">
              <a:lnSpc>
                <a:spcPts val="3359"/>
              </a:lnSpc>
              <a:spcBef>
                <a:spcPct val="0"/>
              </a:spcBef>
            </a:pPr>
            <a:r>
              <a:rPr lang="en-US" sz="2400">
                <a:solidFill>
                  <a:srgbClr val="000000"/>
                </a:solidFill>
                <a:latin typeface="Garet"/>
                <a:ea typeface="Garet"/>
                <a:cs typeface="Garet"/>
                <a:sym typeface="Garet"/>
              </a:rPr>
              <a:t>Weighted sum of chunk predictions to get final audio prediction</a:t>
            </a:r>
          </a:p>
        </p:txBody>
      </p:sp>
      <p:sp>
        <p:nvSpPr>
          <p:cNvPr name="Freeform 13" id="13"/>
          <p:cNvSpPr/>
          <p:nvPr/>
        </p:nvSpPr>
        <p:spPr>
          <a:xfrm flipH="false" flipV="false" rot="0">
            <a:off x="12777627" y="3080925"/>
            <a:ext cx="4075207" cy="2729380"/>
          </a:xfrm>
          <a:custGeom>
            <a:avLst/>
            <a:gdLst/>
            <a:ahLst/>
            <a:cxnLst/>
            <a:rect r="r" b="b" t="t" l="l"/>
            <a:pathLst>
              <a:path h="2729380" w="4075207">
                <a:moveTo>
                  <a:pt x="0" y="0"/>
                </a:moveTo>
                <a:lnTo>
                  <a:pt x="4075207" y="0"/>
                </a:lnTo>
                <a:lnTo>
                  <a:pt x="4075207" y="2729380"/>
                </a:lnTo>
                <a:lnTo>
                  <a:pt x="0" y="2729380"/>
                </a:lnTo>
                <a:lnTo>
                  <a:pt x="0" y="0"/>
                </a:lnTo>
                <a:close/>
              </a:path>
            </a:pathLst>
          </a:custGeom>
          <a:blipFill>
            <a:blip r:embed="rId7"/>
            <a:stretch>
              <a:fillRect l="-220284" t="-128629" r="-8981" b="-12265"/>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4022" y="4397416"/>
            <a:ext cx="5481482" cy="4378851"/>
          </a:xfrm>
          <a:custGeom>
            <a:avLst/>
            <a:gdLst/>
            <a:ahLst/>
            <a:cxnLst/>
            <a:rect r="r" b="b" t="t" l="l"/>
            <a:pathLst>
              <a:path h="4378851" w="5481482">
                <a:moveTo>
                  <a:pt x="0" y="0"/>
                </a:moveTo>
                <a:lnTo>
                  <a:pt x="5481482" y="0"/>
                </a:lnTo>
                <a:lnTo>
                  <a:pt x="5481482" y="4378851"/>
                </a:lnTo>
                <a:lnTo>
                  <a:pt x="0" y="4378851"/>
                </a:lnTo>
                <a:lnTo>
                  <a:pt x="0" y="0"/>
                </a:lnTo>
                <a:close/>
              </a:path>
            </a:pathLst>
          </a:custGeom>
          <a:blipFill>
            <a:blip r:embed="rId4"/>
            <a:stretch>
              <a:fillRect l="0" t="-50152" r="-144792" b="0"/>
            </a:stretch>
          </a:blipFill>
        </p:spPr>
      </p:sp>
      <p:sp>
        <p:nvSpPr>
          <p:cNvPr name="Freeform 10" id="10"/>
          <p:cNvSpPr/>
          <p:nvPr/>
        </p:nvSpPr>
        <p:spPr>
          <a:xfrm flipH="false" flipV="false" rot="0">
            <a:off x="5494043" y="3569062"/>
            <a:ext cx="4328428" cy="5207205"/>
          </a:xfrm>
          <a:custGeom>
            <a:avLst/>
            <a:gdLst/>
            <a:ahLst/>
            <a:cxnLst/>
            <a:rect r="r" b="b" t="t" l="l"/>
            <a:pathLst>
              <a:path h="5207205" w="4328428">
                <a:moveTo>
                  <a:pt x="0" y="0"/>
                </a:moveTo>
                <a:lnTo>
                  <a:pt x="4328428" y="0"/>
                </a:lnTo>
                <a:lnTo>
                  <a:pt x="4328428" y="5207205"/>
                </a:lnTo>
                <a:lnTo>
                  <a:pt x="0" y="5207205"/>
                </a:lnTo>
                <a:lnTo>
                  <a:pt x="0" y="0"/>
                </a:lnTo>
                <a:close/>
              </a:path>
            </a:pathLst>
          </a:custGeom>
          <a:blipFill>
            <a:blip r:embed="rId4"/>
            <a:stretch>
              <a:fillRect l="-88947" t="-26266" r="-121055" b="0"/>
            </a:stretch>
          </a:blipFill>
        </p:spPr>
      </p:sp>
      <p:sp>
        <p:nvSpPr>
          <p:cNvPr name="Freeform 11" id="11"/>
          <p:cNvSpPr/>
          <p:nvPr/>
        </p:nvSpPr>
        <p:spPr>
          <a:xfrm flipH="false" flipV="false" rot="0">
            <a:off x="11604441" y="3165979"/>
            <a:ext cx="4075207" cy="4378851"/>
          </a:xfrm>
          <a:custGeom>
            <a:avLst/>
            <a:gdLst/>
            <a:ahLst/>
            <a:cxnLst/>
            <a:rect r="r" b="b" t="t" l="l"/>
            <a:pathLst>
              <a:path h="4378851" w="4075207">
                <a:moveTo>
                  <a:pt x="0" y="0"/>
                </a:moveTo>
                <a:lnTo>
                  <a:pt x="4075207" y="0"/>
                </a:lnTo>
                <a:lnTo>
                  <a:pt x="4075207" y="4378851"/>
                </a:lnTo>
                <a:lnTo>
                  <a:pt x="0" y="4378851"/>
                </a:lnTo>
                <a:lnTo>
                  <a:pt x="0" y="0"/>
                </a:lnTo>
                <a:close/>
              </a:path>
            </a:pathLst>
          </a:custGeom>
          <a:blipFill>
            <a:blip r:embed="rId4"/>
            <a:stretch>
              <a:fillRect l="-220284" t="-43553" r="-8981" b="-6599"/>
            </a:stretch>
          </a:blipFill>
        </p:spPr>
      </p:sp>
      <p:sp>
        <p:nvSpPr>
          <p:cNvPr name="Freeform 12" id="12"/>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
        <p:nvSpPr>
          <p:cNvPr name="Freeform 13" id="13"/>
          <p:cNvSpPr/>
          <p:nvPr/>
        </p:nvSpPr>
        <p:spPr>
          <a:xfrm flipH="false" flipV="false" rot="0">
            <a:off x="5108023" y="4800906"/>
            <a:ext cx="502344" cy="480503"/>
          </a:xfrm>
          <a:custGeom>
            <a:avLst/>
            <a:gdLst/>
            <a:ahLst/>
            <a:cxnLst/>
            <a:rect r="r" b="b" t="t" l="l"/>
            <a:pathLst>
              <a:path h="480503" w="502344">
                <a:moveTo>
                  <a:pt x="0" y="0"/>
                </a:moveTo>
                <a:lnTo>
                  <a:pt x="502344" y="0"/>
                </a:lnTo>
                <a:lnTo>
                  <a:pt x="502344" y="480503"/>
                </a:lnTo>
                <a:lnTo>
                  <a:pt x="0" y="480503"/>
                </a:lnTo>
                <a:lnTo>
                  <a:pt x="0" y="0"/>
                </a:lnTo>
                <a:close/>
              </a:path>
            </a:pathLst>
          </a:custGeom>
          <a:blipFill>
            <a:blip r:embed="rId6"/>
            <a:stretch>
              <a:fillRect l="0" t="0" r="0" b="0"/>
            </a:stretch>
          </a:blipFill>
        </p:spPr>
      </p:sp>
      <p:grpSp>
        <p:nvGrpSpPr>
          <p:cNvPr name="Group 14" id="14"/>
          <p:cNvGrpSpPr/>
          <p:nvPr/>
        </p:nvGrpSpPr>
        <p:grpSpPr>
          <a:xfrm rot="0">
            <a:off x="5108023" y="3652914"/>
            <a:ext cx="1097760" cy="312077"/>
            <a:chOff x="0" y="0"/>
            <a:chExt cx="289122" cy="82193"/>
          </a:xfrm>
        </p:grpSpPr>
        <p:sp>
          <p:nvSpPr>
            <p:cNvPr name="Freeform 15" id="15"/>
            <p:cNvSpPr/>
            <p:nvPr/>
          </p:nvSpPr>
          <p:spPr>
            <a:xfrm flipH="false" flipV="false" rot="0">
              <a:off x="0" y="0"/>
              <a:ext cx="289122" cy="82193"/>
            </a:xfrm>
            <a:custGeom>
              <a:avLst/>
              <a:gdLst/>
              <a:ahLst/>
              <a:cxnLst/>
              <a:rect r="r" b="b" t="t" l="l"/>
              <a:pathLst>
                <a:path h="82193" w="289122">
                  <a:moveTo>
                    <a:pt x="0" y="0"/>
                  </a:moveTo>
                  <a:lnTo>
                    <a:pt x="289122" y="0"/>
                  </a:lnTo>
                  <a:lnTo>
                    <a:pt x="289122" y="82193"/>
                  </a:lnTo>
                  <a:lnTo>
                    <a:pt x="0" y="82193"/>
                  </a:lnTo>
                  <a:close/>
                </a:path>
              </a:pathLst>
            </a:custGeom>
            <a:solidFill>
              <a:srgbClr val="E3E3E3"/>
            </a:solidFill>
          </p:spPr>
        </p:sp>
        <p:sp>
          <p:nvSpPr>
            <p:cNvPr name="TextBox 16" id="16"/>
            <p:cNvSpPr txBox="true"/>
            <p:nvPr/>
          </p:nvSpPr>
          <p:spPr>
            <a:xfrm>
              <a:off x="0" y="-38100"/>
              <a:ext cx="289122" cy="120293"/>
            </a:xfrm>
            <a:prstGeom prst="rect">
              <a:avLst/>
            </a:prstGeom>
          </p:spPr>
          <p:txBody>
            <a:bodyPr anchor="ctr" rtlCol="false" tIns="50800" lIns="50800" bIns="50800" rIns="50800"/>
            <a:lstStyle/>
            <a:p>
              <a:pPr algn="ctr">
                <a:lnSpc>
                  <a:spcPts val="3359"/>
                </a:lnSpc>
              </a:pPr>
            </a:p>
          </p:txBody>
        </p:sp>
      </p:grpSp>
      <p:sp>
        <p:nvSpPr>
          <p:cNvPr name="TextBox 17" id="17"/>
          <p:cNvSpPr txBox="true"/>
          <p:nvPr/>
        </p:nvSpPr>
        <p:spPr>
          <a:xfrm rot="0">
            <a:off x="4168739" y="438150"/>
            <a:ext cx="16230600" cy="1047750"/>
          </a:xfrm>
          <a:prstGeom prst="rect">
            <a:avLst/>
          </a:prstGeom>
        </p:spPr>
        <p:txBody>
          <a:bodyPr anchor="t" rtlCol="false" tIns="0" lIns="0" bIns="0" rIns="0">
            <a:spAutoFit/>
          </a:bodyPr>
          <a:lstStyle/>
          <a:p>
            <a:pPr algn="ctr">
              <a:lnSpc>
                <a:spcPts val="8400"/>
              </a:lnSpc>
            </a:pPr>
            <a:r>
              <a:rPr lang="en-US" sz="6000">
                <a:solidFill>
                  <a:srgbClr val="000000"/>
                </a:solidFill>
                <a:latin typeface="Tomorrow"/>
                <a:ea typeface="Tomorrow"/>
                <a:cs typeface="Tomorrow"/>
                <a:sym typeface="Tomorrow"/>
              </a:rPr>
              <a:t>Highlight extraction process</a:t>
            </a:r>
          </a:p>
        </p:txBody>
      </p:sp>
      <p:sp>
        <p:nvSpPr>
          <p:cNvPr name="Freeform 18" id="18"/>
          <p:cNvSpPr/>
          <p:nvPr/>
        </p:nvSpPr>
        <p:spPr>
          <a:xfrm flipH="false" flipV="false" rot="0">
            <a:off x="11604441" y="7776879"/>
            <a:ext cx="3290081" cy="806847"/>
          </a:xfrm>
          <a:custGeom>
            <a:avLst/>
            <a:gdLst/>
            <a:ahLst/>
            <a:cxnLst/>
            <a:rect r="r" b="b" t="t" l="l"/>
            <a:pathLst>
              <a:path h="806847" w="3290081">
                <a:moveTo>
                  <a:pt x="0" y="0"/>
                </a:moveTo>
                <a:lnTo>
                  <a:pt x="3290081" y="0"/>
                </a:lnTo>
                <a:lnTo>
                  <a:pt x="3290081" y="806847"/>
                </a:lnTo>
                <a:lnTo>
                  <a:pt x="0" y="806847"/>
                </a:lnTo>
                <a:lnTo>
                  <a:pt x="0" y="0"/>
                </a:lnTo>
                <a:close/>
              </a:path>
            </a:pathLst>
          </a:custGeom>
          <a:blipFill>
            <a:blip r:embed="rId7"/>
            <a:stretch>
              <a:fillRect l="0" t="-25625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908420" y="8011168"/>
            <a:ext cx="6701759" cy="6324024"/>
          </a:xfrm>
          <a:custGeom>
            <a:avLst/>
            <a:gdLst/>
            <a:ahLst/>
            <a:cxnLst/>
            <a:rect r="r" b="b" t="t" l="l"/>
            <a:pathLst>
              <a:path h="6324024" w="6701759">
                <a:moveTo>
                  <a:pt x="0" y="0"/>
                </a:moveTo>
                <a:lnTo>
                  <a:pt x="6701760" y="0"/>
                </a:lnTo>
                <a:lnTo>
                  <a:pt x="6701760" y="6324023"/>
                </a:lnTo>
                <a:lnTo>
                  <a:pt x="0" y="63240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6359472" y="8677918"/>
            <a:ext cx="4075207" cy="603098"/>
          </a:xfrm>
          <a:custGeom>
            <a:avLst/>
            <a:gdLst/>
            <a:ahLst/>
            <a:cxnLst/>
            <a:rect r="r" b="b" t="t" l="l"/>
            <a:pathLst>
              <a:path h="603098" w="4075207">
                <a:moveTo>
                  <a:pt x="0" y="0"/>
                </a:moveTo>
                <a:lnTo>
                  <a:pt x="4075207" y="0"/>
                </a:lnTo>
                <a:lnTo>
                  <a:pt x="4075207" y="603097"/>
                </a:lnTo>
                <a:lnTo>
                  <a:pt x="0" y="603097"/>
                </a:lnTo>
                <a:lnTo>
                  <a:pt x="0" y="0"/>
                </a:lnTo>
                <a:close/>
              </a:path>
            </a:pathLst>
          </a:custGeom>
          <a:blipFill>
            <a:blip r:embed="rId4"/>
            <a:stretch>
              <a:fillRect l="-220284" t="-868817" r="-8981" b="-121378"/>
            </a:stretch>
          </a:blipFill>
        </p:spPr>
      </p:sp>
      <p:sp>
        <p:nvSpPr>
          <p:cNvPr name="Freeform 10" id="10"/>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
        <p:nvSpPr>
          <p:cNvPr name="Freeform 11" id="11"/>
          <p:cNvSpPr/>
          <p:nvPr/>
        </p:nvSpPr>
        <p:spPr>
          <a:xfrm flipH="false" flipV="false" rot="0">
            <a:off x="1860376" y="5353131"/>
            <a:ext cx="12927989" cy="2957277"/>
          </a:xfrm>
          <a:custGeom>
            <a:avLst/>
            <a:gdLst/>
            <a:ahLst/>
            <a:cxnLst/>
            <a:rect r="r" b="b" t="t" l="l"/>
            <a:pathLst>
              <a:path h="2957277" w="12927989">
                <a:moveTo>
                  <a:pt x="0" y="0"/>
                </a:moveTo>
                <a:lnTo>
                  <a:pt x="12927989" y="0"/>
                </a:lnTo>
                <a:lnTo>
                  <a:pt x="12927989" y="2957278"/>
                </a:lnTo>
                <a:lnTo>
                  <a:pt x="0" y="2957278"/>
                </a:lnTo>
                <a:lnTo>
                  <a:pt x="0" y="0"/>
                </a:lnTo>
                <a:close/>
              </a:path>
            </a:pathLst>
          </a:custGeom>
          <a:blipFill>
            <a:blip r:embed="rId6"/>
            <a:stretch>
              <a:fillRect l="0" t="0" r="0" b="0"/>
            </a:stretch>
          </a:blipFill>
        </p:spPr>
      </p:sp>
      <p:sp>
        <p:nvSpPr>
          <p:cNvPr name="TextBox 12" id="12"/>
          <p:cNvSpPr txBox="true"/>
          <p:nvPr/>
        </p:nvSpPr>
        <p:spPr>
          <a:xfrm rot="0">
            <a:off x="4168739" y="438150"/>
            <a:ext cx="16230600" cy="1047750"/>
          </a:xfrm>
          <a:prstGeom prst="rect">
            <a:avLst/>
          </a:prstGeom>
        </p:spPr>
        <p:txBody>
          <a:bodyPr anchor="t" rtlCol="false" tIns="0" lIns="0" bIns="0" rIns="0">
            <a:spAutoFit/>
          </a:bodyPr>
          <a:lstStyle/>
          <a:p>
            <a:pPr algn="ctr">
              <a:lnSpc>
                <a:spcPts val="8400"/>
              </a:lnSpc>
            </a:pPr>
            <a:r>
              <a:rPr lang="en-US" sz="6000">
                <a:solidFill>
                  <a:srgbClr val="000000"/>
                </a:solidFill>
                <a:latin typeface="Tomorrow"/>
                <a:ea typeface="Tomorrow"/>
                <a:cs typeface="Tomorrow"/>
                <a:sym typeface="Tomorrow"/>
              </a:rPr>
              <a:t>Highlight extraction process</a:t>
            </a:r>
          </a:p>
        </p:txBody>
      </p:sp>
      <p:sp>
        <p:nvSpPr>
          <p:cNvPr name="TextBox 13" id="13"/>
          <p:cNvSpPr txBox="true"/>
          <p:nvPr/>
        </p:nvSpPr>
        <p:spPr>
          <a:xfrm rot="0">
            <a:off x="1442278" y="2100841"/>
            <a:ext cx="13346087" cy="2585540"/>
          </a:xfrm>
          <a:prstGeom prst="rect">
            <a:avLst/>
          </a:prstGeom>
        </p:spPr>
        <p:txBody>
          <a:bodyPr anchor="t" rtlCol="false" tIns="0" lIns="0" bIns="0" rIns="0">
            <a:spAutoFit/>
          </a:bodyPr>
          <a:lstStyle/>
          <a:p>
            <a:pPr algn="l" marL="535957" indent="-267979" lvl="1">
              <a:lnSpc>
                <a:spcPts val="3475"/>
              </a:lnSpc>
              <a:buFont typeface="Arial"/>
              <a:buChar char="•"/>
            </a:pPr>
            <a:r>
              <a:rPr lang="en-US" sz="2482">
                <a:solidFill>
                  <a:srgbClr val="000000"/>
                </a:solidFill>
                <a:latin typeface="Garet Light"/>
                <a:ea typeface="Garet Light"/>
                <a:cs typeface="Garet Light"/>
                <a:sym typeface="Garet Light"/>
              </a:rPr>
              <a:t>When we extract an array of size [n_chunks] and each value is the attention weight of that chunk. </a:t>
            </a:r>
          </a:p>
          <a:p>
            <a:pPr algn="l" marL="535957" indent="-267979" lvl="1">
              <a:lnSpc>
                <a:spcPts val="3475"/>
              </a:lnSpc>
              <a:buFont typeface="Arial"/>
              <a:buChar char="•"/>
            </a:pPr>
            <a:r>
              <a:rPr lang="en-US" sz="2482">
                <a:solidFill>
                  <a:srgbClr val="000000"/>
                </a:solidFill>
                <a:latin typeface="Garet Light"/>
                <a:ea typeface="Garet Light"/>
                <a:cs typeface="Garet Light"/>
                <a:sym typeface="Garet Light"/>
              </a:rPr>
              <a:t>We repeat those values ​​3 times, now the size of this array will be equal to the number of seconds of the song because each segment is 3 seconds. </a:t>
            </a:r>
          </a:p>
          <a:p>
            <a:pPr algn="l" marL="535957" indent="-267979" lvl="1">
              <a:lnSpc>
                <a:spcPts val="3475"/>
              </a:lnSpc>
              <a:buFont typeface="Arial"/>
              <a:buChar char="•"/>
            </a:pPr>
            <a:r>
              <a:rPr lang="en-US" sz="2482">
                <a:solidFill>
                  <a:srgbClr val="000000"/>
                </a:solidFill>
                <a:latin typeface="Garet Light"/>
                <a:ea typeface="Garet Light"/>
                <a:cs typeface="Garet Light"/>
                <a:sym typeface="Garet Light"/>
              </a:rPr>
              <a:t>Next we find the 15s long segment with the largest number of attention points and return its index which will be the number of seconds starting in the song.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7827351" y="2283995"/>
            <a:ext cx="2633297" cy="1312163"/>
          </a:xfrm>
          <a:custGeom>
            <a:avLst/>
            <a:gdLst/>
            <a:ahLst/>
            <a:cxnLst/>
            <a:rect r="r" b="b" t="t" l="l"/>
            <a:pathLst>
              <a:path h="1312163" w="2633297">
                <a:moveTo>
                  <a:pt x="0" y="0"/>
                </a:moveTo>
                <a:lnTo>
                  <a:pt x="2633298" y="0"/>
                </a:lnTo>
                <a:lnTo>
                  <a:pt x="2633298" y="1312163"/>
                </a:lnTo>
                <a:lnTo>
                  <a:pt x="0" y="13121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686387" y="-607424"/>
            <a:ext cx="3709695" cy="1015735"/>
            <a:chOff x="0" y="0"/>
            <a:chExt cx="977039" cy="267519"/>
          </a:xfrm>
        </p:grpSpPr>
        <p:sp>
          <p:nvSpPr>
            <p:cNvPr name="Freeform 5" id="5"/>
            <p:cNvSpPr/>
            <p:nvPr/>
          </p:nvSpPr>
          <p:spPr>
            <a:xfrm flipH="false" flipV="false" rot="0">
              <a:off x="0" y="0"/>
              <a:ext cx="977039" cy="267519"/>
            </a:xfrm>
            <a:custGeom>
              <a:avLst/>
              <a:gdLst/>
              <a:ahLst/>
              <a:cxnLst/>
              <a:rect r="r" b="b" t="t" l="l"/>
              <a:pathLst>
                <a:path h="267519" w="977039">
                  <a:moveTo>
                    <a:pt x="0" y="0"/>
                  </a:moveTo>
                  <a:lnTo>
                    <a:pt x="977039" y="0"/>
                  </a:lnTo>
                  <a:lnTo>
                    <a:pt x="977039" y="267519"/>
                  </a:lnTo>
                  <a:lnTo>
                    <a:pt x="0" y="267519"/>
                  </a:lnTo>
                  <a:close/>
                </a:path>
              </a:pathLst>
            </a:custGeom>
            <a:solidFill>
              <a:srgbClr val="9F9F9F"/>
            </a:solidFill>
          </p:spPr>
        </p:sp>
        <p:sp>
          <p:nvSpPr>
            <p:cNvPr name="TextBox 6" id="6"/>
            <p:cNvSpPr txBox="true"/>
            <p:nvPr/>
          </p:nvSpPr>
          <p:spPr>
            <a:xfrm>
              <a:off x="0" y="-38100"/>
              <a:ext cx="977039" cy="305619"/>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1988599" y="7022439"/>
            <a:ext cx="738450" cy="1015735"/>
            <a:chOff x="0" y="0"/>
            <a:chExt cx="194489" cy="267519"/>
          </a:xfrm>
        </p:grpSpPr>
        <p:sp>
          <p:nvSpPr>
            <p:cNvPr name="Freeform 8" id="8"/>
            <p:cNvSpPr/>
            <p:nvPr/>
          </p:nvSpPr>
          <p:spPr>
            <a:xfrm flipH="false" flipV="false" rot="0">
              <a:off x="0" y="0"/>
              <a:ext cx="194489" cy="267519"/>
            </a:xfrm>
            <a:custGeom>
              <a:avLst/>
              <a:gdLst/>
              <a:ahLst/>
              <a:cxnLst/>
              <a:rect r="r" b="b" t="t" l="l"/>
              <a:pathLst>
                <a:path h="267519" w="194489">
                  <a:moveTo>
                    <a:pt x="0" y="0"/>
                  </a:moveTo>
                  <a:lnTo>
                    <a:pt x="194489" y="0"/>
                  </a:lnTo>
                  <a:lnTo>
                    <a:pt x="194489" y="267519"/>
                  </a:lnTo>
                  <a:lnTo>
                    <a:pt x="0" y="267519"/>
                  </a:lnTo>
                  <a:close/>
                </a:path>
              </a:pathLst>
            </a:custGeom>
            <a:solidFill>
              <a:srgbClr val="9F9F9F"/>
            </a:solidFill>
          </p:spPr>
        </p:sp>
        <p:sp>
          <p:nvSpPr>
            <p:cNvPr name="TextBox 9" id="9"/>
            <p:cNvSpPr txBox="true"/>
            <p:nvPr/>
          </p:nvSpPr>
          <p:spPr>
            <a:xfrm>
              <a:off x="0" y="-38100"/>
              <a:ext cx="194489" cy="305619"/>
            </a:xfrm>
            <a:prstGeom prst="rect">
              <a:avLst/>
            </a:prstGeom>
          </p:spPr>
          <p:txBody>
            <a:bodyPr anchor="ctr" rtlCol="false" tIns="50800" lIns="50800" bIns="50800" rIns="50800"/>
            <a:lstStyle/>
            <a:p>
              <a:pPr algn="ctr">
                <a:lnSpc>
                  <a:spcPts val="3359"/>
                </a:lnSpc>
              </a:pPr>
            </a:p>
          </p:txBody>
        </p:sp>
      </p:grpSp>
      <p:sp>
        <p:nvSpPr>
          <p:cNvPr name="TextBox 10" id="10"/>
          <p:cNvSpPr txBox="true"/>
          <p:nvPr/>
        </p:nvSpPr>
        <p:spPr>
          <a:xfrm rot="0">
            <a:off x="1028700" y="4053358"/>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Training</a:t>
            </a:r>
          </a:p>
        </p:txBody>
      </p:sp>
      <p:sp>
        <p:nvSpPr>
          <p:cNvPr name="Freeform 11" id="11"/>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TextBox 8" id="8"/>
          <p:cNvSpPr txBox="true"/>
          <p:nvPr/>
        </p:nvSpPr>
        <p:spPr>
          <a:xfrm rot="0">
            <a:off x="4005181" y="923925"/>
            <a:ext cx="10277638" cy="936614"/>
          </a:xfrm>
          <a:prstGeom prst="rect">
            <a:avLst/>
          </a:prstGeom>
        </p:spPr>
        <p:txBody>
          <a:bodyPr anchor="t" rtlCol="false" tIns="0" lIns="0" bIns="0" rIns="0">
            <a:spAutoFit/>
          </a:bodyPr>
          <a:lstStyle/>
          <a:p>
            <a:pPr algn="just">
              <a:lnSpc>
                <a:spcPts val="7700"/>
              </a:lnSpc>
            </a:pPr>
            <a:r>
              <a:rPr lang="en-US" sz="5500">
                <a:solidFill>
                  <a:srgbClr val="000000"/>
                </a:solidFill>
                <a:latin typeface="Tomorrow"/>
                <a:ea typeface="Tomorrow"/>
                <a:cs typeface="Tomorrow"/>
                <a:sym typeface="Tomorrow"/>
              </a:rPr>
              <a:t>Training dataset (CAL500)</a:t>
            </a:r>
          </a:p>
        </p:txBody>
      </p:sp>
      <p:sp>
        <p:nvSpPr>
          <p:cNvPr name="TextBox 9" id="9"/>
          <p:cNvSpPr txBox="true"/>
          <p:nvPr/>
        </p:nvSpPr>
        <p:spPr>
          <a:xfrm rot="0">
            <a:off x="6726334" y="2152307"/>
            <a:ext cx="3671358" cy="396240"/>
          </a:xfrm>
          <a:prstGeom prst="rect">
            <a:avLst/>
          </a:prstGeom>
        </p:spPr>
        <p:txBody>
          <a:bodyPr anchor="t" rtlCol="false" tIns="0" lIns="0" bIns="0" rIns="0">
            <a:spAutoFit/>
          </a:bodyPr>
          <a:lstStyle/>
          <a:p>
            <a:pPr algn="just">
              <a:lnSpc>
                <a:spcPts val="3359"/>
              </a:lnSpc>
              <a:spcBef>
                <a:spcPct val="0"/>
              </a:spcBef>
            </a:pPr>
            <a:r>
              <a:rPr lang="en-US" sz="2400">
                <a:solidFill>
                  <a:srgbClr val="000000"/>
                </a:solidFill>
                <a:latin typeface="Garet Light"/>
                <a:ea typeface="Garet Light"/>
                <a:cs typeface="Garet Light"/>
                <a:sym typeface="Garet Light"/>
              </a:rPr>
              <a:t>Author: Gert Lanckriet  </a:t>
            </a:r>
          </a:p>
        </p:txBody>
      </p:sp>
      <p:sp>
        <p:nvSpPr>
          <p:cNvPr name="TextBox 10" id="10"/>
          <p:cNvSpPr txBox="true"/>
          <p:nvPr/>
        </p:nvSpPr>
        <p:spPr>
          <a:xfrm rot="0">
            <a:off x="1028700" y="3237558"/>
            <a:ext cx="15066627" cy="1108710"/>
          </a:xfrm>
          <a:prstGeom prst="rect">
            <a:avLst/>
          </a:prstGeom>
        </p:spPr>
        <p:txBody>
          <a:bodyPr anchor="t" rtlCol="false" tIns="0" lIns="0" bIns="0" rIns="0">
            <a:spAutoFit/>
          </a:bodyPr>
          <a:lstStyle/>
          <a:p>
            <a:pPr algn="just">
              <a:lnSpc>
                <a:spcPts val="2940"/>
              </a:lnSpc>
              <a:spcBef>
                <a:spcPct val="0"/>
              </a:spcBef>
            </a:pPr>
            <a:r>
              <a:rPr lang="en-US" b="true" sz="2100">
                <a:solidFill>
                  <a:srgbClr val="000000"/>
                </a:solidFill>
                <a:latin typeface="Garet Bold"/>
                <a:ea typeface="Garet Bold"/>
                <a:cs typeface="Garet Bold"/>
                <a:sym typeface="Garet Bold"/>
              </a:rPr>
              <a:t>Description: </a:t>
            </a:r>
            <a:r>
              <a:rPr lang="en-US" sz="2100">
                <a:solidFill>
                  <a:srgbClr val="000000"/>
                </a:solidFill>
                <a:latin typeface="Garet"/>
                <a:ea typeface="Garet"/>
                <a:cs typeface="Garet"/>
                <a:sym typeface="Garet"/>
              </a:rPr>
              <a:t>The CAL500 dataset was designed to support research on semantic tagging of music, which involves automatically assigning descriptive labels to songs based on their audio features, such as emotions, genres, instruments, and other attributes.</a:t>
            </a:r>
          </a:p>
        </p:txBody>
      </p:sp>
      <p:sp>
        <p:nvSpPr>
          <p:cNvPr name="TextBox 11" id="11"/>
          <p:cNvSpPr txBox="true"/>
          <p:nvPr/>
        </p:nvSpPr>
        <p:spPr>
          <a:xfrm rot="0">
            <a:off x="1028700" y="4746318"/>
            <a:ext cx="15066627" cy="1480185"/>
          </a:xfrm>
          <a:prstGeom prst="rect">
            <a:avLst/>
          </a:prstGeom>
        </p:spPr>
        <p:txBody>
          <a:bodyPr anchor="t" rtlCol="false" tIns="0" lIns="0" bIns="0" rIns="0">
            <a:spAutoFit/>
          </a:bodyPr>
          <a:lstStyle/>
          <a:p>
            <a:pPr algn="just">
              <a:lnSpc>
                <a:spcPts val="2940"/>
              </a:lnSpc>
            </a:pPr>
            <a:r>
              <a:rPr lang="en-US" sz="2100" b="true">
                <a:solidFill>
                  <a:srgbClr val="000000"/>
                </a:solidFill>
                <a:latin typeface="Garet Bold"/>
                <a:ea typeface="Garet Bold"/>
                <a:cs typeface="Garet Bold"/>
                <a:sym typeface="Garet Bold"/>
              </a:rPr>
              <a:t>Content:</a:t>
            </a:r>
            <a:r>
              <a:rPr lang="en-US" sz="2100">
                <a:solidFill>
                  <a:srgbClr val="000000"/>
                </a:solidFill>
                <a:latin typeface="Garet"/>
                <a:ea typeface="Garet"/>
                <a:cs typeface="Garet"/>
                <a:sym typeface="Garet"/>
              </a:rPr>
              <a:t> The dataset contains 500 songs by various artists from different genres. The songs were selected to cover a diverse range of musical styles and categories.</a:t>
            </a:r>
          </a:p>
          <a:p>
            <a:pPr algn="just">
              <a:lnSpc>
                <a:spcPts val="2940"/>
              </a:lnSpc>
              <a:spcBef>
                <a:spcPct val="0"/>
              </a:spcBef>
            </a:pPr>
            <a:r>
              <a:rPr lang="en-US" sz="2100">
                <a:solidFill>
                  <a:srgbClr val="000000"/>
                </a:solidFill>
                <a:latin typeface="Garet"/>
                <a:ea typeface="Garet"/>
                <a:cs typeface="Garet"/>
                <a:sym typeface="Garet"/>
              </a:rPr>
              <a:t>Each song is annotated with 3 to 5 semantic tags provided by human listeners. These tags include various categories emotion, gender,Instruments and other semantic descriptions.</a:t>
            </a:r>
          </a:p>
        </p:txBody>
      </p:sp>
      <p:sp>
        <p:nvSpPr>
          <p:cNvPr name="TextBox 12" id="12"/>
          <p:cNvSpPr txBox="true"/>
          <p:nvPr/>
        </p:nvSpPr>
        <p:spPr>
          <a:xfrm rot="0">
            <a:off x="1028700" y="6626553"/>
            <a:ext cx="15066627" cy="1108710"/>
          </a:xfrm>
          <a:prstGeom prst="rect">
            <a:avLst/>
          </a:prstGeom>
        </p:spPr>
        <p:txBody>
          <a:bodyPr anchor="t" rtlCol="false" tIns="0" lIns="0" bIns="0" rIns="0">
            <a:spAutoFit/>
          </a:bodyPr>
          <a:lstStyle/>
          <a:p>
            <a:pPr algn="just">
              <a:lnSpc>
                <a:spcPts val="2940"/>
              </a:lnSpc>
              <a:spcBef>
                <a:spcPct val="0"/>
              </a:spcBef>
            </a:pPr>
            <a:r>
              <a:rPr lang="en-US" b="true" sz="2100">
                <a:solidFill>
                  <a:srgbClr val="000000"/>
                </a:solidFill>
                <a:latin typeface="Garet Bold"/>
                <a:ea typeface="Garet Bold"/>
                <a:cs typeface="Garet Bold"/>
                <a:sym typeface="Garet Bold"/>
              </a:rPr>
              <a:t>Human annotations: </a:t>
            </a:r>
            <a:r>
              <a:rPr lang="en-US" sz="2100">
                <a:solidFill>
                  <a:srgbClr val="000000"/>
                </a:solidFill>
                <a:latin typeface="Garet"/>
                <a:ea typeface="Garet"/>
                <a:cs typeface="Garet"/>
                <a:sym typeface="Garet"/>
              </a:rPr>
              <a:t>Each song in the CAL500 dataset is annotated by listeners who evaluate and tag the music based on its audio content. This results in a rich set of semantic labels that can be used in machine learning tasks related to music.</a:t>
            </a:r>
          </a:p>
        </p:txBody>
      </p:sp>
      <p:sp>
        <p:nvSpPr>
          <p:cNvPr name="Freeform 13" id="13"/>
          <p:cNvSpPr/>
          <p:nvPr/>
        </p:nvSpPr>
        <p:spPr>
          <a:xfrm flipH="false" flipV="false" rot="0">
            <a:off x="12627089" y="6508572"/>
            <a:ext cx="6701759" cy="6324024"/>
          </a:xfrm>
          <a:custGeom>
            <a:avLst/>
            <a:gdLst/>
            <a:ahLst/>
            <a:cxnLst/>
            <a:rect r="r" b="b" t="t" l="l"/>
            <a:pathLst>
              <a:path h="6324024" w="6701759">
                <a:moveTo>
                  <a:pt x="0" y="0"/>
                </a:moveTo>
                <a:lnTo>
                  <a:pt x="6701760" y="0"/>
                </a:lnTo>
                <a:lnTo>
                  <a:pt x="6701760" y="6324024"/>
                </a:lnTo>
                <a:lnTo>
                  <a:pt x="0" y="63240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2702510" y="7490525"/>
            <a:ext cx="6701759" cy="6324024"/>
          </a:xfrm>
          <a:custGeom>
            <a:avLst/>
            <a:gdLst/>
            <a:ahLst/>
            <a:cxnLst/>
            <a:rect r="r" b="b" t="t" l="l"/>
            <a:pathLst>
              <a:path h="6324024" w="6701759">
                <a:moveTo>
                  <a:pt x="0" y="0"/>
                </a:moveTo>
                <a:lnTo>
                  <a:pt x="6701759" y="0"/>
                </a:lnTo>
                <a:lnTo>
                  <a:pt x="6701759" y="6324024"/>
                </a:lnTo>
                <a:lnTo>
                  <a:pt x="0" y="63240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
        <p:nvSpPr>
          <p:cNvPr name="Freeform 10" id="10"/>
          <p:cNvSpPr/>
          <p:nvPr/>
        </p:nvSpPr>
        <p:spPr>
          <a:xfrm flipH="false" flipV="false" rot="0">
            <a:off x="5638072" y="2596589"/>
            <a:ext cx="11757204" cy="4893936"/>
          </a:xfrm>
          <a:custGeom>
            <a:avLst/>
            <a:gdLst/>
            <a:ahLst/>
            <a:cxnLst/>
            <a:rect r="r" b="b" t="t" l="l"/>
            <a:pathLst>
              <a:path h="4893936" w="11757204">
                <a:moveTo>
                  <a:pt x="0" y="0"/>
                </a:moveTo>
                <a:lnTo>
                  <a:pt x="11757204" y="0"/>
                </a:lnTo>
                <a:lnTo>
                  <a:pt x="11757204" y="4893936"/>
                </a:lnTo>
                <a:lnTo>
                  <a:pt x="0" y="4893936"/>
                </a:lnTo>
                <a:lnTo>
                  <a:pt x="0" y="0"/>
                </a:lnTo>
                <a:close/>
              </a:path>
            </a:pathLst>
          </a:custGeom>
          <a:blipFill>
            <a:blip r:embed="rId6"/>
            <a:stretch>
              <a:fillRect l="0" t="0" r="0" b="0"/>
            </a:stretch>
          </a:blipFill>
        </p:spPr>
      </p:sp>
      <p:sp>
        <p:nvSpPr>
          <p:cNvPr name="TextBox 11" id="11"/>
          <p:cNvSpPr txBox="true"/>
          <p:nvPr/>
        </p:nvSpPr>
        <p:spPr>
          <a:xfrm rot="0">
            <a:off x="4014627" y="46437"/>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Training</a:t>
            </a:r>
          </a:p>
        </p:txBody>
      </p:sp>
      <p:sp>
        <p:nvSpPr>
          <p:cNvPr name="TextBox 12" id="12"/>
          <p:cNvSpPr txBox="true"/>
          <p:nvPr/>
        </p:nvSpPr>
        <p:spPr>
          <a:xfrm rot="0">
            <a:off x="765845" y="2558489"/>
            <a:ext cx="4394989" cy="6263640"/>
          </a:xfrm>
          <a:prstGeom prst="rect">
            <a:avLst/>
          </a:prstGeom>
        </p:spPr>
        <p:txBody>
          <a:bodyPr anchor="t" rtlCol="false" tIns="0" lIns="0" bIns="0" rIns="0">
            <a:spAutoFit/>
          </a:bodyPr>
          <a:lstStyle/>
          <a:p>
            <a:pPr algn="just">
              <a:lnSpc>
                <a:spcPts val="3359"/>
              </a:lnSpc>
            </a:pPr>
            <a:r>
              <a:rPr lang="en-US" sz="2400" b="true">
                <a:solidFill>
                  <a:srgbClr val="000000"/>
                </a:solidFill>
                <a:latin typeface="Garet Bold"/>
                <a:ea typeface="Garet Bold"/>
                <a:cs typeface="Garet Bold"/>
                <a:sym typeface="Garet Bold"/>
              </a:rPr>
              <a:t>Training dataset</a:t>
            </a:r>
            <a:r>
              <a:rPr lang="en-US" sz="2400">
                <a:solidFill>
                  <a:srgbClr val="000000"/>
                </a:solidFill>
                <a:latin typeface="Garet Light"/>
                <a:ea typeface="Garet Light"/>
                <a:cs typeface="Garet Light"/>
                <a:sym typeface="Garet Light"/>
              </a:rPr>
              <a:t>: CAL500</a:t>
            </a:r>
          </a:p>
          <a:p>
            <a:pPr algn="just">
              <a:lnSpc>
                <a:spcPts val="3359"/>
              </a:lnSpc>
            </a:pPr>
          </a:p>
          <a:p>
            <a:pPr algn="just">
              <a:lnSpc>
                <a:spcPts val="3359"/>
              </a:lnSpc>
            </a:pPr>
            <a:r>
              <a:rPr lang="en-US" sz="2400" b="true">
                <a:solidFill>
                  <a:srgbClr val="000000"/>
                </a:solidFill>
                <a:latin typeface="Garet Bold"/>
                <a:ea typeface="Garet Bold"/>
                <a:cs typeface="Garet Bold"/>
                <a:sym typeface="Garet Bold"/>
              </a:rPr>
              <a:t>Epochs</a:t>
            </a:r>
            <a:r>
              <a:rPr lang="en-US" sz="2400">
                <a:solidFill>
                  <a:srgbClr val="000000"/>
                </a:solidFill>
                <a:latin typeface="Garet Light"/>
                <a:ea typeface="Garet Light"/>
                <a:cs typeface="Garet Light"/>
                <a:sym typeface="Garet Light"/>
              </a:rPr>
              <a:t>: 10</a:t>
            </a:r>
          </a:p>
          <a:p>
            <a:pPr algn="just">
              <a:lnSpc>
                <a:spcPts val="3359"/>
              </a:lnSpc>
            </a:pPr>
          </a:p>
          <a:p>
            <a:pPr algn="just">
              <a:lnSpc>
                <a:spcPts val="3359"/>
              </a:lnSpc>
            </a:pPr>
            <a:r>
              <a:rPr lang="en-US" sz="2400" b="true">
                <a:solidFill>
                  <a:srgbClr val="000000"/>
                </a:solidFill>
                <a:latin typeface="Garet Bold"/>
                <a:ea typeface="Garet Bold"/>
                <a:cs typeface="Garet Bold"/>
                <a:sym typeface="Garet Bold"/>
              </a:rPr>
              <a:t>Loss function</a:t>
            </a:r>
            <a:r>
              <a:rPr lang="en-US" sz="2400">
                <a:solidFill>
                  <a:srgbClr val="000000"/>
                </a:solidFill>
                <a:latin typeface="Garet Light"/>
                <a:ea typeface="Garet Light"/>
                <a:cs typeface="Garet Light"/>
                <a:sym typeface="Garet Light"/>
              </a:rPr>
              <a:t>:  Using cross-entropy to compute the loss between actual labels and predicions</a:t>
            </a:r>
          </a:p>
          <a:p>
            <a:pPr algn="just">
              <a:lnSpc>
                <a:spcPts val="3359"/>
              </a:lnSpc>
            </a:pPr>
          </a:p>
          <a:p>
            <a:pPr algn="just">
              <a:lnSpc>
                <a:spcPts val="3359"/>
              </a:lnSpc>
            </a:pPr>
            <a:r>
              <a:rPr lang="en-US" sz="2400" b="true">
                <a:solidFill>
                  <a:srgbClr val="000000"/>
                </a:solidFill>
                <a:latin typeface="Garet Bold"/>
                <a:ea typeface="Garet Bold"/>
                <a:cs typeface="Garet Bold"/>
                <a:sym typeface="Garet Bold"/>
              </a:rPr>
              <a:t>Optimizing the model</a:t>
            </a:r>
            <a:r>
              <a:rPr lang="en-US" sz="2400">
                <a:solidFill>
                  <a:srgbClr val="000000"/>
                </a:solidFill>
                <a:latin typeface="Garet Light"/>
                <a:ea typeface="Garet Light"/>
                <a:cs typeface="Garet Light"/>
                <a:sym typeface="Garet Light"/>
              </a:rPr>
              <a:t>: Using AdamOptimizer, with learning rate 0.001 to minimizing the loss during training.</a:t>
            </a:r>
          </a:p>
          <a:p>
            <a:pPr algn="just">
              <a:lnSpc>
                <a:spcPts val="3359"/>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7827351" y="2283995"/>
            <a:ext cx="2633297" cy="1312163"/>
          </a:xfrm>
          <a:custGeom>
            <a:avLst/>
            <a:gdLst/>
            <a:ahLst/>
            <a:cxnLst/>
            <a:rect r="r" b="b" t="t" l="l"/>
            <a:pathLst>
              <a:path h="1312163" w="2633297">
                <a:moveTo>
                  <a:pt x="0" y="0"/>
                </a:moveTo>
                <a:lnTo>
                  <a:pt x="2633298" y="0"/>
                </a:lnTo>
                <a:lnTo>
                  <a:pt x="2633298" y="1312163"/>
                </a:lnTo>
                <a:lnTo>
                  <a:pt x="0" y="13121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686387" y="-607424"/>
            <a:ext cx="3709695" cy="1015735"/>
            <a:chOff x="0" y="0"/>
            <a:chExt cx="977039" cy="267519"/>
          </a:xfrm>
        </p:grpSpPr>
        <p:sp>
          <p:nvSpPr>
            <p:cNvPr name="Freeform 5" id="5"/>
            <p:cNvSpPr/>
            <p:nvPr/>
          </p:nvSpPr>
          <p:spPr>
            <a:xfrm flipH="false" flipV="false" rot="0">
              <a:off x="0" y="0"/>
              <a:ext cx="977039" cy="267519"/>
            </a:xfrm>
            <a:custGeom>
              <a:avLst/>
              <a:gdLst/>
              <a:ahLst/>
              <a:cxnLst/>
              <a:rect r="r" b="b" t="t" l="l"/>
              <a:pathLst>
                <a:path h="267519" w="977039">
                  <a:moveTo>
                    <a:pt x="0" y="0"/>
                  </a:moveTo>
                  <a:lnTo>
                    <a:pt x="977039" y="0"/>
                  </a:lnTo>
                  <a:lnTo>
                    <a:pt x="977039" y="267519"/>
                  </a:lnTo>
                  <a:lnTo>
                    <a:pt x="0" y="267519"/>
                  </a:lnTo>
                  <a:close/>
                </a:path>
              </a:pathLst>
            </a:custGeom>
            <a:solidFill>
              <a:srgbClr val="9F9F9F"/>
            </a:solidFill>
          </p:spPr>
        </p:sp>
        <p:sp>
          <p:nvSpPr>
            <p:cNvPr name="TextBox 6" id="6"/>
            <p:cNvSpPr txBox="true"/>
            <p:nvPr/>
          </p:nvSpPr>
          <p:spPr>
            <a:xfrm>
              <a:off x="0" y="-38100"/>
              <a:ext cx="977039" cy="305619"/>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1988599" y="7022439"/>
            <a:ext cx="738450" cy="1015735"/>
            <a:chOff x="0" y="0"/>
            <a:chExt cx="194489" cy="267519"/>
          </a:xfrm>
        </p:grpSpPr>
        <p:sp>
          <p:nvSpPr>
            <p:cNvPr name="Freeform 8" id="8"/>
            <p:cNvSpPr/>
            <p:nvPr/>
          </p:nvSpPr>
          <p:spPr>
            <a:xfrm flipH="false" flipV="false" rot="0">
              <a:off x="0" y="0"/>
              <a:ext cx="194489" cy="267519"/>
            </a:xfrm>
            <a:custGeom>
              <a:avLst/>
              <a:gdLst/>
              <a:ahLst/>
              <a:cxnLst/>
              <a:rect r="r" b="b" t="t" l="l"/>
              <a:pathLst>
                <a:path h="267519" w="194489">
                  <a:moveTo>
                    <a:pt x="0" y="0"/>
                  </a:moveTo>
                  <a:lnTo>
                    <a:pt x="194489" y="0"/>
                  </a:lnTo>
                  <a:lnTo>
                    <a:pt x="194489" y="267519"/>
                  </a:lnTo>
                  <a:lnTo>
                    <a:pt x="0" y="267519"/>
                  </a:lnTo>
                  <a:close/>
                </a:path>
              </a:pathLst>
            </a:custGeom>
            <a:solidFill>
              <a:srgbClr val="9F9F9F"/>
            </a:solidFill>
          </p:spPr>
        </p:sp>
        <p:sp>
          <p:nvSpPr>
            <p:cNvPr name="TextBox 9" id="9"/>
            <p:cNvSpPr txBox="true"/>
            <p:nvPr/>
          </p:nvSpPr>
          <p:spPr>
            <a:xfrm>
              <a:off x="0" y="-38100"/>
              <a:ext cx="194489" cy="305619"/>
            </a:xfrm>
            <a:prstGeom prst="rect">
              <a:avLst/>
            </a:prstGeom>
          </p:spPr>
          <p:txBody>
            <a:bodyPr anchor="ctr" rtlCol="false" tIns="50800" lIns="50800" bIns="50800" rIns="50800"/>
            <a:lstStyle/>
            <a:p>
              <a:pPr algn="ctr">
                <a:lnSpc>
                  <a:spcPts val="3359"/>
                </a:lnSpc>
              </a:pPr>
            </a:p>
          </p:txBody>
        </p:sp>
      </p:grpSp>
      <p:sp>
        <p:nvSpPr>
          <p:cNvPr name="TextBox 10" id="10"/>
          <p:cNvSpPr txBox="true"/>
          <p:nvPr/>
        </p:nvSpPr>
        <p:spPr>
          <a:xfrm rot="0">
            <a:off x="1028700" y="4053358"/>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Evaluation</a:t>
            </a:r>
          </a:p>
        </p:txBody>
      </p:sp>
      <p:sp>
        <p:nvSpPr>
          <p:cNvPr name="Freeform 11" id="11"/>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2129927" y="6173549"/>
            <a:ext cx="6701759" cy="6324024"/>
          </a:xfrm>
          <a:custGeom>
            <a:avLst/>
            <a:gdLst/>
            <a:ahLst/>
            <a:cxnLst/>
            <a:rect r="r" b="b" t="t" l="l"/>
            <a:pathLst>
              <a:path h="6324024" w="6701759">
                <a:moveTo>
                  <a:pt x="0" y="0"/>
                </a:moveTo>
                <a:lnTo>
                  <a:pt x="6701759" y="0"/>
                </a:lnTo>
                <a:lnTo>
                  <a:pt x="6701759" y="6324023"/>
                </a:lnTo>
                <a:lnTo>
                  <a:pt x="0" y="632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4478331" y="3752795"/>
            <a:ext cx="10527591" cy="802797"/>
          </a:xfrm>
          <a:custGeom>
            <a:avLst/>
            <a:gdLst/>
            <a:ahLst/>
            <a:cxnLst/>
            <a:rect r="r" b="b" t="t" l="l"/>
            <a:pathLst>
              <a:path h="802797" w="10527591">
                <a:moveTo>
                  <a:pt x="0" y="0"/>
                </a:moveTo>
                <a:lnTo>
                  <a:pt x="10527591" y="0"/>
                </a:lnTo>
                <a:lnTo>
                  <a:pt x="10527591" y="802797"/>
                </a:lnTo>
                <a:lnTo>
                  <a:pt x="0" y="802797"/>
                </a:lnTo>
                <a:lnTo>
                  <a:pt x="0" y="0"/>
                </a:lnTo>
                <a:close/>
              </a:path>
            </a:pathLst>
          </a:custGeom>
          <a:blipFill>
            <a:blip r:embed="rId5"/>
            <a:stretch>
              <a:fillRect l="0" t="0" r="0" b="0"/>
            </a:stretch>
          </a:blipFill>
        </p:spPr>
      </p:sp>
      <p:graphicFrame>
        <p:nvGraphicFramePr>
          <p:cNvPr name="Table 10" id="10"/>
          <p:cNvGraphicFramePr>
            <a:graphicFrameLocks noGrp="true"/>
          </p:cNvGraphicFramePr>
          <p:nvPr/>
        </p:nvGraphicFramePr>
        <p:xfrm>
          <a:off x="4479095" y="5362674"/>
          <a:ext cx="7315200" cy="4676775"/>
        </p:xfrm>
        <a:graphic>
          <a:graphicData uri="http://schemas.openxmlformats.org/drawingml/2006/table">
            <a:tbl>
              <a:tblPr/>
              <a:tblGrid>
                <a:gridCol w="3657600"/>
                <a:gridCol w="3657600"/>
              </a:tblGrid>
              <a:tr h="797068">
                <a:tc>
                  <a:txBody>
                    <a:bodyPr anchor="t" rtlCol="false"/>
                    <a:lstStyle/>
                    <a:p>
                      <a:pPr algn="ctr">
                        <a:lnSpc>
                          <a:spcPts val="2520"/>
                        </a:lnSpc>
                        <a:defRPr/>
                      </a:pPr>
                      <a:r>
                        <a:rPr lang="en-US" sz="1800" b="true">
                          <a:solidFill>
                            <a:srgbClr val="000000"/>
                          </a:solidFill>
                          <a:latin typeface="Garet Bold"/>
                          <a:ea typeface="Garet Bold"/>
                          <a:cs typeface="Garet Bold"/>
                          <a:sym typeface="Garet Bold"/>
                        </a:rPr>
                        <a:t>Method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Garet Bold"/>
                          <a:ea typeface="Garet Bold"/>
                          <a:cs typeface="Garet Bold"/>
                          <a:sym typeface="Garet Bold"/>
                        </a:rPr>
                        <a:t>Accuracy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7068">
                <a:tc>
                  <a:txBody>
                    <a:bodyPr anchor="t" rtlCol="false"/>
                    <a:lstStyle/>
                    <a:p>
                      <a:pPr algn="ctr">
                        <a:lnSpc>
                          <a:spcPts val="2520"/>
                        </a:lnSpc>
                        <a:defRPr/>
                      </a:pPr>
                      <a:r>
                        <a:rPr lang="en-US" sz="1800">
                          <a:solidFill>
                            <a:srgbClr val="000000"/>
                          </a:solidFill>
                          <a:latin typeface="Garet"/>
                          <a:ea typeface="Garet"/>
                          <a:cs typeface="Garet"/>
                          <a:sym typeface="Garet"/>
                        </a:rPr>
                        <a:t>Emotion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Garet"/>
                          <a:ea typeface="Garet"/>
                          <a:cs typeface="Garet"/>
                          <a:sym typeface="Garet"/>
                        </a:rPr>
                        <a:t>0.76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7546">
                <a:tc>
                  <a:txBody>
                    <a:bodyPr anchor="t" rtlCol="false"/>
                    <a:lstStyle/>
                    <a:p>
                      <a:pPr algn="ctr">
                        <a:lnSpc>
                          <a:spcPts val="2520"/>
                        </a:lnSpc>
                        <a:defRPr/>
                      </a:pPr>
                      <a:r>
                        <a:rPr lang="en-US" sz="1800">
                          <a:solidFill>
                            <a:srgbClr val="000000"/>
                          </a:solidFill>
                          <a:latin typeface="Garet"/>
                          <a:ea typeface="Garet"/>
                          <a:cs typeface="Garet"/>
                          <a:sym typeface="Garet"/>
                        </a:rPr>
                        <a:t>Spectral energy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Garet"/>
                          <a:ea typeface="Garet"/>
                          <a:cs typeface="Garet"/>
                          <a:sym typeface="Garet"/>
                        </a:rPr>
                        <a:t>0.53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7546">
                <a:tc>
                  <a:txBody>
                    <a:bodyPr anchor="t" rtlCol="false"/>
                    <a:lstStyle/>
                    <a:p>
                      <a:pPr algn="ctr">
                        <a:lnSpc>
                          <a:spcPts val="2520"/>
                        </a:lnSpc>
                        <a:defRPr/>
                      </a:pPr>
                      <a:r>
                        <a:rPr lang="en-US" sz="1800">
                          <a:solidFill>
                            <a:srgbClr val="000000"/>
                          </a:solidFill>
                          <a:latin typeface="Garet"/>
                          <a:ea typeface="Garet"/>
                          <a:cs typeface="Garet"/>
                          <a:sym typeface="Garet"/>
                        </a:rPr>
                        <a:t>Spectral centroid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Garet"/>
                          <a:ea typeface="Garet"/>
                          <a:cs typeface="Garet"/>
                          <a:sym typeface="Garet"/>
                        </a:rPr>
                        <a:t>0.47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7546">
                <a:tc>
                  <a:txBody>
                    <a:bodyPr anchor="t" rtlCol="false"/>
                    <a:lstStyle/>
                    <a:p>
                      <a:pPr algn="ctr">
                        <a:lnSpc>
                          <a:spcPts val="2520"/>
                        </a:lnSpc>
                        <a:defRPr/>
                      </a:pPr>
                      <a:r>
                        <a:rPr lang="en-US" sz="1800">
                          <a:solidFill>
                            <a:srgbClr val="000000"/>
                          </a:solidFill>
                          <a:latin typeface="Garet"/>
                          <a:ea typeface="Garet"/>
                          <a:cs typeface="Garet"/>
                          <a:sym typeface="Garet"/>
                        </a:rPr>
                        <a:t>Spectral roll-off</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Garet"/>
                          <a:ea typeface="Garet"/>
                          <a:cs typeface="Garet"/>
                          <a:sym typeface="Garet"/>
                        </a:rPr>
                        <a:t>0.53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1" id="11"/>
          <p:cNvSpPr txBox="true"/>
          <p:nvPr/>
        </p:nvSpPr>
        <p:spPr>
          <a:xfrm rot="0">
            <a:off x="4014627" y="46437"/>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Evaluation</a:t>
            </a:r>
          </a:p>
        </p:txBody>
      </p:sp>
      <p:sp>
        <p:nvSpPr>
          <p:cNvPr name="TextBox 12" id="12"/>
          <p:cNvSpPr txBox="true"/>
          <p:nvPr/>
        </p:nvSpPr>
        <p:spPr>
          <a:xfrm rot="0">
            <a:off x="1028700" y="1746830"/>
            <a:ext cx="13279348" cy="165354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Garet Bold"/>
                <a:ea typeface="Garet Bold"/>
                <a:cs typeface="Garet Bold"/>
                <a:sym typeface="Garet Bold"/>
              </a:rPr>
              <a:t>Evaluation dataset</a:t>
            </a:r>
            <a:r>
              <a:rPr lang="en-US" sz="2400">
                <a:solidFill>
                  <a:srgbClr val="000000"/>
                </a:solidFill>
                <a:latin typeface="Garet Light"/>
                <a:ea typeface="Garet Light"/>
                <a:cs typeface="Garet Light"/>
                <a:sym typeface="Garet Light"/>
              </a:rPr>
              <a:t>: The evaluation dataset contains 100 Vietnamese songs with each song having 3 labels which are the highlights of that song. The dataset is collected manually and the labels are the start time and end time of the 15s length of the featured music. Labels assigned based on Facebook Music Highlights</a:t>
            </a:r>
          </a:p>
        </p:txBody>
      </p:sp>
      <p:sp>
        <p:nvSpPr>
          <p:cNvPr name="TextBox 13" id="13"/>
          <p:cNvSpPr txBox="true"/>
          <p:nvPr/>
        </p:nvSpPr>
        <p:spPr>
          <a:xfrm rot="0">
            <a:off x="908285" y="3954326"/>
            <a:ext cx="3246197" cy="1653540"/>
          </a:xfrm>
          <a:prstGeom prst="rect">
            <a:avLst/>
          </a:prstGeom>
        </p:spPr>
        <p:txBody>
          <a:bodyPr anchor="t" rtlCol="false" tIns="0" lIns="0" bIns="0" rIns="0">
            <a:spAutoFit/>
          </a:bodyPr>
          <a:lstStyle/>
          <a:p>
            <a:pPr algn="just">
              <a:lnSpc>
                <a:spcPts val="3359"/>
              </a:lnSpc>
            </a:pPr>
            <a:r>
              <a:rPr lang="en-US" sz="2400" b="true">
                <a:solidFill>
                  <a:srgbClr val="000000"/>
                </a:solidFill>
                <a:latin typeface="Garet Bold"/>
                <a:ea typeface="Garet Bold"/>
                <a:cs typeface="Garet Bold"/>
                <a:sym typeface="Garet Bold"/>
              </a:rPr>
              <a:t>Evaluation method</a:t>
            </a:r>
            <a:r>
              <a:rPr lang="en-US" sz="2400">
                <a:solidFill>
                  <a:srgbClr val="000000"/>
                </a:solidFill>
                <a:latin typeface="Garet Light"/>
                <a:ea typeface="Garet Light"/>
                <a:cs typeface="Garet Light"/>
                <a:sym typeface="Garet Light"/>
              </a:rPr>
              <a:t>: </a:t>
            </a:r>
          </a:p>
          <a:p>
            <a:pPr algn="just">
              <a:lnSpc>
                <a:spcPts val="3359"/>
              </a:lnSpc>
            </a:pPr>
          </a:p>
          <a:p>
            <a:pPr algn="just">
              <a:lnSpc>
                <a:spcPts val="3359"/>
              </a:lnSpc>
            </a:pPr>
          </a:p>
          <a:p>
            <a:pPr algn="just">
              <a:lnSpc>
                <a:spcPts val="3359"/>
              </a:lnSpc>
              <a:spcBef>
                <a:spcPct val="0"/>
              </a:spcBef>
            </a:pPr>
          </a:p>
        </p:txBody>
      </p:sp>
      <p:sp>
        <p:nvSpPr>
          <p:cNvPr name="TextBox 14" id="14"/>
          <p:cNvSpPr txBox="true"/>
          <p:nvPr/>
        </p:nvSpPr>
        <p:spPr>
          <a:xfrm rot="0">
            <a:off x="899524" y="5324574"/>
            <a:ext cx="3246197" cy="1653540"/>
          </a:xfrm>
          <a:prstGeom prst="rect">
            <a:avLst/>
          </a:prstGeom>
        </p:spPr>
        <p:txBody>
          <a:bodyPr anchor="t" rtlCol="false" tIns="0" lIns="0" bIns="0" rIns="0">
            <a:spAutoFit/>
          </a:bodyPr>
          <a:lstStyle/>
          <a:p>
            <a:pPr algn="just">
              <a:lnSpc>
                <a:spcPts val="3359"/>
              </a:lnSpc>
            </a:pPr>
            <a:r>
              <a:rPr lang="en-US" sz="2400" b="true">
                <a:solidFill>
                  <a:srgbClr val="000000"/>
                </a:solidFill>
                <a:latin typeface="Garet Bold"/>
                <a:ea typeface="Garet Bold"/>
                <a:cs typeface="Garet Bold"/>
                <a:sym typeface="Garet Bold"/>
              </a:rPr>
              <a:t>Evaluation result</a:t>
            </a:r>
            <a:r>
              <a:rPr lang="en-US" sz="2400">
                <a:solidFill>
                  <a:srgbClr val="000000"/>
                </a:solidFill>
                <a:latin typeface="Garet Light"/>
                <a:ea typeface="Garet Light"/>
                <a:cs typeface="Garet Light"/>
                <a:sym typeface="Garet Light"/>
              </a:rPr>
              <a:t>: </a:t>
            </a:r>
          </a:p>
          <a:p>
            <a:pPr algn="just">
              <a:lnSpc>
                <a:spcPts val="3359"/>
              </a:lnSpc>
            </a:pPr>
          </a:p>
          <a:p>
            <a:pPr algn="just">
              <a:lnSpc>
                <a:spcPts val="3359"/>
              </a:lnSpc>
            </a:pPr>
          </a:p>
          <a:p>
            <a:pPr algn="just">
              <a:lnSpc>
                <a:spcPts val="3359"/>
              </a:lnSpc>
              <a:spcBef>
                <a:spcPct val="0"/>
              </a:spcBef>
            </a:pPr>
          </a:p>
        </p:txBody>
      </p:sp>
      <p:sp>
        <p:nvSpPr>
          <p:cNvPr name="Freeform 15" id="15"/>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6"/>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7827351" y="2283995"/>
            <a:ext cx="2633297" cy="1312163"/>
          </a:xfrm>
          <a:custGeom>
            <a:avLst/>
            <a:gdLst/>
            <a:ahLst/>
            <a:cxnLst/>
            <a:rect r="r" b="b" t="t" l="l"/>
            <a:pathLst>
              <a:path h="1312163" w="2633297">
                <a:moveTo>
                  <a:pt x="0" y="0"/>
                </a:moveTo>
                <a:lnTo>
                  <a:pt x="2633298" y="0"/>
                </a:lnTo>
                <a:lnTo>
                  <a:pt x="2633298" y="1312163"/>
                </a:lnTo>
                <a:lnTo>
                  <a:pt x="0" y="13121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686387" y="-607424"/>
            <a:ext cx="3709695" cy="1015735"/>
            <a:chOff x="0" y="0"/>
            <a:chExt cx="977039" cy="267519"/>
          </a:xfrm>
        </p:grpSpPr>
        <p:sp>
          <p:nvSpPr>
            <p:cNvPr name="Freeform 5" id="5"/>
            <p:cNvSpPr/>
            <p:nvPr/>
          </p:nvSpPr>
          <p:spPr>
            <a:xfrm flipH="false" flipV="false" rot="0">
              <a:off x="0" y="0"/>
              <a:ext cx="977039" cy="267519"/>
            </a:xfrm>
            <a:custGeom>
              <a:avLst/>
              <a:gdLst/>
              <a:ahLst/>
              <a:cxnLst/>
              <a:rect r="r" b="b" t="t" l="l"/>
              <a:pathLst>
                <a:path h="267519" w="977039">
                  <a:moveTo>
                    <a:pt x="0" y="0"/>
                  </a:moveTo>
                  <a:lnTo>
                    <a:pt x="977039" y="0"/>
                  </a:lnTo>
                  <a:lnTo>
                    <a:pt x="977039" y="267519"/>
                  </a:lnTo>
                  <a:lnTo>
                    <a:pt x="0" y="267519"/>
                  </a:lnTo>
                  <a:close/>
                </a:path>
              </a:pathLst>
            </a:custGeom>
            <a:solidFill>
              <a:srgbClr val="9F9F9F"/>
            </a:solidFill>
          </p:spPr>
        </p:sp>
        <p:sp>
          <p:nvSpPr>
            <p:cNvPr name="TextBox 6" id="6"/>
            <p:cNvSpPr txBox="true"/>
            <p:nvPr/>
          </p:nvSpPr>
          <p:spPr>
            <a:xfrm>
              <a:off x="0" y="-38100"/>
              <a:ext cx="977039" cy="305619"/>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1988599" y="7022439"/>
            <a:ext cx="738450" cy="1015735"/>
            <a:chOff x="0" y="0"/>
            <a:chExt cx="194489" cy="267519"/>
          </a:xfrm>
        </p:grpSpPr>
        <p:sp>
          <p:nvSpPr>
            <p:cNvPr name="Freeform 8" id="8"/>
            <p:cNvSpPr/>
            <p:nvPr/>
          </p:nvSpPr>
          <p:spPr>
            <a:xfrm flipH="false" flipV="false" rot="0">
              <a:off x="0" y="0"/>
              <a:ext cx="194489" cy="267519"/>
            </a:xfrm>
            <a:custGeom>
              <a:avLst/>
              <a:gdLst/>
              <a:ahLst/>
              <a:cxnLst/>
              <a:rect r="r" b="b" t="t" l="l"/>
              <a:pathLst>
                <a:path h="267519" w="194489">
                  <a:moveTo>
                    <a:pt x="0" y="0"/>
                  </a:moveTo>
                  <a:lnTo>
                    <a:pt x="194489" y="0"/>
                  </a:lnTo>
                  <a:lnTo>
                    <a:pt x="194489" y="267519"/>
                  </a:lnTo>
                  <a:lnTo>
                    <a:pt x="0" y="267519"/>
                  </a:lnTo>
                  <a:close/>
                </a:path>
              </a:pathLst>
            </a:custGeom>
            <a:solidFill>
              <a:srgbClr val="9F9F9F"/>
            </a:solidFill>
          </p:spPr>
        </p:sp>
        <p:sp>
          <p:nvSpPr>
            <p:cNvPr name="TextBox 9" id="9"/>
            <p:cNvSpPr txBox="true"/>
            <p:nvPr/>
          </p:nvSpPr>
          <p:spPr>
            <a:xfrm>
              <a:off x="0" y="-38100"/>
              <a:ext cx="194489" cy="305619"/>
            </a:xfrm>
            <a:prstGeom prst="rect">
              <a:avLst/>
            </a:prstGeom>
          </p:spPr>
          <p:txBody>
            <a:bodyPr anchor="ctr" rtlCol="false" tIns="50800" lIns="50800" bIns="50800" rIns="50800"/>
            <a:lstStyle/>
            <a:p>
              <a:pPr algn="ctr">
                <a:lnSpc>
                  <a:spcPts val="3359"/>
                </a:lnSpc>
              </a:pPr>
            </a:p>
          </p:txBody>
        </p:sp>
      </p:grpSp>
      <p:sp>
        <p:nvSpPr>
          <p:cNvPr name="TextBox 10" id="10"/>
          <p:cNvSpPr txBox="true"/>
          <p:nvPr/>
        </p:nvSpPr>
        <p:spPr>
          <a:xfrm rot="0">
            <a:off x="1028700" y="4053358"/>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Conclusion</a:t>
            </a:r>
          </a:p>
        </p:txBody>
      </p:sp>
      <p:sp>
        <p:nvSpPr>
          <p:cNvPr name="Freeform 11" id="11"/>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3E3E3"/>
        </a:solidFill>
      </p:bgPr>
    </p:bg>
    <p:spTree>
      <p:nvGrpSpPr>
        <p:cNvPr id="1" name=""/>
        <p:cNvGrpSpPr/>
        <p:nvPr/>
      </p:nvGrpSpPr>
      <p:grpSpPr>
        <a:xfrm>
          <a:off x="0" y="0"/>
          <a:ext cx="0" cy="0"/>
          <a:chOff x="0" y="0"/>
          <a:chExt cx="0" cy="0"/>
        </a:xfrm>
      </p:grpSpPr>
      <p:grpSp>
        <p:nvGrpSpPr>
          <p:cNvPr name="Group 2" id="2"/>
          <p:cNvGrpSpPr/>
          <p:nvPr/>
        </p:nvGrpSpPr>
        <p:grpSpPr>
          <a:xfrm rot="0">
            <a:off x="-608531" y="514350"/>
            <a:ext cx="1192202" cy="9258300"/>
            <a:chOff x="0" y="0"/>
            <a:chExt cx="313995" cy="2438400"/>
          </a:xfrm>
        </p:grpSpPr>
        <p:sp>
          <p:nvSpPr>
            <p:cNvPr name="Freeform 3" id="3"/>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4" id="4"/>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704329" y="514350"/>
            <a:ext cx="1192202" cy="9258300"/>
            <a:chOff x="0" y="0"/>
            <a:chExt cx="313995" cy="2438400"/>
          </a:xfrm>
        </p:grpSpPr>
        <p:sp>
          <p:nvSpPr>
            <p:cNvPr name="Freeform 6" id="6"/>
            <p:cNvSpPr/>
            <p:nvPr/>
          </p:nvSpPr>
          <p:spPr>
            <a:xfrm flipH="false" flipV="false" rot="0">
              <a:off x="0" y="0"/>
              <a:ext cx="313995" cy="2438400"/>
            </a:xfrm>
            <a:custGeom>
              <a:avLst/>
              <a:gdLst/>
              <a:ahLst/>
              <a:cxnLst/>
              <a:rect r="r" b="b" t="t" l="l"/>
              <a:pathLst>
                <a:path h="2438400" w="313995">
                  <a:moveTo>
                    <a:pt x="0" y="0"/>
                  </a:moveTo>
                  <a:lnTo>
                    <a:pt x="313995" y="0"/>
                  </a:lnTo>
                  <a:lnTo>
                    <a:pt x="313995" y="2438400"/>
                  </a:lnTo>
                  <a:lnTo>
                    <a:pt x="0" y="2438400"/>
                  </a:lnTo>
                  <a:close/>
                </a:path>
              </a:pathLst>
            </a:custGeom>
            <a:solidFill>
              <a:srgbClr val="9F9F9F"/>
            </a:solidFill>
          </p:spPr>
        </p:sp>
        <p:sp>
          <p:nvSpPr>
            <p:cNvPr name="TextBox 7" id="7"/>
            <p:cNvSpPr txBox="true"/>
            <p:nvPr/>
          </p:nvSpPr>
          <p:spPr>
            <a:xfrm>
              <a:off x="0" y="-38100"/>
              <a:ext cx="313995" cy="247650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1586241" y="6096288"/>
            <a:ext cx="6701759" cy="6324024"/>
          </a:xfrm>
          <a:custGeom>
            <a:avLst/>
            <a:gdLst/>
            <a:ahLst/>
            <a:cxnLst/>
            <a:rect r="r" b="b" t="t" l="l"/>
            <a:pathLst>
              <a:path h="6324024" w="6701759">
                <a:moveTo>
                  <a:pt x="0" y="0"/>
                </a:moveTo>
                <a:lnTo>
                  <a:pt x="6701759" y="0"/>
                </a:lnTo>
                <a:lnTo>
                  <a:pt x="6701759" y="6324024"/>
                </a:lnTo>
                <a:lnTo>
                  <a:pt x="0" y="63240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808793" y="1796415"/>
            <a:ext cx="14670414" cy="6646545"/>
          </a:xfrm>
          <a:prstGeom prst="rect">
            <a:avLst/>
          </a:prstGeom>
        </p:spPr>
        <p:txBody>
          <a:bodyPr anchor="t" rtlCol="false" tIns="0" lIns="0" bIns="0" rIns="0">
            <a:spAutoFit/>
          </a:bodyPr>
          <a:lstStyle/>
          <a:p>
            <a:pPr algn="just">
              <a:lnSpc>
                <a:spcPts val="3779"/>
              </a:lnSpc>
            </a:pPr>
            <a:r>
              <a:rPr lang="en-US" sz="2699" b="true">
                <a:solidFill>
                  <a:srgbClr val="000000"/>
                </a:solidFill>
                <a:latin typeface="Garet Bold"/>
                <a:ea typeface="Garet Bold"/>
                <a:cs typeface="Garet Bold"/>
                <a:sym typeface="Garet Bold"/>
              </a:rPr>
              <a:t>Conclusion</a:t>
            </a:r>
          </a:p>
          <a:p>
            <a:pPr algn="just" marL="582928" indent="-291464" lvl="1">
              <a:lnSpc>
                <a:spcPts val="3779"/>
              </a:lnSpc>
              <a:buFont typeface="Arial"/>
              <a:buChar char="•"/>
            </a:pPr>
            <a:r>
              <a:rPr lang="en-US" sz="2699" i="true">
                <a:solidFill>
                  <a:srgbClr val="000000"/>
                </a:solidFill>
                <a:latin typeface="Garet Italics"/>
                <a:ea typeface="Garet Italics"/>
                <a:cs typeface="Garet Italics"/>
                <a:sym typeface="Garet Italics"/>
              </a:rPr>
              <a:t>Developed a deep learning-based approach using music emotion classification to extract song highlights</a:t>
            </a:r>
          </a:p>
          <a:p>
            <a:pPr algn="just" marL="582928" indent="-291464" lvl="1">
              <a:lnSpc>
                <a:spcPts val="3779"/>
              </a:lnSpc>
              <a:buFont typeface="Arial"/>
              <a:buChar char="•"/>
            </a:pPr>
            <a:r>
              <a:rPr lang="en-US" sz="2699" i="true">
                <a:solidFill>
                  <a:srgbClr val="000000"/>
                </a:solidFill>
                <a:latin typeface="Garet Italics"/>
                <a:ea typeface="Garet Italics"/>
                <a:cs typeface="Garet Italics"/>
                <a:sym typeface="Garet Italics"/>
              </a:rPr>
              <a:t>The model significantly outperforms traditional methods</a:t>
            </a:r>
          </a:p>
          <a:p>
            <a:pPr algn="just" marL="582928" indent="-291464" lvl="1">
              <a:lnSpc>
                <a:spcPts val="3779"/>
              </a:lnSpc>
              <a:buFont typeface="Arial"/>
              <a:buChar char="•"/>
            </a:pPr>
            <a:r>
              <a:rPr lang="en-US" sz="2699" i="true">
                <a:solidFill>
                  <a:srgbClr val="000000"/>
                </a:solidFill>
                <a:latin typeface="Garet Italics"/>
                <a:ea typeface="Garet Italics"/>
                <a:cs typeface="Garet Italics"/>
                <a:sym typeface="Garet Italics"/>
              </a:rPr>
              <a:t>Created a Proof of Concept (PoC) Android app to showcase the model</a:t>
            </a:r>
          </a:p>
          <a:p>
            <a:pPr algn="just">
              <a:lnSpc>
                <a:spcPts val="3779"/>
              </a:lnSpc>
            </a:pPr>
            <a:r>
              <a:rPr lang="en-US" sz="2699" b="true">
                <a:solidFill>
                  <a:srgbClr val="000000"/>
                </a:solidFill>
                <a:latin typeface="Garet Bold"/>
                <a:ea typeface="Garet Bold"/>
                <a:cs typeface="Garet Bold"/>
                <a:sym typeface="Garet Bold"/>
              </a:rPr>
              <a:t>Challenges</a:t>
            </a:r>
          </a:p>
          <a:p>
            <a:pPr algn="just" marL="582928" indent="-291464" lvl="1">
              <a:lnSpc>
                <a:spcPts val="3779"/>
              </a:lnSpc>
              <a:buFont typeface="Arial"/>
              <a:buChar char="•"/>
            </a:pPr>
            <a:r>
              <a:rPr lang="en-US" sz="2699">
                <a:solidFill>
                  <a:srgbClr val="000000"/>
                </a:solidFill>
                <a:latin typeface="Garet"/>
                <a:ea typeface="Garet"/>
                <a:cs typeface="Garet"/>
                <a:sym typeface="Garet"/>
              </a:rPr>
              <a:t>No official datasets available.</a:t>
            </a:r>
          </a:p>
          <a:p>
            <a:pPr algn="just" marL="582928" indent="-291464" lvl="1">
              <a:lnSpc>
                <a:spcPts val="3779"/>
              </a:lnSpc>
              <a:buFont typeface="Arial"/>
              <a:buChar char="•"/>
            </a:pPr>
            <a:r>
              <a:rPr lang="en-US" sz="2699">
                <a:solidFill>
                  <a:srgbClr val="000000"/>
                </a:solidFill>
                <a:latin typeface="Garet"/>
                <a:ea typeface="Garet"/>
                <a:cs typeface="Garet"/>
                <a:sym typeface="Garet"/>
              </a:rPr>
              <a:t>Time constraints hindered the creation of a complete and accurate training and evaluation dataset.</a:t>
            </a:r>
          </a:p>
          <a:p>
            <a:pPr algn="just" marL="582928" indent="-291464" lvl="1">
              <a:lnSpc>
                <a:spcPts val="3779"/>
              </a:lnSpc>
              <a:buFont typeface="Arial"/>
              <a:buChar char="•"/>
            </a:pPr>
            <a:r>
              <a:rPr lang="en-US" sz="2699">
                <a:solidFill>
                  <a:srgbClr val="000000"/>
                </a:solidFill>
                <a:latin typeface="Garet"/>
                <a:ea typeface="Garet"/>
                <a:cs typeface="Garet"/>
                <a:sym typeface="Garet"/>
              </a:rPr>
              <a:t>Lack of a precise method for evaluating song highlights.</a:t>
            </a:r>
          </a:p>
          <a:p>
            <a:pPr algn="just">
              <a:lnSpc>
                <a:spcPts val="3779"/>
              </a:lnSpc>
              <a:spcBef>
                <a:spcPct val="0"/>
              </a:spcBef>
            </a:pPr>
            <a:r>
              <a:rPr lang="en-US" b="true" sz="2699">
                <a:solidFill>
                  <a:srgbClr val="000000"/>
                </a:solidFill>
                <a:latin typeface="Garet Bold"/>
                <a:ea typeface="Garet Bold"/>
                <a:cs typeface="Garet Bold"/>
                <a:sym typeface="Garet Bold"/>
              </a:rPr>
              <a:t>Future direction</a:t>
            </a:r>
          </a:p>
          <a:p>
            <a:pPr algn="just" marL="582928" indent="-291464" lvl="1">
              <a:lnSpc>
                <a:spcPts val="3779"/>
              </a:lnSpc>
              <a:spcBef>
                <a:spcPct val="0"/>
              </a:spcBef>
              <a:buFont typeface="Arial"/>
              <a:buChar char="•"/>
            </a:pPr>
            <a:r>
              <a:rPr lang="en-US" sz="2699">
                <a:solidFill>
                  <a:srgbClr val="000000"/>
                </a:solidFill>
                <a:latin typeface="Garet"/>
                <a:ea typeface="Garet"/>
                <a:cs typeface="Garet"/>
                <a:sym typeface="Garet"/>
              </a:rPr>
              <a:t>Collect a high-quality labeled dataset through listener feedback.</a:t>
            </a:r>
          </a:p>
          <a:p>
            <a:pPr algn="just" marL="582928" indent="-291464" lvl="1">
              <a:lnSpc>
                <a:spcPts val="3779"/>
              </a:lnSpc>
              <a:spcBef>
                <a:spcPct val="0"/>
              </a:spcBef>
              <a:buFont typeface="Arial"/>
              <a:buChar char="•"/>
            </a:pPr>
            <a:r>
              <a:rPr lang="en-US" sz="2699">
                <a:solidFill>
                  <a:srgbClr val="000000"/>
                </a:solidFill>
                <a:latin typeface="Garet"/>
                <a:ea typeface="Garet"/>
                <a:cs typeface="Garet"/>
                <a:sym typeface="Garet"/>
              </a:rPr>
              <a:t>Enhance model accuracy by refining the training data and evaluation methods.</a:t>
            </a:r>
          </a:p>
          <a:p>
            <a:pPr algn="just" marL="582928" indent="-291464" lvl="1">
              <a:lnSpc>
                <a:spcPts val="3779"/>
              </a:lnSpc>
              <a:spcBef>
                <a:spcPct val="0"/>
              </a:spcBef>
              <a:buFont typeface="Arial"/>
              <a:buChar char="•"/>
            </a:pPr>
            <a:r>
              <a:rPr lang="en-US" sz="2699">
                <a:solidFill>
                  <a:srgbClr val="000000"/>
                </a:solidFill>
                <a:latin typeface="Garet"/>
                <a:ea typeface="Garet"/>
                <a:cs typeface="Garet"/>
                <a:sym typeface="Garet"/>
              </a:rPr>
              <a:t>Explore and research additional approaches for further improvement.</a:t>
            </a:r>
          </a:p>
        </p:txBody>
      </p:sp>
      <p:sp>
        <p:nvSpPr>
          <p:cNvPr name="Freeform 10" id="10"/>
          <p:cNvSpPr/>
          <p:nvPr/>
        </p:nvSpPr>
        <p:spPr>
          <a:xfrm flipH="false" flipV="false" rot="0">
            <a:off x="1028700" y="383874"/>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7827351" y="2283995"/>
            <a:ext cx="2633297" cy="1312163"/>
          </a:xfrm>
          <a:custGeom>
            <a:avLst/>
            <a:gdLst/>
            <a:ahLst/>
            <a:cxnLst/>
            <a:rect r="r" b="b" t="t" l="l"/>
            <a:pathLst>
              <a:path h="1312163" w="2633297">
                <a:moveTo>
                  <a:pt x="0" y="0"/>
                </a:moveTo>
                <a:lnTo>
                  <a:pt x="2633298" y="0"/>
                </a:lnTo>
                <a:lnTo>
                  <a:pt x="2633298" y="1312163"/>
                </a:lnTo>
                <a:lnTo>
                  <a:pt x="0" y="13121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686387" y="-607424"/>
            <a:ext cx="3709695" cy="1015735"/>
            <a:chOff x="0" y="0"/>
            <a:chExt cx="977039" cy="267519"/>
          </a:xfrm>
        </p:grpSpPr>
        <p:sp>
          <p:nvSpPr>
            <p:cNvPr name="Freeform 5" id="5"/>
            <p:cNvSpPr/>
            <p:nvPr/>
          </p:nvSpPr>
          <p:spPr>
            <a:xfrm flipH="false" flipV="false" rot="0">
              <a:off x="0" y="0"/>
              <a:ext cx="977039" cy="267519"/>
            </a:xfrm>
            <a:custGeom>
              <a:avLst/>
              <a:gdLst/>
              <a:ahLst/>
              <a:cxnLst/>
              <a:rect r="r" b="b" t="t" l="l"/>
              <a:pathLst>
                <a:path h="267519" w="977039">
                  <a:moveTo>
                    <a:pt x="0" y="0"/>
                  </a:moveTo>
                  <a:lnTo>
                    <a:pt x="977039" y="0"/>
                  </a:lnTo>
                  <a:lnTo>
                    <a:pt x="977039" y="267519"/>
                  </a:lnTo>
                  <a:lnTo>
                    <a:pt x="0" y="267519"/>
                  </a:lnTo>
                  <a:close/>
                </a:path>
              </a:pathLst>
            </a:custGeom>
            <a:solidFill>
              <a:srgbClr val="9F9F9F"/>
            </a:solidFill>
          </p:spPr>
        </p:sp>
        <p:sp>
          <p:nvSpPr>
            <p:cNvPr name="TextBox 6" id="6"/>
            <p:cNvSpPr txBox="true"/>
            <p:nvPr/>
          </p:nvSpPr>
          <p:spPr>
            <a:xfrm>
              <a:off x="0" y="-38100"/>
              <a:ext cx="977039" cy="305619"/>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1988599" y="7022439"/>
            <a:ext cx="738450" cy="1015735"/>
            <a:chOff x="0" y="0"/>
            <a:chExt cx="194489" cy="267519"/>
          </a:xfrm>
        </p:grpSpPr>
        <p:sp>
          <p:nvSpPr>
            <p:cNvPr name="Freeform 8" id="8"/>
            <p:cNvSpPr/>
            <p:nvPr/>
          </p:nvSpPr>
          <p:spPr>
            <a:xfrm flipH="false" flipV="false" rot="0">
              <a:off x="0" y="0"/>
              <a:ext cx="194489" cy="267519"/>
            </a:xfrm>
            <a:custGeom>
              <a:avLst/>
              <a:gdLst/>
              <a:ahLst/>
              <a:cxnLst/>
              <a:rect r="r" b="b" t="t" l="l"/>
              <a:pathLst>
                <a:path h="267519" w="194489">
                  <a:moveTo>
                    <a:pt x="0" y="0"/>
                  </a:moveTo>
                  <a:lnTo>
                    <a:pt x="194489" y="0"/>
                  </a:lnTo>
                  <a:lnTo>
                    <a:pt x="194489" y="267519"/>
                  </a:lnTo>
                  <a:lnTo>
                    <a:pt x="0" y="267519"/>
                  </a:lnTo>
                  <a:close/>
                </a:path>
              </a:pathLst>
            </a:custGeom>
            <a:solidFill>
              <a:srgbClr val="9F9F9F"/>
            </a:solidFill>
          </p:spPr>
        </p:sp>
        <p:sp>
          <p:nvSpPr>
            <p:cNvPr name="TextBox 9" id="9"/>
            <p:cNvSpPr txBox="true"/>
            <p:nvPr/>
          </p:nvSpPr>
          <p:spPr>
            <a:xfrm>
              <a:off x="0" y="-38100"/>
              <a:ext cx="194489" cy="305619"/>
            </a:xfrm>
            <a:prstGeom prst="rect">
              <a:avLst/>
            </a:prstGeom>
          </p:spPr>
          <p:txBody>
            <a:bodyPr anchor="ctr" rtlCol="false" tIns="50800" lIns="50800" bIns="50800" rIns="50800"/>
            <a:lstStyle/>
            <a:p>
              <a:pPr algn="ctr">
                <a:lnSpc>
                  <a:spcPts val="3359"/>
                </a:lnSpc>
              </a:pPr>
            </a:p>
          </p:txBody>
        </p:sp>
      </p:grpSp>
      <p:sp>
        <p:nvSpPr>
          <p:cNvPr name="TextBox 10" id="10"/>
          <p:cNvSpPr txBox="true"/>
          <p:nvPr/>
        </p:nvSpPr>
        <p:spPr>
          <a:xfrm rot="0">
            <a:off x="1028700" y="4053358"/>
            <a:ext cx="16230600" cy="1385291"/>
          </a:xfrm>
          <a:prstGeom prst="rect">
            <a:avLst/>
          </a:prstGeom>
        </p:spPr>
        <p:txBody>
          <a:bodyPr anchor="t" rtlCol="false" tIns="0" lIns="0" bIns="0" rIns="0">
            <a:spAutoFit/>
          </a:bodyPr>
          <a:lstStyle/>
          <a:p>
            <a:pPr algn="ctr">
              <a:lnSpc>
                <a:spcPts val="11320"/>
              </a:lnSpc>
            </a:pPr>
            <a:r>
              <a:rPr lang="en-US" sz="8085">
                <a:solidFill>
                  <a:srgbClr val="000000"/>
                </a:solidFill>
                <a:latin typeface="Tomorrow"/>
                <a:ea typeface="Tomorrow"/>
                <a:cs typeface="Tomorrow"/>
                <a:sym typeface="Tomorrow"/>
              </a:rPr>
              <a:t>Demo</a:t>
            </a:r>
          </a:p>
        </p:txBody>
      </p:sp>
      <p:sp>
        <p:nvSpPr>
          <p:cNvPr name="Freeform 11" id="11"/>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5"/>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86387" y="-607424"/>
            <a:ext cx="3709695" cy="1015735"/>
            <a:chOff x="0" y="0"/>
            <a:chExt cx="977039" cy="267519"/>
          </a:xfrm>
        </p:grpSpPr>
        <p:sp>
          <p:nvSpPr>
            <p:cNvPr name="Freeform 4" id="4"/>
            <p:cNvSpPr/>
            <p:nvPr/>
          </p:nvSpPr>
          <p:spPr>
            <a:xfrm flipH="false" flipV="false" rot="0">
              <a:off x="0" y="0"/>
              <a:ext cx="977039" cy="267519"/>
            </a:xfrm>
            <a:custGeom>
              <a:avLst/>
              <a:gdLst/>
              <a:ahLst/>
              <a:cxnLst/>
              <a:rect r="r" b="b" t="t" l="l"/>
              <a:pathLst>
                <a:path h="267519" w="977039">
                  <a:moveTo>
                    <a:pt x="0" y="0"/>
                  </a:moveTo>
                  <a:lnTo>
                    <a:pt x="977039" y="0"/>
                  </a:lnTo>
                  <a:lnTo>
                    <a:pt x="977039" y="267519"/>
                  </a:lnTo>
                  <a:lnTo>
                    <a:pt x="0" y="267519"/>
                  </a:lnTo>
                  <a:close/>
                </a:path>
              </a:pathLst>
            </a:custGeom>
            <a:solidFill>
              <a:srgbClr val="9F9F9F"/>
            </a:solidFill>
          </p:spPr>
        </p:sp>
        <p:sp>
          <p:nvSpPr>
            <p:cNvPr name="TextBox 5" id="5"/>
            <p:cNvSpPr txBox="true"/>
            <p:nvPr/>
          </p:nvSpPr>
          <p:spPr>
            <a:xfrm>
              <a:off x="0" y="-38100"/>
              <a:ext cx="977039" cy="305619"/>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3"/>
            <a:stretch>
              <a:fillRect l="0" t="0" r="0" b="0"/>
            </a:stretch>
          </a:blipFill>
        </p:spPr>
      </p:sp>
      <p:sp>
        <p:nvSpPr>
          <p:cNvPr name="Freeform 7" id="7"/>
          <p:cNvSpPr/>
          <p:nvPr/>
        </p:nvSpPr>
        <p:spPr>
          <a:xfrm flipH="false" flipV="false" rot="0">
            <a:off x="3393240" y="1229741"/>
            <a:ext cx="3522383" cy="7827517"/>
          </a:xfrm>
          <a:custGeom>
            <a:avLst/>
            <a:gdLst/>
            <a:ahLst/>
            <a:cxnLst/>
            <a:rect r="r" b="b" t="t" l="l"/>
            <a:pathLst>
              <a:path h="7827517" w="3522383">
                <a:moveTo>
                  <a:pt x="0" y="0"/>
                </a:moveTo>
                <a:lnTo>
                  <a:pt x="3522383" y="0"/>
                </a:lnTo>
                <a:lnTo>
                  <a:pt x="3522383" y="7827518"/>
                </a:lnTo>
                <a:lnTo>
                  <a:pt x="0" y="7827518"/>
                </a:lnTo>
                <a:lnTo>
                  <a:pt x="0" y="0"/>
                </a:lnTo>
                <a:close/>
              </a:path>
            </a:pathLst>
          </a:custGeom>
          <a:blipFill>
            <a:blip r:embed="rId4"/>
            <a:stretch>
              <a:fillRect l="0" t="0" r="0" b="0"/>
            </a:stretch>
          </a:blipFill>
        </p:spPr>
      </p:sp>
      <p:sp>
        <p:nvSpPr>
          <p:cNvPr name="Freeform 8" id="8"/>
          <p:cNvSpPr/>
          <p:nvPr/>
        </p:nvSpPr>
        <p:spPr>
          <a:xfrm flipH="false" flipV="false" rot="0">
            <a:off x="9909786" y="1229741"/>
            <a:ext cx="3522383" cy="7827517"/>
          </a:xfrm>
          <a:custGeom>
            <a:avLst/>
            <a:gdLst/>
            <a:ahLst/>
            <a:cxnLst/>
            <a:rect r="r" b="b" t="t" l="l"/>
            <a:pathLst>
              <a:path h="7827517" w="3522383">
                <a:moveTo>
                  <a:pt x="0" y="0"/>
                </a:moveTo>
                <a:lnTo>
                  <a:pt x="3522382" y="0"/>
                </a:lnTo>
                <a:lnTo>
                  <a:pt x="3522382" y="7827518"/>
                </a:lnTo>
                <a:lnTo>
                  <a:pt x="0" y="7827518"/>
                </a:lnTo>
                <a:lnTo>
                  <a:pt x="0" y="0"/>
                </a:lnTo>
                <a:close/>
              </a:path>
            </a:pathLst>
          </a:custGeom>
          <a:blipFill>
            <a:blip r:embed="rId5"/>
            <a:stretch>
              <a:fillRect l="0" t="0" r="0" b="0"/>
            </a:stretch>
          </a:blipFill>
        </p:spPr>
      </p:sp>
      <p:grpSp>
        <p:nvGrpSpPr>
          <p:cNvPr name="Group 9" id="9"/>
          <p:cNvGrpSpPr/>
          <p:nvPr/>
        </p:nvGrpSpPr>
        <p:grpSpPr>
          <a:xfrm rot="0">
            <a:off x="7688376" y="4103242"/>
            <a:ext cx="1448656" cy="144865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5CE1E6"/>
            </a:solidFill>
          </p:spPr>
        </p:sp>
        <p:sp>
          <p:nvSpPr>
            <p:cNvPr name="TextBox 11" id="11"/>
            <p:cNvSpPr txBox="true"/>
            <p:nvPr/>
          </p:nvSpPr>
          <p:spPr>
            <a:xfrm>
              <a:off x="0" y="165100"/>
              <a:ext cx="711200" cy="444500"/>
            </a:xfrm>
            <a:prstGeom prst="rect">
              <a:avLst/>
            </a:prstGeom>
          </p:spPr>
          <p:txBody>
            <a:bodyPr anchor="ctr" rtlCol="false" tIns="50800" lIns="50800" bIns="50800" rIns="50800"/>
            <a:lstStyle/>
            <a:p>
              <a:pPr algn="ctr">
                <a:lnSpc>
                  <a:spcPts val="3359"/>
                </a:lnSpc>
              </a:pPr>
            </a:p>
          </p:txBody>
        </p:sp>
      </p:grpSp>
      <p:sp>
        <p:nvSpPr>
          <p:cNvPr name="AutoShape 12" id="12"/>
          <p:cNvSpPr/>
          <p:nvPr/>
        </p:nvSpPr>
        <p:spPr>
          <a:xfrm flipH="true">
            <a:off x="12505833" y="4827570"/>
            <a:ext cx="1772035" cy="1606407"/>
          </a:xfrm>
          <a:prstGeom prst="line">
            <a:avLst/>
          </a:prstGeom>
          <a:ln cap="flat" w="190500">
            <a:solidFill>
              <a:srgbClr val="FF3131"/>
            </a:solidFill>
            <a:prstDash val="solid"/>
            <a:headEnd type="none" len="sm" w="sm"/>
            <a:tailEnd type="arrow" len="sm" w="med"/>
          </a:ln>
        </p:spPr>
      </p:sp>
      <p:sp>
        <p:nvSpPr>
          <p:cNvPr name="TextBox 13" id="13"/>
          <p:cNvSpPr txBox="true"/>
          <p:nvPr/>
        </p:nvSpPr>
        <p:spPr>
          <a:xfrm rot="0">
            <a:off x="14404309" y="4252088"/>
            <a:ext cx="2694517"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Garet Bold"/>
                <a:ea typeface="Garet Bold"/>
                <a:cs typeface="Garet Bold"/>
                <a:sym typeface="Garet Bold"/>
              </a:rPr>
              <a:t>Highlight Marker</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028700" y="4222432"/>
            <a:ext cx="16230600" cy="1651635"/>
          </a:xfrm>
          <a:prstGeom prst="rect">
            <a:avLst/>
          </a:prstGeom>
        </p:spPr>
        <p:txBody>
          <a:bodyPr anchor="t" rtlCol="false" tIns="0" lIns="0" bIns="0" rIns="0">
            <a:spAutoFit/>
          </a:bodyPr>
          <a:lstStyle/>
          <a:p>
            <a:pPr algn="ctr">
              <a:lnSpc>
                <a:spcPts val="13439"/>
              </a:lnSpc>
            </a:pPr>
            <a:r>
              <a:rPr lang="en-US" sz="9600">
                <a:solidFill>
                  <a:srgbClr val="000000"/>
                </a:solidFill>
                <a:latin typeface="Tomorrow"/>
                <a:ea typeface="Tomorrow"/>
                <a:cs typeface="Tomorrow"/>
                <a:sym typeface="Tomorrow"/>
              </a:rPr>
              <a:t>Thanks for listening</a:t>
            </a:r>
          </a:p>
        </p:txBody>
      </p:sp>
      <p:sp>
        <p:nvSpPr>
          <p:cNvPr name="Freeform 4" id="4"/>
          <p:cNvSpPr/>
          <p:nvPr/>
        </p:nvSpPr>
        <p:spPr>
          <a:xfrm flipH="false" flipV="false" rot="0">
            <a:off x="686387" y="592529"/>
            <a:ext cx="2836885" cy="436171"/>
          </a:xfrm>
          <a:custGeom>
            <a:avLst/>
            <a:gdLst/>
            <a:ahLst/>
            <a:cxnLst/>
            <a:rect r="r" b="b" t="t" l="l"/>
            <a:pathLst>
              <a:path h="436171" w="2836885">
                <a:moveTo>
                  <a:pt x="0" y="0"/>
                </a:moveTo>
                <a:lnTo>
                  <a:pt x="2836885" y="0"/>
                </a:lnTo>
                <a:lnTo>
                  <a:pt x="2836885" y="436171"/>
                </a:lnTo>
                <a:lnTo>
                  <a:pt x="0" y="436171"/>
                </a:lnTo>
                <a:lnTo>
                  <a:pt x="0" y="0"/>
                </a:lnTo>
                <a:close/>
              </a:path>
            </a:pathLst>
          </a:custGeom>
          <a:blipFill>
            <a:blip r:embed="rId3"/>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DAFyK2go-J4</dc:identifier>
  <dcterms:modified xsi:type="dcterms:W3CDTF">2011-08-01T06:04:30Z</dcterms:modified>
  <cp:revision>1</cp:revision>
  <dc:title>Thuyết trình DL</dc:title>
</cp:coreProperties>
</file>