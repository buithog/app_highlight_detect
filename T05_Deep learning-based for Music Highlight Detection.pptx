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Garet Light" charset="1" panose="00000000000000000000"/>
      <p:regular r:id="rId39"/>
    </p:embeddedFont>
    <p:embeddedFont>
      <p:font typeface="Tomorrow" charset="1" panose="00000000000000000000"/>
      <p:regular r:id="rId40"/>
    </p:embeddedFont>
    <p:embeddedFont>
      <p:font typeface="Garet Bold" charset="1" panose="00000000000000000000"/>
      <p:regular r:id="rId41"/>
    </p:embeddedFont>
    <p:embeddedFont>
      <p:font typeface="Garet" charset="1" panose="00000000000000000000"/>
      <p:regular r:id="rId43"/>
    </p:embeddedFont>
    <p:embeddedFont>
      <p:font typeface="Garet Bold Italics" charset="1" panose="00000000000000000000"/>
      <p:regular r:id="rId54"/>
    </p:embeddedFont>
    <p:embeddedFont>
      <p:font typeface="Garet Italics" charset="1" panose="00000000000000000000"/>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notesMasters/notesMaster1.xml" Type="http://schemas.openxmlformats.org/officeDocument/2006/relationships/notesMaster"/><Relationship Id="rId37" Target="theme/theme2.xml" Type="http://schemas.openxmlformats.org/officeDocument/2006/relationships/theme"/><Relationship Id="rId38" Target="notesSlides/notesSlide1.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Slides/notesSlide2.xml" Type="http://schemas.openxmlformats.org/officeDocument/2006/relationships/notesSlide"/><Relationship Id="rId43" Target="fonts/font43.fntdata" Type="http://schemas.openxmlformats.org/officeDocument/2006/relationships/font"/><Relationship Id="rId44" Target="notesSlides/notesSlide3.xml" Type="http://schemas.openxmlformats.org/officeDocument/2006/relationships/notesSlide"/><Relationship Id="rId45" Target="notesSlides/notesSlide4.xml" Type="http://schemas.openxmlformats.org/officeDocument/2006/relationships/notesSlide"/><Relationship Id="rId46" Target="notesSlides/notesSlide5.xml" Type="http://schemas.openxmlformats.org/officeDocument/2006/relationships/notesSlide"/><Relationship Id="rId47" Target="notesSlides/notesSlide6.xml" Type="http://schemas.openxmlformats.org/officeDocument/2006/relationships/notesSlide"/><Relationship Id="rId48" Target="notesSlides/notesSlide7.xml" Type="http://schemas.openxmlformats.org/officeDocument/2006/relationships/notesSlide"/><Relationship Id="rId49" Target="notesSlides/notesSlide8.xml" Type="http://schemas.openxmlformats.org/officeDocument/2006/relationships/notesSlide"/><Relationship Id="rId5" Target="tableStyles.xml" Type="http://schemas.openxmlformats.org/officeDocument/2006/relationships/tableStyles"/><Relationship Id="rId50" Target="notesSlides/notesSlide9.xml" Type="http://schemas.openxmlformats.org/officeDocument/2006/relationships/notesSlide"/><Relationship Id="rId51" Target="notesSlides/notesSlide10.xml" Type="http://schemas.openxmlformats.org/officeDocument/2006/relationships/notesSlide"/><Relationship Id="rId52" Target="notesSlides/notesSlide11.xml" Type="http://schemas.openxmlformats.org/officeDocument/2006/relationships/notesSlide"/><Relationship Id="rId53" Target="notesSlides/notesSlide12.xml" Type="http://schemas.openxmlformats.org/officeDocument/2006/relationships/notesSlide"/><Relationship Id="rId54" Target="fonts/font54.fntdata" Type="http://schemas.openxmlformats.org/officeDocument/2006/relationships/font"/><Relationship Id="rId55" Target="fonts/font55.fntdata" Type="http://schemas.openxmlformats.org/officeDocument/2006/relationships/font"/><Relationship Id="rId56" Target="notesSlides/notesSlide13.xml" Type="http://schemas.openxmlformats.org/officeDocument/2006/relationships/notesSlide"/><Relationship Id="rId57" Target="notesSlides/notesSlide14.xml" Type="http://schemas.openxmlformats.org/officeDocument/2006/relationships/notesSlide"/><Relationship Id="rId58" Target="notesSlides/notesSlide15.xml" Type="http://schemas.openxmlformats.org/officeDocument/2006/relationships/notesSlide"/><Relationship Id="rId59" Target="notesSlides/notesSlide16.xml" Type="http://schemas.openxmlformats.org/officeDocument/2006/relationships/notesSlide"/><Relationship Id="rId6" Target="slides/slide1.xml" Type="http://schemas.openxmlformats.org/officeDocument/2006/relationships/slide"/><Relationship Id="rId60" Target="notesSlides/notesSlide17.xml" Type="http://schemas.openxmlformats.org/officeDocument/2006/relationships/notesSlide"/><Relationship Id="rId61" Target="notesSlides/notesSlide18.xml" Type="http://schemas.openxmlformats.org/officeDocument/2006/relationships/notesSlide"/><Relationship Id="rId62" Target="notesSlides/notesSlide19.xml" Type="http://schemas.openxmlformats.org/officeDocument/2006/relationships/notesSlide"/><Relationship Id="rId63" Target="notesSlides/notesSlide20.xml" Type="http://schemas.openxmlformats.org/officeDocument/2006/relationships/notesSlide"/><Relationship Id="rId64" Target="notesSlides/notesSlide21.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Music highlight detection là gì ?</a:t>
            </a:r>
          </a:p>
          <a:p>
            <a:r>
              <a:rPr lang="en-US"/>
              <a:t>Music highlight detection là trích xuất một đoạn ngắn liên tiếp (đoạn nhạc nổi bật - “highlight”) của một bài hát mà nó có thể đại diện cho bài hát đó. (Nghe đoạn “highlight” là biết đó là bài hát nào) . </a:t>
            </a:r>
          </a:p>
          <a:p>
            <a:r>
              <a:rPr lang="en-US"/>
              <a:t/>
            </a:r>
          </a:p>
          <a:p>
            <a:r>
              <a:rPr lang="en-US"/>
              <a:t>Tại sao lại cần đến nó?</a:t>
            </a:r>
          </a:p>
          <a:p>
            <a:r>
              <a:rPr lang="en-US"/>
              <a:t>(Trong sự phát triển nhanh chóng của dữ liệu đa phương tiện trên Internet việc tìm kiếm và truy cập thông tin một cách hiệu quả trở nên vô cùng quan trọng, đặc biệt là trong lĩnh vực âm nhạc). Đoạn “highlight” giúp rút gọn thời gian xử lý dữ liệu âm nhạc, tăng cường trải nghiệm người dùng.</a:t>
            </a:r>
          </a:p>
          <a:p>
            <a:r>
              <a:rPr lang="en-US"/>
              <a:t>Một số ứng dụng của nó như trong việc nghe thử , Tìm kiếm ,Nội dung dạng ngắn và trong ứng dụng nhạc chuông của Samsung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Đối tượng nghiên cứu</a:t>
            </a:r>
          </a:p>
          <a:p>
            <a:r>
              <a:rPr lang="en-US"/>
              <a:t>Nghiên cứu và hiểu cách học sâu có thể được sử dụng để xử lý bài toán này</a:t>
            </a:r>
          </a:p>
          <a:p>
            <a:r>
              <a:rPr lang="en-US"/>
              <a:t/>
            </a:r>
          </a:p>
          <a:p>
            <a:r>
              <a:rPr lang="en-US"/>
              <a:t/>
            </a:r>
          </a:p>
          <a:p>
            <a:r>
              <a:rPr lang="en-US"/>
              <a:t>Kết quả mong muốn</a:t>
            </a:r>
          </a:p>
          <a:p>
            <a:r>
              <a:rPr lang="en-US"/>
              <a:t>Xây dựng ứng dụng Android để trích xuất các đoạn nổi bật từ tệp âm thanh đã chọn</a:t>
            </a:r>
          </a:p>
          <a:p>
            <a:r>
              <a:rPr lang="en-US"/>
              <a:t>Tạo tập dữ liệu thử nghiệm để đánh giá mô hình</a:t>
            </a:r>
          </a:p>
          <a:p>
            <a:r>
              <a:rPr lang="en-US"/>
              <a:t>Điều tra và khám phá kiến ​​trúc mô hình cho vấn đề</a:t>
            </a:r>
          </a:p>
          <a:p>
            <a:r>
              <a:rPr lang="en-US"/>
              <a:t>So sánh mô hình đã phát triển với các kỹ thuật khác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Vấn đề</a:t>
            </a:r>
          </a:p>
          <a:p>
            <a:r>
              <a:rPr lang="en-US"/>
              <a:t>Không có tập dữ liệu công khai nào về các điểm nổi bật của bài hát được gắn nhãn để nghiên cứu.</a:t>
            </a:r>
          </a:p>
          <a:p>
            <a:r>
              <a:rPr lang="en-US"/>
              <a:t>Các phương pháp trước đây chủ yếu tập trung vào năng lượng và điệp khúc làm điểm nổi bật Tuy nhiên cái cách tiếp cận bằng năng lượng vẫn có một vài nhược điểm ví dụ như đoạn có năng lượng lớn nhất chỉ phù hợp với một số thể loại như EDM và Rock vì cách thể loại có các đặc trưng về năng lượng rõ ràng.</a:t>
            </a:r>
          </a:p>
          <a:p>
            <a:r>
              <a:rPr lang="en-US"/>
              <a:t>Giả định</a:t>
            </a:r>
          </a:p>
          <a:p>
            <a:r>
              <a:rPr lang="en-US"/>
              <a:t>Điểm nổi bật của bài hát có liên quan chặt chẽ đến tác động cảm xúc của âm nhạc.</a:t>
            </a:r>
          </a:p>
          <a:p>
            <a:r>
              <a:rPr lang="en-US"/>
              <a:t>Vì thường những đoạn có đóng góp lớn trong việc quyết định cảm xúc của cả bài hát có khả năng cao là highlight của cả bài.</a:t>
            </a:r>
          </a:p>
          <a:p>
            <a:r>
              <a:rPr lang="en-US"/>
              <a:t>Ý tưởng</a:t>
            </a:r>
          </a:p>
          <a:p>
            <a:r>
              <a:rPr lang="en-US"/>
              <a:t>Đào tạo mô hình phân loại cảm xúc âm nhạc với một lớp bổ sung để xác định các phần chính của bài 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Đây là sơ đồ tổng quát của mô hình dự đoán cảm xúc.</a:t>
            </a:r>
          </a:p>
          <a:p>
            <a:r>
              <a:rPr lang="en-US"/>
              <a:t>Ở đây chúng ta có một vài lớp được sử dụng như:</a:t>
            </a:r>
          </a:p>
          <a:p>
            <a:r>
              <a:rPr lang="en-US"/>
              <a:t>lớp convolution layer là lớp tích chập nhận input đầu vào của mô hình để trích xuất ra các đặc trưng của từng đoạn âm thanh.</a:t>
            </a:r>
          </a:p>
          <a:p>
            <a:r>
              <a:rPr lang="en-US"/>
              <a:t>Lớp Fully-connected giúp kết hợp các đặc trưng đc trích xuất từ lớp convolution trước đó và tạo ra các đầu ra được tổng hợp từ nhiều đặc trưng khác nhau. Nó hoạt động bằng cách tính tổng trọng số và áp dụng hàm kích hoạt để tạo ra đầu ra, sau đó truyền thông tin đến lớp tiếp theo hoặc đưa ra kết quả cuối cùng.</a:t>
            </a:r>
          </a:p>
          <a:p>
            <a:r>
              <a:rPr lang="en-US"/>
              <a:t>Attention giúp mô hình tìm ra những phần thông tin quan trọng trong dữ liệu, từ đó tối ưu hóa việc dự đoán hoặc học đặc trưng của dữ liệu, đặc biệt là trong các chuỗi dữ liệu phức tạp như âm thanh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Mel spectrogram là một biến thể của spectrogram thường được sử dụng trong xử lý giọng nói và các tác vụ học máy. Nó tương tự như spectrogram ở chỗ nó hiển thị nội dung tần số của tín hiệu âm thanh theo thời gian, nhưng trên một trục tần số khác điều này thì giúp nó hiển thị được nhiều thông tin hơn.</a:t>
            </a:r>
          </a:p>
          <a:p>
            <a:r>
              <a:rPr lang="en-US"/>
              <a:t/>
            </a:r>
          </a:p>
          <a:p>
            <a:r>
              <a:rPr lang="en-US"/>
              <a:t>Vì sao lại dùng mel-spectrogram thì  do là hệ thống thính giác của con người nhạy cảm hơn với những thay đổi ở tần số thấp hơn so với tần số cao hơn và độ nhạy này giảm theo logarit khi tần số tăng. Thang mel là thang đo nhận thức xấp xỉ đáp ứng tần số phi tuyến tính của tai người.</a:t>
            </a:r>
          </a:p>
          <a:p>
            <a:r>
              <a:rPr lang="en-US"/>
              <a:t>So với spectrogram,  mel - spectrogram có thể nắm bắt được nhiều đặc điểm có ý nghĩa hơn của tín hiệu âm thanh để con người nhận thức, khiến nó trở thành lựa chọn phổ biến trong các nhiệm vụ như nhận dạng giọng nói, nhận dạng người nói và phân loại thể loại nhạc.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Từ audio  chuyển thành mel spectrogram  chia thành n_chunks mỗi chunks có độ dài 3s vì vậy mà tensor đầu vào sẽ có kích thước 129x128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tục cho qua các lớp tích chập (qua lớp đầu tiên 64 filter và kernel ( 3x 128)) </a:t>
            </a:r>
          </a:p>
          <a:p>
            <a:r>
              <a:rPr lang="en-US"/>
              <a:t>nên đầu ra lúc này là [n_chunk,1,129,64]  </a:t>
            </a:r>
          </a:p>
          <a:p>
            <a:r>
              <a:rPr lang="en-US"/>
              <a:t>qua tiếp một lớp convolution  128 filter  kích thước kernel </a:t>
            </a:r>
          </a:p>
          <a:p>
            <a:r>
              <a:rPr lang="en-US"/>
              <a:t>(4 × 1) [n_chunk,1,129,128] </a:t>
            </a:r>
          </a:p>
          <a:p>
            <a:r>
              <a:rPr lang="en-US"/>
              <a:t> qua tiếp một lớp convolution  256 filter  kích thước kernel (4 × 1)</a:t>
            </a:r>
          </a:p>
          <a:p>
            <a:r>
              <a:rPr lang="en-US"/>
              <a:t> [n_chunk,1,129,256] </a:t>
            </a:r>
          </a:p>
          <a:p>
            <a:r>
              <a:rPr lang="en-US"/>
              <a:t> sau khi qua các lớp conv ta thu đc mỗi đoạn 1 biểu diễn kích thước</a:t>
            </a:r>
          </a:p>
          <a:p>
            <a:r>
              <a:rPr lang="en-US"/>
              <a:t> [1,129,256]</a:t>
            </a:r>
          </a:p>
          <a:p>
            <a:r>
              <a:rPr lang="en-US"/>
              <a:t> sau đó ta cho lớp này đi qua 1 lớp Max-pooling theo chiều thứ 2 lúc này các biểu diễn thu được sẽ có kích thước [256]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đến đây các biểu diễn của n_chunks đoạn sẽ đi theo 2 luồng.</a:t>
            </a:r>
          </a:p>
          <a:p>
            <a:r>
              <a:rPr lang="en-US"/>
              <a:t>•	Luồng 1: các biểu diễn sẽ được cộng thêm các mã hóa vị trí theo công thức đã được nêu ở phần trên và đi vào lớp attention  Lúc này các biểu diễn đặc trưng này sẽ đi qua 3 lớp fully- connected và đầu ra sẽ là 1 vecter trọng số (score) chú ý cho từng đoạn</a:t>
            </a:r>
          </a:p>
          <a:p>
            <a:r>
              <a:rPr lang="en-US"/>
              <a:t>•	Luồng 2 : từng biểu diễn sẽ đi qua 2 lớp fully connected với kích input là 1024 và đầu ra là 1 vecter 190 chiều là các xác xuất và các nhãn  sau khi qua lớp này ta tiến hành nhân [n_chunks,190] vector này với đầu ra của luồng 1 [nchunk] để ra dự đoán cuối cùng của cả bài.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Luồng 1 : từng biểu diễn sẽ đi qua 2 lớp fully connected với kích input là 1024 và đầu ra là 1 vecter 18 chiều là các xác xuất và các nhãn  sau khi qua lớp này ta tiến hành nhân [n_chunks,18] vector này với đầu ra của luồng 1 [nchunk] để ra dự đoán cuối cùng của cả bài.</a:t>
            </a:r>
          </a:p>
          <a:p>
            <a:r>
              <a:rPr lang="en-US"/>
              <a:t>ở đây có một cột đc đề cập đến là hệ số dropout thì nó là một cơ chế giúp cho mạng nơron không bị overfiting và  hệ số dropout là 0.5, điều này có nghĩa là trong mỗi bước huấn luyện, 50% số nơ-ron trong một lớp sẽ bị tắt ngẫu nhiên (bị vô hiệu hóa) và không tham gia vào quá trình truyền tín hiệu hoặc cập nhật trọng số.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Được sử dụng để cung cấp thông tin về vị trí của từng phần tử trong chuỗi đầu vào.</a:t>
            </a:r>
          </a:p>
          <a:p>
            <a:r>
              <a:rPr lang="en-US"/>
              <a:t>Mã hóa vị trí giúp mô hình hiểu và xử lý chuỗi dữ liệu mà không cần dựa vào cấu trúc tuần tự.</a:t>
            </a:r>
          </a:p>
          <a:p>
            <a:r>
              <a:rPr lang="en-US"/>
              <a:t/>
            </a:r>
          </a:p>
          <a:p>
            <a:r>
              <a:rPr lang="en-US"/>
              <a:t>Phép cộng này cho phép mô hình attention nhận biết được vị trí của các phần tử trong chuỗi, bởi vì attention chỉ xem xét tương quan giữa các vector biểu diễn mà không quan tâm đến vị trí tự nhiên của chúng. Thông tin vị trí này là cần thiết để mô hình hiểu được cấu trúc tuần tự của dữ liệu đầu vào, chẳng hạn như trong ngôn ngữ tự nhiên hoặc chuỗi âm thanh.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đến đây các biểu diễn của n_chunks đoạn sẽ đi theo 2 luồng.</a:t>
            </a:r>
          </a:p>
          <a:p>
            <a:r>
              <a:rPr lang="en-US"/>
              <a:t>•	Luồng 2: các biểu diễn sẽ được cộng thêm các mã hóa vị trí theo công thức đã được nêu ở phần trên và đi vào lớp attention  Lúc này các biểu diễn đặc trưng này sẽ đi qua 3 lớp fully- connected và đầu ra sẽ là 1 vecter trọng số (score) chú ý cho từng đoạn.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Đây là bước cuối cùng của mô hình dự đoán của mô hình thì đầu ra của 2 luồng trước đây sẽ được tổng hợp tại đây.</a:t>
            </a:r>
          </a:p>
          <a:p>
            <a:r>
              <a:rPr lang="en-US"/>
              <a:t>vecter trọng số được nhân tương quan với ma trận dự đoán cho từng đoạn đầu ra sẽ là vector 18 chiều và các giá trị sẽ là xác xuất vào từng nhãn cho cả bài.</a:t>
            </a:r>
          </a:p>
          <a:p>
            <a:r>
              <a:rPr lang="en-US"/>
              <a:t>Sau đó ta sử dụng vector đó cho việc validation hoặc đánh giá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Như đã trình bày trong phần một thì mô hình em vừa trình bày là kiến trúc của một mô hình phân loại cảm xúc tuy nhiên bài toán chúng ta đặt ra là trích xuất highlight thì đây là quá trình trích xuất dựa trên mô hình phân loại cảm xúc</a:t>
            </a:r>
          </a:p>
          <a:p>
            <a:r>
              <a:rPr lang="en-US"/>
              <a:t>Thì sau khi dữ liệu đi qua các lớp tích chập thu được biểu diễn và được cộng với mã hóa vị trí tiếp theo đi qua lớp attention thu đc vector trọng số chú 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chúng ta trích xuất một mảng có kích thước [n_chunks] và mỗi giá trị là trọng số chú ý của khối đó.</a:t>
            </a:r>
          </a:p>
          <a:p>
            <a:r>
              <a:rPr lang="en-US"/>
              <a:t>Chúng ta lặp lại các giá trị đó 3 lần, bây giờ kích thước của mảng này sẽ bằng số giây của bài hát vì mỗi phân đoạn là 3 giây.</a:t>
            </a:r>
          </a:p>
          <a:p>
            <a:r>
              <a:rPr lang="en-US"/>
              <a:t>Tiếp theo, chúng ta tìm phân đoạn dài 15 giây có số điểm chú ý lớn nhất và trả về chỉ số của nó, đó sẽ là số giây bắt đầu trong bài 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Mô tả: Bộ dữ liệu CAL500 được thiết kế để hỗ trợ nghiên cứu về gắn nhãn ngữ nghĩa cho âm nhạc, bao gồm việc tự động gán nhãn mô tả cho các bài hát dựa trên các đặc điểm âm thanh của chúng, chẳng hạn như cảm xúc, thể loại, nhạc cụ và các thuộc tính khác.</a:t>
            </a:r>
          </a:p>
          <a:p>
            <a:r>
              <a:rPr lang="en-US"/>
              <a:t>Nội dung: Bộ dữ liệu chứa 500 bài hát của nhiều nghệ sĩ từ nhiều thể loại khác nhau. Các bài hát được chọn để bao gồm nhiều thể loại và phong cách âm nhạc khác nhau.</a:t>
            </a:r>
          </a:p>
          <a:p>
            <a:r>
              <a:rPr lang="en-US"/>
              <a:t>Mỗi bài hát được chú thích bằng 3 đến 5 thẻ ngữ nghĩa do người nghe cung cấp. Các thẻ này bao gồm nhiều loại cảm xúc, giới tính, nhạc cụ và các mô tả ngữ nghĩa khác.</a:t>
            </a:r>
          </a:p>
          <a:p>
            <a:r>
              <a:rPr lang="en-US"/>
              <a:t>Chú thích của con người: Mỗi bài hát trong tập dữ liệu CAL500 được chú thích bởi người nghe, những người đánh giá và gắn thẻ nhạc dựa trên nội dung âm thanh của bài hát. Điều này tạo ra một tập hợp nhãn ngữ nghĩa phong phú có thể được sử dụng trong các tác vụ học máy liên quan đến âm nhạc.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Bộ dữ liệu huấn luyện: CAL 500 đã nói ở trước đó gồm 500 bài hát. Bên cạnh là kết quả khi huấn luyện mô hình 50 lần với tập dữ liệu trên. Hàm mất mát sử dụng cross-entropy để tính toán mất mát giữa nhãn thực và dự đoán. Sử dụng AdamOptimizer với learning rate 0.001 để giảm thiểu mất mát trong quá trình huấn luyện.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Tập dữ liệu đánh giá gồm 100 bài hát tiếng Việt. Mỗi bài bao gồm 3 nhãn là đoạn nhạc nổi bật của bài hát đó, mỗi nhãn có thời gian bắt đầu và kéo dài 15s. Tập dữ liệu được thu thập và gán nhãn thủ công dựa vào đoạn nhạc nổi bật trong tính năng chèn nhạc vào tin của Facebook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Spectral Energy là tổng năng lượng của một tín hiệu âm thanh trong miền tần số, được tính bằng cách phân tích phổ của tín hiệu qua biến đổi Fourier.</a:t>
            </a:r>
          </a:p>
          <a:p>
            <a:r>
              <a:rPr lang="en-US"/>
              <a:t/>
            </a:r>
          </a:p>
          <a:p>
            <a:r>
              <a:rPr lang="en-US"/>
              <a:t>Spectral centroid là chỉ số đo vị trí trung bình của năng lượng trong phổ tần số, phản ánh độ "sáng" của âm thanh. Nó đại diện cho trọng tâm của phổ tần số.</a:t>
            </a:r>
          </a:p>
          <a:p>
            <a:r>
              <a:rPr lang="en-US"/>
              <a:t/>
            </a:r>
          </a:p>
          <a:p>
            <a:r>
              <a:rPr lang="en-US"/>
              <a:t>Spectral roll-off là tần số tại đó một tỷ lệ phần trăm nhất định (thường là 85%) của tổng năng lượng trong phổ tần số được tích lũy, phản ánh sự phân bố năng lượng của tín hiệu.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Kết luận</a:t>
            </a:r>
          </a:p>
          <a:p>
            <a:r>
              <a:rPr lang="en-US"/>
              <a:t>Đã phát triển một phương pháp tiếp cận dựa trên học sâu sử dụng phân loại cảm xúc âm nhạc để trích xuất các điểm nổi bật của bài hát</a:t>
            </a:r>
          </a:p>
          <a:p>
            <a:r>
              <a:rPr lang="en-US"/>
              <a:t>Mô hình này vượt trội hơn đáng kể so với các phương pháp truyền thống</a:t>
            </a:r>
          </a:p>
          <a:p>
            <a:r>
              <a:rPr lang="en-US"/>
              <a:t>Đã tạo ứng dụng Android Proof of Concept (PoC) để giới thiệu mô hình</a:t>
            </a:r>
          </a:p>
          <a:p>
            <a:r>
              <a:rPr lang="en-US"/>
              <a:t>Thách thức</a:t>
            </a:r>
          </a:p>
          <a:p>
            <a:r>
              <a:rPr lang="en-US"/>
              <a:t>Không có bộ dữ liệu chính thức nào.</a:t>
            </a:r>
          </a:p>
          <a:p>
            <a:r>
              <a:rPr lang="en-US"/>
              <a:t>Các hạn chế về thời gian đã cản trở việc tạo ra một bộ dữ liệu đào tạo và đánh giá hoàn chỉnh và chính xác.</a:t>
            </a:r>
          </a:p>
          <a:p>
            <a:r>
              <a:rPr lang="en-US"/>
              <a:t>Thiếu một phương pháp chính xác để đánh giá các điểm nổi bật của bài hát.</a:t>
            </a:r>
          </a:p>
          <a:p>
            <a:r>
              <a:rPr lang="en-US"/>
              <a:t>Hướng đi trong tương lai</a:t>
            </a:r>
          </a:p>
          <a:p>
            <a:r>
              <a:rPr lang="en-US"/>
              <a:t>Thu thập một bộ dữ liệu được gắn nhãn chất lượng cao thông qua phản hồi của người nghe.</a:t>
            </a:r>
          </a:p>
          <a:p>
            <a:r>
              <a:rPr lang="en-US"/>
              <a:t>Nâng cao độ chính xác của mô hình bằng cách tinh chỉnh dữ liệu đào tạo và phương pháp đánh giá.</a:t>
            </a:r>
          </a:p>
          <a:p>
            <a:r>
              <a:rPr lang="en-US"/>
              <a:t>Khám phá và nghiên cứu các phương pháp tiếp cận bổ sung để cải thiện hơn nữa.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png" Type="http://schemas.openxmlformats.org/officeDocument/2006/relationships/image"/><Relationship Id="rId7"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5.png" Type="http://schemas.openxmlformats.org/officeDocument/2006/relationships/image"/><Relationship Id="rId4"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6.png" Type="http://schemas.openxmlformats.org/officeDocument/2006/relationships/image"/><Relationship Id="rId6"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7.png" Type="http://schemas.openxmlformats.org/officeDocument/2006/relationships/image"/><Relationship Id="rId6" Target="../media/image1.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27.png" Type="http://schemas.openxmlformats.org/officeDocument/2006/relationships/image"/><Relationship Id="rId6" Target="../media/image1.png" Type="http://schemas.openxmlformats.org/officeDocument/2006/relationships/image"/><Relationship Id="rId7"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png" Type="http://schemas.openxmlformats.org/officeDocument/2006/relationships/image"/><Relationship Id="rId7" Target="../media/image14.png" Type="http://schemas.openxmlformats.org/officeDocument/2006/relationships/image"/><Relationship Id="rId8"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png" Type="http://schemas.openxmlformats.org/officeDocument/2006/relationships/image"/><Relationship Id="rId7" Target="../media/image2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png" Type="http://schemas.openxmlformats.org/officeDocument/2006/relationships/image"/><Relationship Id="rId6" Target="../media/image2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30.png" Type="http://schemas.openxmlformats.org/officeDocument/2006/relationships/image"/><Relationship Id="rId6" Target="../media/image1.png" Type="http://schemas.openxmlformats.org/officeDocument/2006/relationships/image"/><Relationship Id="rId7" Target="../media/image3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6808141" y="2646717"/>
            <a:ext cx="2022321" cy="8460018"/>
            <a:chOff x="0" y="0"/>
            <a:chExt cx="532628" cy="2228153"/>
          </a:xfrm>
        </p:grpSpPr>
        <p:sp>
          <p:nvSpPr>
            <p:cNvPr name="Freeform 3" id="3"/>
            <p:cNvSpPr/>
            <p:nvPr/>
          </p:nvSpPr>
          <p:spPr>
            <a:xfrm flipH="false" flipV="false" rot="0">
              <a:off x="0" y="0"/>
              <a:ext cx="532628" cy="2228153"/>
            </a:xfrm>
            <a:custGeom>
              <a:avLst/>
              <a:gdLst/>
              <a:ahLst/>
              <a:cxnLst/>
              <a:rect r="r" b="b" t="t" l="l"/>
              <a:pathLst>
                <a:path h="2228153" w="532628">
                  <a:moveTo>
                    <a:pt x="0" y="0"/>
                  </a:moveTo>
                  <a:lnTo>
                    <a:pt x="532628" y="0"/>
                  </a:lnTo>
                  <a:lnTo>
                    <a:pt x="532628" y="2228153"/>
                  </a:lnTo>
                  <a:lnTo>
                    <a:pt x="0" y="2228153"/>
                  </a:lnTo>
                  <a:close/>
                </a:path>
              </a:pathLst>
            </a:custGeom>
            <a:solidFill>
              <a:srgbClr val="1D56A7"/>
            </a:solidFill>
          </p:spPr>
        </p:sp>
        <p:sp>
          <p:nvSpPr>
            <p:cNvPr name="TextBox 4" id="4"/>
            <p:cNvSpPr txBox="true"/>
            <p:nvPr/>
          </p:nvSpPr>
          <p:spPr>
            <a:xfrm>
              <a:off x="0" y="-38100"/>
              <a:ext cx="532628" cy="2266253"/>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686387" y="-607424"/>
            <a:ext cx="3709695" cy="1015735"/>
            <a:chOff x="0" y="0"/>
            <a:chExt cx="977039" cy="267519"/>
          </a:xfrm>
        </p:grpSpPr>
        <p:sp>
          <p:nvSpPr>
            <p:cNvPr name="Freeform 6" id="6"/>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1D56A7"/>
            </a:solidFill>
          </p:spPr>
        </p:sp>
        <p:sp>
          <p:nvSpPr>
            <p:cNvPr name="TextBox 7" id="7"/>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
        <p:nvSpPr>
          <p:cNvPr name="Freeform 9" id="9"/>
          <p:cNvSpPr/>
          <p:nvPr/>
        </p:nvSpPr>
        <p:spPr>
          <a:xfrm flipH="false" flipV="false" rot="0">
            <a:off x="10547211" y="408311"/>
            <a:ext cx="9375774" cy="9878689"/>
          </a:xfrm>
          <a:custGeom>
            <a:avLst/>
            <a:gdLst/>
            <a:ahLst/>
            <a:cxnLst/>
            <a:rect r="r" b="b" t="t" l="l"/>
            <a:pathLst>
              <a:path h="9878689" w="9375774">
                <a:moveTo>
                  <a:pt x="0" y="0"/>
                </a:moveTo>
                <a:lnTo>
                  <a:pt x="9375774" y="0"/>
                </a:lnTo>
                <a:lnTo>
                  <a:pt x="9375774" y="9878689"/>
                </a:lnTo>
                <a:lnTo>
                  <a:pt x="0" y="9878689"/>
                </a:lnTo>
                <a:lnTo>
                  <a:pt x="0" y="0"/>
                </a:lnTo>
                <a:close/>
              </a:path>
            </a:pathLst>
          </a:custGeom>
          <a:blipFill>
            <a:blip r:embed="rId4">
              <a:alphaModFix amt="12000"/>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155222" y="5805806"/>
            <a:ext cx="5683004" cy="4248150"/>
          </a:xfrm>
          <a:prstGeom prst="rect">
            <a:avLst/>
          </a:prstGeom>
        </p:spPr>
        <p:txBody>
          <a:bodyPr anchor="t" rtlCol="false" tIns="0" lIns="0" bIns="0" rIns="0">
            <a:spAutoFit/>
          </a:bodyPr>
          <a:lstStyle/>
          <a:p>
            <a:pPr algn="just">
              <a:lnSpc>
                <a:spcPts val="4200"/>
              </a:lnSpc>
            </a:pPr>
          </a:p>
          <a:p>
            <a:pPr algn="just">
              <a:lnSpc>
                <a:spcPts val="4200"/>
              </a:lnSpc>
            </a:pPr>
            <a:r>
              <a:rPr lang="en-US" sz="3000">
                <a:solidFill>
                  <a:srgbClr val="000000"/>
                </a:solidFill>
                <a:latin typeface="Garet Light"/>
                <a:ea typeface="Garet Light"/>
                <a:cs typeface="Garet Light"/>
                <a:sym typeface="Garet Light"/>
              </a:rPr>
              <a:t>Students</a:t>
            </a:r>
          </a:p>
          <a:p>
            <a:pPr algn="just" marL="647702" indent="-323851" lvl="1">
              <a:lnSpc>
                <a:spcPts val="4200"/>
              </a:lnSpc>
              <a:buFont typeface="Arial"/>
              <a:buChar char="•"/>
            </a:pPr>
            <a:r>
              <a:rPr lang="en-US" sz="3000">
                <a:solidFill>
                  <a:srgbClr val="000000"/>
                </a:solidFill>
                <a:latin typeface="Garet Light"/>
                <a:ea typeface="Garet Light"/>
                <a:cs typeface="Garet Light"/>
                <a:sym typeface="Garet Light"/>
              </a:rPr>
              <a:t>Pham Trong Bien</a:t>
            </a:r>
          </a:p>
          <a:p>
            <a:pPr algn="just" marL="647702" indent="-323851" lvl="1">
              <a:lnSpc>
                <a:spcPts val="4200"/>
              </a:lnSpc>
              <a:buFont typeface="Arial"/>
              <a:buChar char="•"/>
            </a:pPr>
            <a:r>
              <a:rPr lang="en-US" sz="3000">
                <a:solidFill>
                  <a:srgbClr val="000000"/>
                </a:solidFill>
                <a:latin typeface="Garet Light"/>
                <a:ea typeface="Garet Light"/>
                <a:cs typeface="Garet Light"/>
                <a:sym typeface="Garet Light"/>
              </a:rPr>
              <a:t>Bui Van Thong</a:t>
            </a:r>
          </a:p>
          <a:p>
            <a:pPr algn="just">
              <a:lnSpc>
                <a:spcPts val="4200"/>
              </a:lnSpc>
            </a:pPr>
            <a:r>
              <a:rPr lang="en-US" sz="3000">
                <a:solidFill>
                  <a:srgbClr val="000000"/>
                </a:solidFill>
                <a:latin typeface="Garet Light"/>
                <a:ea typeface="Garet Light"/>
                <a:cs typeface="Garet Light"/>
                <a:sym typeface="Garet Light"/>
              </a:rPr>
              <a:t>Mentors</a:t>
            </a:r>
          </a:p>
          <a:p>
            <a:pPr algn="just" marL="647702" indent="-323851" lvl="1">
              <a:lnSpc>
                <a:spcPts val="4200"/>
              </a:lnSpc>
              <a:buFont typeface="Arial"/>
              <a:buChar char="•"/>
            </a:pPr>
            <a:r>
              <a:rPr lang="en-US" sz="3000">
                <a:solidFill>
                  <a:srgbClr val="000000"/>
                </a:solidFill>
                <a:latin typeface="Garet Light"/>
                <a:ea typeface="Garet Light"/>
                <a:cs typeface="Garet Light"/>
                <a:sym typeface="Garet Light"/>
              </a:rPr>
              <a:t>Diep Hai Thinh</a:t>
            </a:r>
          </a:p>
          <a:p>
            <a:pPr algn="just" marL="647702" indent="-323851" lvl="1">
              <a:lnSpc>
                <a:spcPts val="4200"/>
              </a:lnSpc>
              <a:buFont typeface="Arial"/>
              <a:buChar char="•"/>
            </a:pPr>
            <a:r>
              <a:rPr lang="en-US" sz="3000">
                <a:solidFill>
                  <a:srgbClr val="000000"/>
                </a:solidFill>
                <a:latin typeface="Garet Light"/>
                <a:ea typeface="Garet Light"/>
                <a:cs typeface="Garet Light"/>
                <a:sym typeface="Garet Light"/>
              </a:rPr>
              <a:t>Dam Viet Anh</a:t>
            </a:r>
          </a:p>
          <a:p>
            <a:pPr algn="just">
              <a:lnSpc>
                <a:spcPts val="4200"/>
              </a:lnSpc>
            </a:pPr>
          </a:p>
        </p:txBody>
      </p:sp>
      <p:sp>
        <p:nvSpPr>
          <p:cNvPr name="TextBox 11" id="11"/>
          <p:cNvSpPr txBox="true"/>
          <p:nvPr/>
        </p:nvSpPr>
        <p:spPr>
          <a:xfrm rot="0">
            <a:off x="1028700" y="1539498"/>
            <a:ext cx="16230600" cy="3134087"/>
          </a:xfrm>
          <a:prstGeom prst="rect">
            <a:avLst/>
          </a:prstGeom>
        </p:spPr>
        <p:txBody>
          <a:bodyPr anchor="t" rtlCol="false" tIns="0" lIns="0" bIns="0" rIns="0">
            <a:spAutoFit/>
          </a:bodyPr>
          <a:lstStyle/>
          <a:p>
            <a:pPr algn="ctr">
              <a:lnSpc>
                <a:spcPts val="12580"/>
              </a:lnSpc>
            </a:pPr>
            <a:r>
              <a:rPr lang="en-US" sz="8985">
                <a:solidFill>
                  <a:srgbClr val="000000"/>
                </a:solidFill>
                <a:latin typeface="Tomorrow"/>
                <a:ea typeface="Tomorrow"/>
                <a:cs typeface="Tomorrow"/>
                <a:sym typeface="Tomorrow"/>
              </a:rPr>
              <a:t>Deep learning-based for Music Highlight Detection</a:t>
            </a:r>
          </a:p>
        </p:txBody>
      </p:sp>
      <p:sp>
        <p:nvSpPr>
          <p:cNvPr name="TextBox 12" id="12"/>
          <p:cNvSpPr txBox="true"/>
          <p:nvPr/>
        </p:nvSpPr>
        <p:spPr>
          <a:xfrm rot="0">
            <a:off x="7740789" y="4897755"/>
            <a:ext cx="2806422"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Group T05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6808141" y="2646717"/>
            <a:ext cx="2022321" cy="8460018"/>
            <a:chOff x="0" y="0"/>
            <a:chExt cx="532628" cy="2228153"/>
          </a:xfrm>
        </p:grpSpPr>
        <p:sp>
          <p:nvSpPr>
            <p:cNvPr name="Freeform 3" id="3"/>
            <p:cNvSpPr/>
            <p:nvPr/>
          </p:nvSpPr>
          <p:spPr>
            <a:xfrm flipH="false" flipV="false" rot="0">
              <a:off x="0" y="0"/>
              <a:ext cx="532628" cy="2228153"/>
            </a:xfrm>
            <a:custGeom>
              <a:avLst/>
              <a:gdLst/>
              <a:ahLst/>
              <a:cxnLst/>
              <a:rect r="r" b="b" t="t" l="l"/>
              <a:pathLst>
                <a:path h="2228153" w="532628">
                  <a:moveTo>
                    <a:pt x="0" y="0"/>
                  </a:moveTo>
                  <a:lnTo>
                    <a:pt x="532628" y="0"/>
                  </a:lnTo>
                  <a:lnTo>
                    <a:pt x="532628" y="2228153"/>
                  </a:lnTo>
                  <a:lnTo>
                    <a:pt x="0" y="2228153"/>
                  </a:lnTo>
                  <a:close/>
                </a:path>
              </a:pathLst>
            </a:custGeom>
            <a:solidFill>
              <a:srgbClr val="1D56A7"/>
            </a:solidFill>
          </p:spPr>
        </p:sp>
        <p:sp>
          <p:nvSpPr>
            <p:cNvPr name="TextBox 4" id="4"/>
            <p:cNvSpPr txBox="true"/>
            <p:nvPr/>
          </p:nvSpPr>
          <p:spPr>
            <a:xfrm>
              <a:off x="0" y="-38100"/>
              <a:ext cx="532628" cy="2266253"/>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686387" y="-607424"/>
            <a:ext cx="3709695" cy="1015735"/>
            <a:chOff x="0" y="0"/>
            <a:chExt cx="977039" cy="267519"/>
          </a:xfrm>
        </p:grpSpPr>
        <p:sp>
          <p:nvSpPr>
            <p:cNvPr name="Freeform 6" id="6"/>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1D56A7"/>
            </a:solidFill>
          </p:spPr>
        </p:sp>
        <p:sp>
          <p:nvSpPr>
            <p:cNvPr name="TextBox 7" id="7"/>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
        <p:nvSpPr>
          <p:cNvPr name="Freeform 9" id="9"/>
          <p:cNvSpPr/>
          <p:nvPr/>
        </p:nvSpPr>
        <p:spPr>
          <a:xfrm flipH="false" flipV="false" rot="0">
            <a:off x="10547211" y="408311"/>
            <a:ext cx="9375774" cy="9878689"/>
          </a:xfrm>
          <a:custGeom>
            <a:avLst/>
            <a:gdLst/>
            <a:ahLst/>
            <a:cxnLst/>
            <a:rect r="r" b="b" t="t" l="l"/>
            <a:pathLst>
              <a:path h="9878689" w="9375774">
                <a:moveTo>
                  <a:pt x="0" y="0"/>
                </a:moveTo>
                <a:lnTo>
                  <a:pt x="9375774" y="0"/>
                </a:lnTo>
                <a:lnTo>
                  <a:pt x="9375774" y="9878689"/>
                </a:lnTo>
                <a:lnTo>
                  <a:pt x="0" y="9878689"/>
                </a:lnTo>
                <a:lnTo>
                  <a:pt x="0" y="0"/>
                </a:lnTo>
                <a:close/>
              </a:path>
            </a:pathLst>
          </a:custGeom>
          <a:blipFill>
            <a:blip r:embed="rId4">
              <a:alphaModFix amt="12000"/>
              <a:extLst>
                <a:ext uri="{96DAC541-7B7A-43D3-8B79-37D633B846F1}">
                  <asvg:svgBlip xmlns:asvg="http://schemas.microsoft.com/office/drawing/2016/SVG/main" r:embed="rId5"/>
                </a:ext>
              </a:extLst>
            </a:blip>
            <a:stretch>
              <a:fillRect l="0" t="0" r="0" b="0"/>
            </a:stretch>
          </a:blipFill>
        </p:spPr>
      </p:sp>
      <p:graphicFrame>
        <p:nvGraphicFramePr>
          <p:cNvPr name="Table 10" id="10"/>
          <p:cNvGraphicFramePr>
            <a:graphicFrameLocks noGrp="true"/>
          </p:cNvGraphicFramePr>
          <p:nvPr/>
        </p:nvGraphicFramePr>
        <p:xfrm>
          <a:off x="1332430" y="3471809"/>
          <a:ext cx="14597009" cy="4144552"/>
        </p:xfrm>
        <a:graphic>
          <a:graphicData uri="http://schemas.openxmlformats.org/drawingml/2006/table">
            <a:tbl>
              <a:tblPr/>
              <a:tblGrid>
                <a:gridCol w="4717592"/>
                <a:gridCol w="6552466"/>
                <a:gridCol w="3326951"/>
              </a:tblGrid>
              <a:tr h="1028631">
                <a:tc>
                  <a:txBody>
                    <a:bodyPr anchor="t" rtlCol="false"/>
                    <a:lstStyle/>
                    <a:p>
                      <a:pPr algn="ctr">
                        <a:lnSpc>
                          <a:spcPts val="3779"/>
                        </a:lnSpc>
                        <a:defRPr/>
                      </a:pPr>
                      <a:r>
                        <a:rPr lang="en-US" sz="2699">
                          <a:solidFill>
                            <a:srgbClr val="000000"/>
                          </a:solidFill>
                          <a:latin typeface="Garet"/>
                          <a:ea typeface="Garet"/>
                          <a:cs typeface="Garet"/>
                          <a:sym typeface="Garet"/>
                        </a:rPr>
                        <a:t>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b="true">
                          <a:solidFill>
                            <a:srgbClr val="000000"/>
                          </a:solidFill>
                          <a:latin typeface="Garet Bold"/>
                          <a:ea typeface="Garet Bold"/>
                          <a:cs typeface="Garet Bold"/>
                          <a:sym typeface="Garet Bold"/>
                        </a:rPr>
                        <a:t>Task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b="true">
                          <a:solidFill>
                            <a:srgbClr val="000000"/>
                          </a:solidFill>
                          <a:latin typeface="Garet Bold"/>
                          <a:ea typeface="Garet Bold"/>
                          <a:cs typeface="Garet Bold"/>
                          <a:sym typeface="Garet Bold"/>
                        </a:rPr>
                        <a:t>Contribution rate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34143">
                <a:tc>
                  <a:txBody>
                    <a:bodyPr anchor="t" rtlCol="false"/>
                    <a:lstStyle/>
                    <a:p>
                      <a:pPr algn="ctr">
                        <a:lnSpc>
                          <a:spcPts val="3219"/>
                        </a:lnSpc>
                        <a:defRPr/>
                      </a:pPr>
                      <a:r>
                        <a:rPr lang="en-US" sz="2299">
                          <a:solidFill>
                            <a:srgbClr val="000000"/>
                          </a:solidFill>
                          <a:latin typeface="Garet"/>
                          <a:ea typeface="Garet"/>
                          <a:cs typeface="Garet"/>
                          <a:sym typeface="Garet"/>
                        </a:rPr>
                        <a:t>Pham Trong Bien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Garet"/>
                          <a:ea typeface="Garet"/>
                          <a:cs typeface="Garet"/>
                          <a:sym typeface="Garet"/>
                        </a:rPr>
                        <a:t>Building and training model, Evaluation 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Garet"/>
                          <a:ea typeface="Garet"/>
                          <a:cs typeface="Garet"/>
                          <a:sym typeface="Garet"/>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81778">
                <a:tc>
                  <a:txBody>
                    <a:bodyPr anchor="t" rtlCol="false"/>
                    <a:lstStyle/>
                    <a:p>
                      <a:pPr algn="ctr">
                        <a:lnSpc>
                          <a:spcPts val="3219"/>
                        </a:lnSpc>
                        <a:defRPr/>
                      </a:pPr>
                      <a:r>
                        <a:rPr lang="en-US" sz="2299">
                          <a:solidFill>
                            <a:srgbClr val="000000"/>
                          </a:solidFill>
                          <a:latin typeface="Garet"/>
                          <a:ea typeface="Garet"/>
                          <a:cs typeface="Garet"/>
                          <a:sym typeface="Garet"/>
                        </a:rPr>
                        <a:t>Bui Van Thong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Garet"/>
                          <a:ea typeface="Garet"/>
                          <a:cs typeface="Garet"/>
                          <a:sym typeface="Garet"/>
                        </a:rPr>
                        <a:t>Prepare dataset, Build application, build a presentation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Garet"/>
                          <a:ea typeface="Garet"/>
                          <a:cs typeface="Garet"/>
                          <a:sym typeface="Garet"/>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1" id="11"/>
          <p:cNvSpPr txBox="true"/>
          <p:nvPr/>
        </p:nvSpPr>
        <p:spPr>
          <a:xfrm rot="0">
            <a:off x="1028700" y="1539498"/>
            <a:ext cx="16230600" cy="1543412"/>
          </a:xfrm>
          <a:prstGeom prst="rect">
            <a:avLst/>
          </a:prstGeom>
        </p:spPr>
        <p:txBody>
          <a:bodyPr anchor="t" rtlCol="false" tIns="0" lIns="0" bIns="0" rIns="0">
            <a:spAutoFit/>
          </a:bodyPr>
          <a:lstStyle/>
          <a:p>
            <a:pPr algn="ctr">
              <a:lnSpc>
                <a:spcPts val="12580"/>
              </a:lnSpc>
            </a:pPr>
            <a:r>
              <a:rPr lang="en-US" sz="8985">
                <a:solidFill>
                  <a:srgbClr val="000000"/>
                </a:solidFill>
                <a:latin typeface="Tomorrow"/>
                <a:ea typeface="Tomorrow"/>
                <a:cs typeface="Tomorrow"/>
                <a:sym typeface="Tomorrow"/>
              </a:rPr>
              <a:t>Workload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6808141" y="2646717"/>
            <a:ext cx="2022321" cy="8460018"/>
            <a:chOff x="0" y="0"/>
            <a:chExt cx="532628" cy="2228153"/>
          </a:xfrm>
        </p:grpSpPr>
        <p:sp>
          <p:nvSpPr>
            <p:cNvPr name="Freeform 3" id="3"/>
            <p:cNvSpPr/>
            <p:nvPr/>
          </p:nvSpPr>
          <p:spPr>
            <a:xfrm flipH="false" flipV="false" rot="0">
              <a:off x="0" y="0"/>
              <a:ext cx="532628" cy="2228153"/>
            </a:xfrm>
            <a:custGeom>
              <a:avLst/>
              <a:gdLst/>
              <a:ahLst/>
              <a:cxnLst/>
              <a:rect r="r" b="b" t="t" l="l"/>
              <a:pathLst>
                <a:path h="2228153" w="532628">
                  <a:moveTo>
                    <a:pt x="0" y="0"/>
                  </a:moveTo>
                  <a:lnTo>
                    <a:pt x="532628" y="0"/>
                  </a:lnTo>
                  <a:lnTo>
                    <a:pt x="532628" y="2228153"/>
                  </a:lnTo>
                  <a:lnTo>
                    <a:pt x="0" y="2228153"/>
                  </a:lnTo>
                  <a:close/>
                </a:path>
              </a:pathLst>
            </a:custGeom>
            <a:solidFill>
              <a:srgbClr val="1D56A7"/>
            </a:solidFill>
          </p:spPr>
        </p:sp>
        <p:sp>
          <p:nvSpPr>
            <p:cNvPr name="TextBox 4" id="4"/>
            <p:cNvSpPr txBox="true"/>
            <p:nvPr/>
          </p:nvSpPr>
          <p:spPr>
            <a:xfrm>
              <a:off x="0" y="-38100"/>
              <a:ext cx="532628" cy="2266253"/>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686387" y="-607424"/>
            <a:ext cx="3869586" cy="1015735"/>
            <a:chOff x="0" y="0"/>
            <a:chExt cx="1019150" cy="267519"/>
          </a:xfrm>
        </p:grpSpPr>
        <p:sp>
          <p:nvSpPr>
            <p:cNvPr name="Freeform 6" id="6"/>
            <p:cNvSpPr/>
            <p:nvPr/>
          </p:nvSpPr>
          <p:spPr>
            <a:xfrm flipH="false" flipV="false" rot="0">
              <a:off x="0" y="0"/>
              <a:ext cx="1019150" cy="267519"/>
            </a:xfrm>
            <a:custGeom>
              <a:avLst/>
              <a:gdLst/>
              <a:ahLst/>
              <a:cxnLst/>
              <a:rect r="r" b="b" t="t" l="l"/>
              <a:pathLst>
                <a:path h="267519" w="1019150">
                  <a:moveTo>
                    <a:pt x="0" y="0"/>
                  </a:moveTo>
                  <a:lnTo>
                    <a:pt x="1019150" y="0"/>
                  </a:lnTo>
                  <a:lnTo>
                    <a:pt x="1019150" y="267519"/>
                  </a:lnTo>
                  <a:lnTo>
                    <a:pt x="0" y="267519"/>
                  </a:lnTo>
                  <a:close/>
                </a:path>
              </a:pathLst>
            </a:custGeom>
            <a:solidFill>
              <a:srgbClr val="1D56A7"/>
            </a:solidFill>
          </p:spPr>
        </p:sp>
        <p:sp>
          <p:nvSpPr>
            <p:cNvPr name="TextBox 7" id="7"/>
            <p:cNvSpPr txBox="true"/>
            <p:nvPr/>
          </p:nvSpPr>
          <p:spPr>
            <a:xfrm>
              <a:off x="0" y="-38100"/>
              <a:ext cx="1019150" cy="305619"/>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7209207" y="847725"/>
            <a:ext cx="3869586" cy="1543412"/>
          </a:xfrm>
          <a:prstGeom prst="rect">
            <a:avLst/>
          </a:prstGeom>
        </p:spPr>
        <p:txBody>
          <a:bodyPr anchor="t" rtlCol="false" tIns="0" lIns="0" bIns="0" rIns="0">
            <a:spAutoFit/>
          </a:bodyPr>
          <a:lstStyle/>
          <a:p>
            <a:pPr algn="l">
              <a:lnSpc>
                <a:spcPts val="12580"/>
              </a:lnSpc>
            </a:pPr>
            <a:r>
              <a:rPr lang="en-US" sz="8985">
                <a:solidFill>
                  <a:srgbClr val="000000"/>
                </a:solidFill>
                <a:latin typeface="Tomorrow"/>
                <a:ea typeface="Tomorrow"/>
                <a:cs typeface="Tomorrow"/>
                <a:sym typeface="Tomorrow"/>
              </a:rPr>
              <a:t>Outline</a:t>
            </a:r>
          </a:p>
        </p:txBody>
      </p:sp>
      <p:sp>
        <p:nvSpPr>
          <p:cNvPr name="TextBox 9" id="9"/>
          <p:cNvSpPr txBox="true"/>
          <p:nvPr/>
        </p:nvSpPr>
        <p:spPr>
          <a:xfrm rot="0">
            <a:off x="2621180" y="2915012"/>
            <a:ext cx="10206106" cy="5059680"/>
          </a:xfrm>
          <a:prstGeom prst="rect">
            <a:avLst/>
          </a:prstGeom>
        </p:spPr>
        <p:txBody>
          <a:bodyPr anchor="t" rtlCol="false" tIns="0" lIns="0" bIns="0" rIns="0">
            <a:spAutoFit/>
          </a:bodyPr>
          <a:lstStyle/>
          <a:p>
            <a:pPr algn="l" marL="1036320" indent="-518160" lvl="1">
              <a:lnSpc>
                <a:spcPts val="6719"/>
              </a:lnSpc>
              <a:buAutoNum type="arabicPeriod" startAt="1"/>
            </a:pPr>
            <a:r>
              <a:rPr lang="en-US" sz="4800">
                <a:solidFill>
                  <a:srgbClr val="000000"/>
                </a:solidFill>
                <a:latin typeface="Tomorrow"/>
                <a:ea typeface="Tomorrow"/>
                <a:cs typeface="Tomorrow"/>
                <a:sym typeface="Tomorrow"/>
              </a:rPr>
              <a:t>Introduction</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Model architecture</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Training</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Evaluation</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Conclusion</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Demo</a:t>
            </a:r>
          </a:p>
        </p:txBody>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2"/>
            <a:stretch>
              <a:fillRect l="0" t="0" r="0" b="0"/>
            </a:stretch>
          </a:blipFill>
        </p:spPr>
      </p:sp>
      <p:sp>
        <p:nvSpPr>
          <p:cNvPr name="Freeform 11" id="11"/>
          <p:cNvSpPr/>
          <p:nvPr/>
        </p:nvSpPr>
        <p:spPr>
          <a:xfrm flipH="false" flipV="false" rot="0">
            <a:off x="10547211" y="408311"/>
            <a:ext cx="9375774" cy="9878689"/>
          </a:xfrm>
          <a:custGeom>
            <a:avLst/>
            <a:gdLst/>
            <a:ahLst/>
            <a:cxnLst/>
            <a:rect r="r" b="b" t="t" l="l"/>
            <a:pathLst>
              <a:path h="9878689" w="9375774">
                <a:moveTo>
                  <a:pt x="0" y="0"/>
                </a:moveTo>
                <a:lnTo>
                  <a:pt x="9375774" y="0"/>
                </a:lnTo>
                <a:lnTo>
                  <a:pt x="9375774" y="9878689"/>
                </a:lnTo>
                <a:lnTo>
                  <a:pt x="0" y="9878689"/>
                </a:lnTo>
                <a:lnTo>
                  <a:pt x="0" y="0"/>
                </a:lnTo>
                <a:close/>
              </a:path>
            </a:pathLst>
          </a:custGeom>
          <a:blipFill>
            <a:blip r:embed="rId3">
              <a:alphaModFix amt="12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86387" y="-607424"/>
            <a:ext cx="3709695" cy="1015735"/>
            <a:chOff x="0" y="0"/>
            <a:chExt cx="977039" cy="267519"/>
          </a:xfrm>
        </p:grpSpPr>
        <p:sp>
          <p:nvSpPr>
            <p:cNvPr name="Freeform 3" id="3"/>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496A8B"/>
            </a:solidFill>
          </p:spPr>
        </p:sp>
        <p:sp>
          <p:nvSpPr>
            <p:cNvPr name="TextBox 4" id="4"/>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2"/>
            <a:stretch>
              <a:fillRect l="0" t="0" r="0" b="0"/>
            </a:stretch>
          </a:blipFill>
        </p:spPr>
      </p:sp>
      <p:sp>
        <p:nvSpPr>
          <p:cNvPr name="Freeform 6" id="6"/>
          <p:cNvSpPr/>
          <p:nvPr/>
        </p:nvSpPr>
        <p:spPr>
          <a:xfrm flipH="false" flipV="false" rot="5400000">
            <a:off x="8594725" y="2093721"/>
            <a:ext cx="18195748" cy="8461023"/>
          </a:xfrm>
          <a:custGeom>
            <a:avLst/>
            <a:gdLst/>
            <a:ahLst/>
            <a:cxnLst/>
            <a:rect r="r" b="b" t="t" l="l"/>
            <a:pathLst>
              <a:path h="8461023" w="18195748">
                <a:moveTo>
                  <a:pt x="0" y="0"/>
                </a:moveTo>
                <a:lnTo>
                  <a:pt x="18195748" y="0"/>
                </a:lnTo>
                <a:lnTo>
                  <a:pt x="18195748" y="8461023"/>
                </a:lnTo>
                <a:lnTo>
                  <a:pt x="0" y="8461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7779198">
            <a:off x="-4701793" y="6683458"/>
            <a:ext cx="18195748" cy="8461023"/>
          </a:xfrm>
          <a:custGeom>
            <a:avLst/>
            <a:gdLst/>
            <a:ahLst/>
            <a:cxnLst/>
            <a:rect r="r" b="b" t="t" l="l"/>
            <a:pathLst>
              <a:path h="8461023" w="18195748">
                <a:moveTo>
                  <a:pt x="0" y="0"/>
                </a:moveTo>
                <a:lnTo>
                  <a:pt x="18195748" y="0"/>
                </a:lnTo>
                <a:lnTo>
                  <a:pt x="18195748" y="8461023"/>
                </a:lnTo>
                <a:lnTo>
                  <a:pt x="0" y="8461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0" y="2826930"/>
            <a:ext cx="738450" cy="7772139"/>
            <a:chOff x="0" y="0"/>
            <a:chExt cx="194489" cy="2046983"/>
          </a:xfrm>
        </p:grpSpPr>
        <p:sp>
          <p:nvSpPr>
            <p:cNvPr name="Freeform 9" id="9"/>
            <p:cNvSpPr/>
            <p:nvPr/>
          </p:nvSpPr>
          <p:spPr>
            <a:xfrm flipH="false" flipV="false" rot="0">
              <a:off x="0" y="0"/>
              <a:ext cx="194489" cy="2046983"/>
            </a:xfrm>
            <a:custGeom>
              <a:avLst/>
              <a:gdLst/>
              <a:ahLst/>
              <a:cxnLst/>
              <a:rect r="r" b="b" t="t" l="l"/>
              <a:pathLst>
                <a:path h="2046983" w="194489">
                  <a:moveTo>
                    <a:pt x="0" y="0"/>
                  </a:moveTo>
                  <a:lnTo>
                    <a:pt x="194489" y="0"/>
                  </a:lnTo>
                  <a:lnTo>
                    <a:pt x="194489" y="2046983"/>
                  </a:lnTo>
                  <a:lnTo>
                    <a:pt x="0" y="2046983"/>
                  </a:lnTo>
                  <a:close/>
                </a:path>
              </a:pathLst>
            </a:custGeom>
            <a:solidFill>
              <a:srgbClr val="496A8B"/>
            </a:solidFill>
          </p:spPr>
        </p:sp>
        <p:sp>
          <p:nvSpPr>
            <p:cNvPr name="TextBox 10" id="10"/>
            <p:cNvSpPr txBox="true"/>
            <p:nvPr/>
          </p:nvSpPr>
          <p:spPr>
            <a:xfrm>
              <a:off x="0" y="-38100"/>
              <a:ext cx="194489" cy="2085083"/>
            </a:xfrm>
            <a:prstGeom prst="rect">
              <a:avLst/>
            </a:prstGeom>
          </p:spPr>
          <p:txBody>
            <a:bodyPr anchor="ctr" rtlCol="false" tIns="50800" lIns="50800" bIns="50800" rIns="50800"/>
            <a:lstStyle/>
            <a:p>
              <a:pPr algn="ctr">
                <a:lnSpc>
                  <a:spcPts val="3359"/>
                </a:lnSpc>
              </a:pPr>
            </a:p>
          </p:txBody>
        </p:sp>
      </p:grpSp>
      <p:sp>
        <p:nvSpPr>
          <p:cNvPr name="TextBox 11" id="11"/>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Introduction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
        <p:nvSpPr>
          <p:cNvPr name="Freeform 9" id="9"/>
          <p:cNvSpPr/>
          <p:nvPr/>
        </p:nvSpPr>
        <p:spPr>
          <a:xfrm flipH="false" flipV="false" rot="0">
            <a:off x="1332160" y="4672350"/>
            <a:ext cx="2771233" cy="3421292"/>
          </a:xfrm>
          <a:custGeom>
            <a:avLst/>
            <a:gdLst/>
            <a:ahLst/>
            <a:cxnLst/>
            <a:rect r="r" b="b" t="t" l="l"/>
            <a:pathLst>
              <a:path h="3421292" w="2771233">
                <a:moveTo>
                  <a:pt x="0" y="0"/>
                </a:moveTo>
                <a:lnTo>
                  <a:pt x="2771232" y="0"/>
                </a:lnTo>
                <a:lnTo>
                  <a:pt x="2771232" y="3421292"/>
                </a:lnTo>
                <a:lnTo>
                  <a:pt x="0" y="3421292"/>
                </a:lnTo>
                <a:lnTo>
                  <a:pt x="0" y="0"/>
                </a:lnTo>
                <a:close/>
              </a:path>
            </a:pathLst>
          </a:custGeom>
          <a:blipFill>
            <a:blip r:embed="rId4"/>
            <a:stretch>
              <a:fillRect l="-83894" t="-16837" r="-72891" b="0"/>
            </a:stretch>
          </a:blipFill>
        </p:spPr>
      </p:sp>
      <p:sp>
        <p:nvSpPr>
          <p:cNvPr name="Freeform 10" id="10"/>
          <p:cNvSpPr/>
          <p:nvPr/>
        </p:nvSpPr>
        <p:spPr>
          <a:xfrm flipH="false" flipV="false" rot="0">
            <a:off x="6402383" y="3873611"/>
            <a:ext cx="6742017" cy="3009530"/>
          </a:xfrm>
          <a:custGeom>
            <a:avLst/>
            <a:gdLst/>
            <a:ahLst/>
            <a:cxnLst/>
            <a:rect r="r" b="b" t="t" l="l"/>
            <a:pathLst>
              <a:path h="3009530" w="6742017">
                <a:moveTo>
                  <a:pt x="0" y="0"/>
                </a:moveTo>
                <a:lnTo>
                  <a:pt x="6742017" y="0"/>
                </a:lnTo>
                <a:lnTo>
                  <a:pt x="6742017" y="3009531"/>
                </a:lnTo>
                <a:lnTo>
                  <a:pt x="0" y="3009531"/>
                </a:lnTo>
                <a:lnTo>
                  <a:pt x="0" y="0"/>
                </a:lnTo>
                <a:close/>
              </a:path>
            </a:pathLst>
          </a:custGeom>
          <a:blipFill>
            <a:blip r:embed="rId5"/>
            <a:stretch>
              <a:fillRect l="0" t="-3330" r="0" b="0"/>
            </a:stretch>
          </a:blipFill>
        </p:spPr>
      </p:sp>
      <p:sp>
        <p:nvSpPr>
          <p:cNvPr name="Freeform 11" id="11"/>
          <p:cNvSpPr/>
          <p:nvPr/>
        </p:nvSpPr>
        <p:spPr>
          <a:xfrm flipH="false" flipV="false" rot="0">
            <a:off x="6482205" y="7689803"/>
            <a:ext cx="6582373" cy="2305711"/>
          </a:xfrm>
          <a:custGeom>
            <a:avLst/>
            <a:gdLst/>
            <a:ahLst/>
            <a:cxnLst/>
            <a:rect r="r" b="b" t="t" l="l"/>
            <a:pathLst>
              <a:path h="2305711" w="6582373">
                <a:moveTo>
                  <a:pt x="0" y="0"/>
                </a:moveTo>
                <a:lnTo>
                  <a:pt x="6582373" y="0"/>
                </a:lnTo>
                <a:lnTo>
                  <a:pt x="6582373" y="2305711"/>
                </a:lnTo>
                <a:lnTo>
                  <a:pt x="0" y="2305711"/>
                </a:lnTo>
                <a:lnTo>
                  <a:pt x="0" y="0"/>
                </a:lnTo>
                <a:close/>
              </a:path>
            </a:pathLst>
          </a:custGeom>
          <a:blipFill>
            <a:blip r:embed="rId6"/>
            <a:stretch>
              <a:fillRect l="0" t="0" r="0" b="-44524"/>
            </a:stretch>
          </a:blipFill>
        </p:spPr>
      </p:sp>
      <p:sp>
        <p:nvSpPr>
          <p:cNvPr name="TextBox 12" id="12"/>
          <p:cNvSpPr txBox="true"/>
          <p:nvPr/>
        </p:nvSpPr>
        <p:spPr>
          <a:xfrm rot="0">
            <a:off x="1332160" y="1227943"/>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What is music highlight detection?</a:t>
            </a:r>
          </a:p>
        </p:txBody>
      </p:sp>
      <p:sp>
        <p:nvSpPr>
          <p:cNvPr name="TextBox 13" id="13"/>
          <p:cNvSpPr txBox="true"/>
          <p:nvPr/>
        </p:nvSpPr>
        <p:spPr>
          <a:xfrm rot="0">
            <a:off x="1332160" y="2442006"/>
            <a:ext cx="15090792" cy="931545"/>
          </a:xfrm>
          <a:prstGeom prst="rect">
            <a:avLst/>
          </a:prstGeom>
        </p:spPr>
        <p:txBody>
          <a:bodyPr anchor="t" rtlCol="false" tIns="0" lIns="0" bIns="0" rIns="0">
            <a:spAutoFit/>
          </a:bodyPr>
          <a:lstStyle/>
          <a:p>
            <a:pPr algn="just" marL="582928" indent="-291464" lvl="1">
              <a:lnSpc>
                <a:spcPts val="3779"/>
              </a:lnSpc>
              <a:buFont typeface="Arial"/>
              <a:buChar char="•"/>
            </a:pPr>
            <a:r>
              <a:rPr lang="en-US" sz="2699">
                <a:solidFill>
                  <a:srgbClr val="000000"/>
                </a:solidFill>
                <a:latin typeface="Garet"/>
                <a:ea typeface="Garet"/>
                <a:cs typeface="Garet"/>
                <a:sym typeface="Garet"/>
              </a:rPr>
              <a:t>Extract a short consecutive segment of a piece of music that is somehow representative of the whole piece</a:t>
            </a:r>
          </a:p>
        </p:txBody>
      </p:sp>
      <p:sp>
        <p:nvSpPr>
          <p:cNvPr name="TextBox 14" id="14"/>
          <p:cNvSpPr txBox="true"/>
          <p:nvPr/>
        </p:nvSpPr>
        <p:spPr>
          <a:xfrm rot="0">
            <a:off x="1805085" y="8369867"/>
            <a:ext cx="1506141" cy="888433"/>
          </a:xfrm>
          <a:prstGeom prst="rect">
            <a:avLst/>
          </a:prstGeom>
        </p:spPr>
        <p:txBody>
          <a:bodyPr anchor="t" rtlCol="false" tIns="0" lIns="0" bIns="0" rIns="0">
            <a:spAutoFit/>
          </a:bodyPr>
          <a:lstStyle/>
          <a:p>
            <a:pPr algn="ctr">
              <a:lnSpc>
                <a:spcPts val="3531"/>
              </a:lnSpc>
              <a:spcBef>
                <a:spcPct val="0"/>
              </a:spcBef>
            </a:pPr>
            <a:r>
              <a:rPr lang="en-US" sz="2522">
                <a:solidFill>
                  <a:srgbClr val="000000"/>
                </a:solidFill>
                <a:latin typeface="Garet Light"/>
                <a:ea typeface="Garet Light"/>
                <a:cs typeface="Garet Light"/>
                <a:sym typeface="Garet Light"/>
              </a:rPr>
              <a:t>Ringtone</a:t>
            </a:r>
          </a:p>
          <a:p>
            <a:pPr algn="ctr">
              <a:lnSpc>
                <a:spcPts val="3531"/>
              </a:lnSpc>
              <a:spcBef>
                <a:spcPct val="0"/>
              </a:spcBef>
            </a:pPr>
            <a:r>
              <a:rPr lang="en-US" sz="2522">
                <a:solidFill>
                  <a:srgbClr val="000000"/>
                </a:solidFill>
                <a:latin typeface="Garet Light"/>
                <a:ea typeface="Garet Light"/>
                <a:cs typeface="Garet Light"/>
                <a:sym typeface="Garet Light"/>
              </a:rPr>
              <a:t> creation</a:t>
            </a:r>
          </a:p>
        </p:txBody>
      </p:sp>
      <p:sp>
        <p:nvSpPr>
          <p:cNvPr name="TextBox 15" id="15"/>
          <p:cNvSpPr txBox="true"/>
          <p:nvPr/>
        </p:nvSpPr>
        <p:spPr>
          <a:xfrm rot="0">
            <a:off x="13953219" y="5161206"/>
            <a:ext cx="2469732" cy="396240"/>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Garet Light"/>
                <a:ea typeface="Garet Light"/>
                <a:cs typeface="Garet Light"/>
                <a:sym typeface="Garet Light"/>
              </a:rPr>
              <a:t>Trial listening</a:t>
            </a:r>
          </a:p>
        </p:txBody>
      </p:sp>
      <p:sp>
        <p:nvSpPr>
          <p:cNvPr name="TextBox 16" id="16"/>
          <p:cNvSpPr txBox="true"/>
          <p:nvPr/>
        </p:nvSpPr>
        <p:spPr>
          <a:xfrm rot="0">
            <a:off x="14297300" y="8442960"/>
            <a:ext cx="1781572" cy="815340"/>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Garet Light"/>
                <a:ea typeface="Garet Light"/>
                <a:cs typeface="Garet Light"/>
                <a:sym typeface="Garet Light"/>
              </a:rPr>
              <a:t>Short-form</a:t>
            </a:r>
          </a:p>
          <a:p>
            <a:pPr algn="ctr">
              <a:lnSpc>
                <a:spcPts val="3359"/>
              </a:lnSpc>
              <a:spcBef>
                <a:spcPct val="0"/>
              </a:spcBef>
            </a:pPr>
            <a:r>
              <a:rPr lang="en-US" sz="2400">
                <a:solidFill>
                  <a:srgbClr val="000000"/>
                </a:solidFill>
                <a:latin typeface="Garet Light"/>
                <a:ea typeface="Garet Light"/>
                <a:cs typeface="Garet Light"/>
                <a:sym typeface="Garet Light"/>
              </a:rPr>
              <a:t> content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1722525" y="2639834"/>
            <a:ext cx="5536775" cy="4686817"/>
          </a:xfrm>
          <a:custGeom>
            <a:avLst/>
            <a:gdLst/>
            <a:ahLst/>
            <a:cxnLst/>
            <a:rect r="r" b="b" t="t" l="l"/>
            <a:pathLst>
              <a:path h="4686817" w="5536775">
                <a:moveTo>
                  <a:pt x="0" y="0"/>
                </a:moveTo>
                <a:lnTo>
                  <a:pt x="5536775" y="0"/>
                </a:lnTo>
                <a:lnTo>
                  <a:pt x="5536775" y="4686818"/>
                </a:lnTo>
                <a:lnTo>
                  <a:pt x="0" y="4686818"/>
                </a:lnTo>
                <a:lnTo>
                  <a:pt x="0" y="0"/>
                </a:lnTo>
                <a:close/>
              </a:path>
            </a:pathLst>
          </a:custGeom>
          <a:blipFill>
            <a:blip r:embed="rId3"/>
            <a:stretch>
              <a:fillRect l="-9309" t="0" r="-10155" b="0"/>
            </a:stretch>
          </a:blipFill>
        </p:spPr>
      </p:sp>
      <p:sp>
        <p:nvSpPr>
          <p:cNvPr name="TextBox 9" id="9"/>
          <p:cNvSpPr txBox="true"/>
          <p:nvPr/>
        </p:nvSpPr>
        <p:spPr>
          <a:xfrm rot="0">
            <a:off x="1332160" y="1722952"/>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Project objectives</a:t>
            </a:r>
          </a:p>
        </p:txBody>
      </p:sp>
      <p:sp>
        <p:nvSpPr>
          <p:cNvPr name="TextBox 10" id="10"/>
          <p:cNvSpPr txBox="true"/>
          <p:nvPr/>
        </p:nvSpPr>
        <p:spPr>
          <a:xfrm rot="0">
            <a:off x="1332160" y="2904343"/>
            <a:ext cx="11023754" cy="1407795"/>
          </a:xfrm>
          <a:prstGeom prst="rect">
            <a:avLst/>
          </a:prstGeom>
        </p:spPr>
        <p:txBody>
          <a:bodyPr anchor="t" rtlCol="false" tIns="0" lIns="0" bIns="0" rIns="0">
            <a:spAutoFit/>
          </a:bodyPr>
          <a:lstStyle/>
          <a:p>
            <a:pPr algn="just" marL="582928" indent="-291464" lvl="1">
              <a:lnSpc>
                <a:spcPts val="3779"/>
              </a:lnSpc>
              <a:buFont typeface="Arial"/>
              <a:buChar char="•"/>
            </a:pPr>
            <a:r>
              <a:rPr lang="en-US" sz="2699">
                <a:solidFill>
                  <a:srgbClr val="000000"/>
                </a:solidFill>
                <a:latin typeface="Garet"/>
                <a:ea typeface="Garet"/>
                <a:cs typeface="Garet"/>
                <a:sym typeface="Garet"/>
              </a:rPr>
              <a:t>Research and understand</a:t>
            </a:r>
            <a:r>
              <a:rPr lang="en-US" sz="2699">
                <a:solidFill>
                  <a:srgbClr val="000000"/>
                </a:solidFill>
                <a:latin typeface="Garet"/>
                <a:ea typeface="Garet"/>
                <a:cs typeface="Garet"/>
                <a:sym typeface="Garet"/>
              </a:rPr>
              <a:t> how deep learning can be used in this task</a:t>
            </a:r>
          </a:p>
          <a:p>
            <a:pPr algn="just">
              <a:lnSpc>
                <a:spcPts val="3779"/>
              </a:lnSpc>
            </a:pPr>
          </a:p>
        </p:txBody>
      </p:sp>
      <p:sp>
        <p:nvSpPr>
          <p:cNvPr name="TextBox 11" id="11"/>
          <p:cNvSpPr txBox="true"/>
          <p:nvPr/>
        </p:nvSpPr>
        <p:spPr>
          <a:xfrm rot="0">
            <a:off x="1332160" y="5955994"/>
            <a:ext cx="11504255" cy="2360295"/>
          </a:xfrm>
          <a:prstGeom prst="rect">
            <a:avLst/>
          </a:prstGeom>
        </p:spPr>
        <p:txBody>
          <a:bodyPr anchor="t" rtlCol="false" tIns="0" lIns="0" bIns="0" rIns="0">
            <a:spAutoFit/>
          </a:bodyPr>
          <a:lstStyle/>
          <a:p>
            <a:pPr algn="just" marL="582928" indent="-291464" lvl="1">
              <a:lnSpc>
                <a:spcPts val="3779"/>
              </a:lnSpc>
              <a:buFont typeface="Arial"/>
              <a:buChar char="•"/>
            </a:pPr>
            <a:r>
              <a:rPr lang="en-US" sz="2699">
                <a:solidFill>
                  <a:srgbClr val="000000"/>
                </a:solidFill>
                <a:latin typeface="Garet"/>
                <a:ea typeface="Garet"/>
                <a:cs typeface="Garet"/>
                <a:sym typeface="Garet"/>
              </a:rPr>
              <a:t>Build an Android application to extract highlight segments from chosen audio file</a:t>
            </a:r>
          </a:p>
          <a:p>
            <a:pPr algn="just" marL="582928" indent="-291464" lvl="1">
              <a:lnSpc>
                <a:spcPts val="3779"/>
              </a:lnSpc>
              <a:buFont typeface="Arial"/>
              <a:buChar char="•"/>
            </a:pPr>
            <a:r>
              <a:rPr lang="en-US" sz="2699">
                <a:solidFill>
                  <a:srgbClr val="000000"/>
                </a:solidFill>
                <a:latin typeface="Garet"/>
                <a:ea typeface="Garet"/>
                <a:cs typeface="Garet"/>
                <a:sym typeface="Garet"/>
              </a:rPr>
              <a:t>Create test dataset for model evaluation</a:t>
            </a:r>
          </a:p>
          <a:p>
            <a:pPr algn="just" marL="582928" indent="-291464" lvl="1">
              <a:lnSpc>
                <a:spcPts val="3779"/>
              </a:lnSpc>
              <a:buFont typeface="Arial"/>
              <a:buChar char="•"/>
            </a:pPr>
            <a:r>
              <a:rPr lang="en-US" sz="2699">
                <a:solidFill>
                  <a:srgbClr val="000000"/>
                </a:solidFill>
                <a:latin typeface="Garet"/>
                <a:ea typeface="Garet"/>
                <a:cs typeface="Garet"/>
                <a:sym typeface="Garet"/>
              </a:rPr>
              <a:t>Investigate and explore model architectures for the problem</a:t>
            </a:r>
          </a:p>
          <a:p>
            <a:pPr algn="just" marL="582928" indent="-291464" lvl="1">
              <a:lnSpc>
                <a:spcPts val="3779"/>
              </a:lnSpc>
              <a:buFont typeface="Arial"/>
              <a:buChar char="•"/>
            </a:pPr>
            <a:r>
              <a:rPr lang="en-US" sz="2699">
                <a:solidFill>
                  <a:srgbClr val="000000"/>
                </a:solidFill>
                <a:latin typeface="Garet"/>
                <a:ea typeface="Garet"/>
                <a:cs typeface="Garet"/>
                <a:sym typeface="Garet"/>
              </a:rPr>
              <a:t>Benchmark the developed model against other techniques</a:t>
            </a:r>
          </a:p>
        </p:txBody>
      </p:sp>
      <p:sp>
        <p:nvSpPr>
          <p:cNvPr name="TextBox 12" id="12"/>
          <p:cNvSpPr txBox="true"/>
          <p:nvPr/>
        </p:nvSpPr>
        <p:spPr>
          <a:xfrm rot="0">
            <a:off x="1332160" y="4774894"/>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Desired output</a:t>
            </a:r>
          </a:p>
        </p:txBody>
      </p:sp>
      <p:sp>
        <p:nvSpPr>
          <p:cNvPr name="Freeform 13" id="1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1722525" y="2639834"/>
            <a:ext cx="5536775" cy="4686817"/>
          </a:xfrm>
          <a:custGeom>
            <a:avLst/>
            <a:gdLst/>
            <a:ahLst/>
            <a:cxnLst/>
            <a:rect r="r" b="b" t="t" l="l"/>
            <a:pathLst>
              <a:path h="4686817" w="5536775">
                <a:moveTo>
                  <a:pt x="0" y="0"/>
                </a:moveTo>
                <a:lnTo>
                  <a:pt x="5536775" y="0"/>
                </a:lnTo>
                <a:lnTo>
                  <a:pt x="5536775" y="4686818"/>
                </a:lnTo>
                <a:lnTo>
                  <a:pt x="0" y="4686818"/>
                </a:lnTo>
                <a:lnTo>
                  <a:pt x="0" y="0"/>
                </a:lnTo>
                <a:close/>
              </a:path>
            </a:pathLst>
          </a:custGeom>
          <a:blipFill>
            <a:blip r:embed="rId3"/>
            <a:stretch>
              <a:fillRect l="-9309" t="0" r="-10155" b="0"/>
            </a:stretch>
          </a:blipFill>
        </p:spPr>
      </p:sp>
      <p:sp>
        <p:nvSpPr>
          <p:cNvPr name="TextBox 9" id="9"/>
          <p:cNvSpPr txBox="true"/>
          <p:nvPr/>
        </p:nvSpPr>
        <p:spPr>
          <a:xfrm rot="0">
            <a:off x="1332160" y="1722952"/>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Approach</a:t>
            </a:r>
          </a:p>
        </p:txBody>
      </p:sp>
      <p:sp>
        <p:nvSpPr>
          <p:cNvPr name="TextBox 10" id="10"/>
          <p:cNvSpPr txBox="true"/>
          <p:nvPr/>
        </p:nvSpPr>
        <p:spPr>
          <a:xfrm rot="0">
            <a:off x="1332160" y="2904343"/>
            <a:ext cx="10521411" cy="5217795"/>
          </a:xfrm>
          <a:prstGeom prst="rect">
            <a:avLst/>
          </a:prstGeom>
        </p:spPr>
        <p:txBody>
          <a:bodyPr anchor="t" rtlCol="false" tIns="0" lIns="0" bIns="0" rIns="0">
            <a:spAutoFit/>
          </a:bodyPr>
          <a:lstStyle/>
          <a:p>
            <a:pPr algn="just">
              <a:lnSpc>
                <a:spcPts val="3779"/>
              </a:lnSpc>
            </a:pPr>
            <a:r>
              <a:rPr lang="en-US" sz="2699" b="true">
                <a:solidFill>
                  <a:srgbClr val="000000"/>
                </a:solidFill>
                <a:latin typeface="Garet Bold"/>
                <a:ea typeface="Garet Bold"/>
                <a:cs typeface="Garet Bold"/>
                <a:sym typeface="Garet Bold"/>
              </a:rPr>
              <a:t>Problem</a:t>
            </a:r>
          </a:p>
          <a:p>
            <a:pPr algn="just" marL="582928" indent="-291464" lvl="1">
              <a:lnSpc>
                <a:spcPts val="3779"/>
              </a:lnSpc>
              <a:buFont typeface="Arial"/>
              <a:buChar char="•"/>
            </a:pPr>
            <a:r>
              <a:rPr lang="en-US" sz="2699">
                <a:solidFill>
                  <a:srgbClr val="000000"/>
                </a:solidFill>
                <a:latin typeface="Garet"/>
                <a:ea typeface="Garet"/>
                <a:cs typeface="Garet"/>
                <a:sym typeface="Garet"/>
              </a:rPr>
              <a:t>No publicly available dataset of labeled song highlights exists for research</a:t>
            </a:r>
          </a:p>
          <a:p>
            <a:pPr algn="just" marL="582928" indent="-291464" lvl="1">
              <a:lnSpc>
                <a:spcPts val="3779"/>
              </a:lnSpc>
              <a:buFont typeface="Arial"/>
              <a:buChar char="•"/>
            </a:pPr>
            <a:r>
              <a:rPr lang="en-US" sz="2699">
                <a:solidFill>
                  <a:srgbClr val="000000"/>
                </a:solidFill>
                <a:latin typeface="Garet"/>
                <a:ea typeface="Garet"/>
                <a:cs typeface="Garet"/>
                <a:sym typeface="Garet"/>
              </a:rPr>
              <a:t>Past methods mainly focus on energy and choruses as highlights</a:t>
            </a:r>
          </a:p>
          <a:p>
            <a:pPr algn="just">
              <a:lnSpc>
                <a:spcPts val="3779"/>
              </a:lnSpc>
            </a:pPr>
            <a:r>
              <a:rPr lang="en-US" sz="2699" b="true">
                <a:solidFill>
                  <a:srgbClr val="000000"/>
                </a:solidFill>
                <a:latin typeface="Garet Bold"/>
                <a:ea typeface="Garet Bold"/>
                <a:cs typeface="Garet Bold"/>
                <a:sym typeface="Garet Bold"/>
              </a:rPr>
              <a:t>Assumption</a:t>
            </a:r>
          </a:p>
          <a:p>
            <a:pPr algn="just" marL="582928" indent="-291464" lvl="1">
              <a:lnSpc>
                <a:spcPts val="3779"/>
              </a:lnSpc>
              <a:buFont typeface="Arial"/>
              <a:buChar char="•"/>
            </a:pPr>
            <a:r>
              <a:rPr lang="en-US" sz="2699">
                <a:solidFill>
                  <a:srgbClr val="000000"/>
                </a:solidFill>
                <a:latin typeface="Garet"/>
                <a:ea typeface="Garet"/>
                <a:cs typeface="Garet"/>
                <a:sym typeface="Garet"/>
              </a:rPr>
              <a:t>Song highlights are strongly linked to the emotional impact of the music.</a:t>
            </a:r>
          </a:p>
          <a:p>
            <a:pPr algn="just">
              <a:lnSpc>
                <a:spcPts val="3779"/>
              </a:lnSpc>
            </a:pPr>
            <a:r>
              <a:rPr lang="en-US" sz="2699" b="true">
                <a:solidFill>
                  <a:srgbClr val="000000"/>
                </a:solidFill>
                <a:latin typeface="Garet Bold"/>
                <a:ea typeface="Garet Bold"/>
                <a:cs typeface="Garet Bold"/>
                <a:sym typeface="Garet Bold"/>
              </a:rPr>
              <a:t>Idea</a:t>
            </a:r>
          </a:p>
          <a:p>
            <a:pPr algn="just" marL="582928" indent="-291464" lvl="1">
              <a:lnSpc>
                <a:spcPts val="3779"/>
              </a:lnSpc>
              <a:buFont typeface="Arial"/>
              <a:buChar char="•"/>
            </a:pPr>
            <a:r>
              <a:rPr lang="en-US" sz="2699">
                <a:solidFill>
                  <a:srgbClr val="000000"/>
                </a:solidFill>
                <a:latin typeface="Garet"/>
                <a:ea typeface="Garet"/>
                <a:cs typeface="Garet"/>
                <a:sym typeface="Garet"/>
              </a:rPr>
              <a:t>Train a music emotion classification model with an additional layer to identify the key sections of a song.</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86387" y="-607424"/>
            <a:ext cx="3709695" cy="1015735"/>
            <a:chOff x="0" y="0"/>
            <a:chExt cx="977039" cy="267519"/>
          </a:xfrm>
        </p:grpSpPr>
        <p:sp>
          <p:nvSpPr>
            <p:cNvPr name="Freeform 4" id="4"/>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1D56A7"/>
            </a:solidFill>
          </p:spPr>
        </p:sp>
        <p:sp>
          <p:nvSpPr>
            <p:cNvPr name="TextBox 5" id="5"/>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1988599" y="7022439"/>
            <a:ext cx="738450" cy="1015735"/>
            <a:chOff x="0" y="0"/>
            <a:chExt cx="194489" cy="267519"/>
          </a:xfrm>
        </p:grpSpPr>
        <p:sp>
          <p:nvSpPr>
            <p:cNvPr name="Freeform 7" id="7"/>
            <p:cNvSpPr/>
            <p:nvPr/>
          </p:nvSpPr>
          <p:spPr>
            <a:xfrm flipH="false" flipV="false" rot="0">
              <a:off x="0" y="0"/>
              <a:ext cx="194489" cy="267519"/>
            </a:xfrm>
            <a:custGeom>
              <a:avLst/>
              <a:gdLst/>
              <a:ahLst/>
              <a:cxnLst/>
              <a:rect r="r" b="b" t="t" l="l"/>
              <a:pathLst>
                <a:path h="267519" w="194489">
                  <a:moveTo>
                    <a:pt x="0" y="0"/>
                  </a:moveTo>
                  <a:lnTo>
                    <a:pt x="194489" y="0"/>
                  </a:lnTo>
                  <a:lnTo>
                    <a:pt x="194489" y="267519"/>
                  </a:lnTo>
                  <a:lnTo>
                    <a:pt x="0" y="267519"/>
                  </a:lnTo>
                  <a:close/>
                </a:path>
              </a:pathLst>
            </a:custGeom>
            <a:solidFill>
              <a:srgbClr val="1D56A7"/>
            </a:solidFill>
          </p:spPr>
        </p:sp>
        <p:sp>
          <p:nvSpPr>
            <p:cNvPr name="TextBox 8" id="8"/>
            <p:cNvSpPr txBox="true"/>
            <p:nvPr/>
          </p:nvSpPr>
          <p:spPr>
            <a:xfrm>
              <a:off x="0" y="-38100"/>
              <a:ext cx="194489" cy="305619"/>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44022" y="2201315"/>
            <a:ext cx="8178449" cy="6574952"/>
          </a:xfrm>
          <a:custGeom>
            <a:avLst/>
            <a:gdLst/>
            <a:ahLst/>
            <a:cxnLst/>
            <a:rect r="r" b="b" t="t" l="l"/>
            <a:pathLst>
              <a:path h="6574952" w="8178449">
                <a:moveTo>
                  <a:pt x="0" y="0"/>
                </a:moveTo>
                <a:lnTo>
                  <a:pt x="8178449" y="0"/>
                </a:lnTo>
                <a:lnTo>
                  <a:pt x="8178449" y="6574952"/>
                </a:lnTo>
                <a:lnTo>
                  <a:pt x="0" y="6574952"/>
                </a:lnTo>
                <a:lnTo>
                  <a:pt x="0" y="0"/>
                </a:lnTo>
                <a:close/>
              </a:path>
            </a:pathLst>
          </a:custGeom>
          <a:blipFill>
            <a:blip r:embed="rId5"/>
            <a:stretch>
              <a:fillRect l="0" t="0" r="-64068" b="0"/>
            </a:stretch>
          </a:blipFill>
        </p:spPr>
      </p:sp>
      <p:sp>
        <p:nvSpPr>
          <p:cNvPr name="Freeform 10" id="10"/>
          <p:cNvSpPr/>
          <p:nvPr/>
        </p:nvSpPr>
        <p:spPr>
          <a:xfrm flipH="false" flipV="false" rot="0">
            <a:off x="11604441" y="3165979"/>
            <a:ext cx="4075207" cy="4378851"/>
          </a:xfrm>
          <a:custGeom>
            <a:avLst/>
            <a:gdLst/>
            <a:ahLst/>
            <a:cxnLst/>
            <a:rect r="r" b="b" t="t" l="l"/>
            <a:pathLst>
              <a:path h="4378851" w="4075207">
                <a:moveTo>
                  <a:pt x="0" y="0"/>
                </a:moveTo>
                <a:lnTo>
                  <a:pt x="4075207" y="0"/>
                </a:lnTo>
                <a:lnTo>
                  <a:pt x="4075207" y="4378851"/>
                </a:lnTo>
                <a:lnTo>
                  <a:pt x="0" y="4378851"/>
                </a:lnTo>
                <a:lnTo>
                  <a:pt x="0" y="0"/>
                </a:lnTo>
                <a:close/>
              </a:path>
            </a:pathLst>
          </a:custGeom>
          <a:blipFill>
            <a:blip r:embed="rId5"/>
            <a:stretch>
              <a:fillRect l="-220284" t="-43553" r="-8981" b="-6599"/>
            </a:stretch>
          </a:blipFill>
        </p:spPr>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
        <p:nvSpPr>
          <p:cNvPr name="Freeform 12" id="12"/>
          <p:cNvSpPr/>
          <p:nvPr/>
        </p:nvSpPr>
        <p:spPr>
          <a:xfrm flipH="false" flipV="false" rot="0">
            <a:off x="5108023" y="4800906"/>
            <a:ext cx="502344" cy="480503"/>
          </a:xfrm>
          <a:custGeom>
            <a:avLst/>
            <a:gdLst/>
            <a:ahLst/>
            <a:cxnLst/>
            <a:rect r="r" b="b" t="t" l="l"/>
            <a:pathLst>
              <a:path h="480503" w="502344">
                <a:moveTo>
                  <a:pt x="0" y="0"/>
                </a:moveTo>
                <a:lnTo>
                  <a:pt x="502344" y="0"/>
                </a:lnTo>
                <a:lnTo>
                  <a:pt x="502344" y="480503"/>
                </a:lnTo>
                <a:lnTo>
                  <a:pt x="0" y="480503"/>
                </a:lnTo>
                <a:lnTo>
                  <a:pt x="0" y="0"/>
                </a:lnTo>
                <a:close/>
              </a:path>
            </a:pathLst>
          </a:custGeom>
          <a:blipFill>
            <a:blip r:embed="rId7"/>
            <a:stretch>
              <a:fillRect l="0" t="0" r="0" b="0"/>
            </a:stretch>
          </a:blipFill>
        </p:spPr>
      </p:sp>
      <p:sp>
        <p:nvSpPr>
          <p:cNvPr name="TextBox 13" id="13"/>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9772075" y="2519061"/>
            <a:ext cx="7487225" cy="6020655"/>
          </a:xfrm>
          <a:custGeom>
            <a:avLst/>
            <a:gdLst/>
            <a:ahLst/>
            <a:cxnLst/>
            <a:rect r="r" b="b" t="t" l="l"/>
            <a:pathLst>
              <a:path h="6020655" w="7487225">
                <a:moveTo>
                  <a:pt x="0" y="0"/>
                </a:moveTo>
                <a:lnTo>
                  <a:pt x="7487225" y="0"/>
                </a:lnTo>
                <a:lnTo>
                  <a:pt x="7487225" y="6020655"/>
                </a:lnTo>
                <a:lnTo>
                  <a:pt x="0" y="6020655"/>
                </a:lnTo>
                <a:lnTo>
                  <a:pt x="0" y="0"/>
                </a:lnTo>
                <a:close/>
              </a:path>
            </a:pathLst>
          </a:custGeom>
          <a:blipFill>
            <a:blip r:embed="rId3"/>
            <a:stretch>
              <a:fillRect l="0" t="0" r="0" b="0"/>
            </a:stretch>
          </a:blipFill>
        </p:spPr>
      </p:sp>
      <p:sp>
        <p:nvSpPr>
          <p:cNvPr name="TextBox 9" id="9"/>
          <p:cNvSpPr txBox="true"/>
          <p:nvPr/>
        </p:nvSpPr>
        <p:spPr>
          <a:xfrm rot="0">
            <a:off x="5238080" y="677264"/>
            <a:ext cx="7811840" cy="1047740"/>
          </a:xfrm>
          <a:prstGeom prst="rect">
            <a:avLst/>
          </a:prstGeom>
        </p:spPr>
        <p:txBody>
          <a:bodyPr anchor="t" rtlCol="false" tIns="0" lIns="0" bIns="0" rIns="0">
            <a:spAutoFit/>
          </a:bodyPr>
          <a:lstStyle/>
          <a:p>
            <a:pPr algn="ctr">
              <a:lnSpc>
                <a:spcPts val="8400"/>
              </a:lnSpc>
            </a:pPr>
            <a:r>
              <a:rPr lang="en-US" sz="6000">
                <a:solidFill>
                  <a:srgbClr val="000000"/>
                </a:solidFill>
                <a:latin typeface="Tomorrow"/>
                <a:ea typeface="Tomorrow"/>
                <a:cs typeface="Tomorrow"/>
                <a:sym typeface="Tomorrow"/>
              </a:rPr>
              <a:t>Mel spectrogram</a:t>
            </a:r>
          </a:p>
        </p:txBody>
      </p:sp>
      <p:sp>
        <p:nvSpPr>
          <p:cNvPr name="TextBox 10" id="10"/>
          <p:cNvSpPr txBox="true"/>
          <p:nvPr/>
        </p:nvSpPr>
        <p:spPr>
          <a:xfrm rot="0">
            <a:off x="1462279" y="2471436"/>
            <a:ext cx="8117614" cy="5694045"/>
          </a:xfrm>
          <a:prstGeom prst="rect">
            <a:avLst/>
          </a:prstGeom>
        </p:spPr>
        <p:txBody>
          <a:bodyPr anchor="t" rtlCol="false" tIns="0" lIns="0" bIns="0" rIns="0">
            <a:spAutoFit/>
          </a:bodyPr>
          <a:lstStyle/>
          <a:p>
            <a:pPr algn="l" marL="582928" indent="-291464" lvl="1">
              <a:lnSpc>
                <a:spcPts val="3779"/>
              </a:lnSpc>
              <a:buFont typeface="Arial"/>
              <a:buChar char="•"/>
            </a:pPr>
            <a:r>
              <a:rPr lang="en-US" sz="2699">
                <a:solidFill>
                  <a:srgbClr val="000000"/>
                </a:solidFill>
                <a:latin typeface="Garet"/>
                <a:ea typeface="Garet"/>
                <a:cs typeface="Garet"/>
                <a:sym typeface="Garet"/>
              </a:rPr>
              <a:t>The spectrogram displays the frequency spectrum over time, provides significantly more information than a sound waveform</a:t>
            </a:r>
          </a:p>
          <a:p>
            <a:pPr algn="l" marL="582928" indent="-291464" lvl="1">
              <a:lnSpc>
                <a:spcPts val="3779"/>
              </a:lnSpc>
              <a:buFont typeface="Arial"/>
              <a:buChar char="•"/>
            </a:pPr>
            <a:r>
              <a:rPr lang="en-US" sz="2699">
                <a:solidFill>
                  <a:srgbClr val="000000"/>
                </a:solidFill>
                <a:latin typeface="Garet"/>
                <a:ea typeface="Garet"/>
                <a:cs typeface="Garet"/>
                <a:sym typeface="Garet"/>
              </a:rPr>
              <a:t>Mel spectrogram is a variation of spectrogram</a:t>
            </a:r>
          </a:p>
          <a:p>
            <a:pPr algn="l" marL="582928" indent="-291464" lvl="1">
              <a:lnSpc>
                <a:spcPts val="3779"/>
              </a:lnSpc>
              <a:buFont typeface="Arial"/>
              <a:buChar char="•"/>
            </a:pPr>
            <a:r>
              <a:rPr lang="en-US" sz="2699">
                <a:solidFill>
                  <a:srgbClr val="000000"/>
                </a:solidFill>
                <a:latin typeface="Garet"/>
                <a:ea typeface="Garet"/>
                <a:cs typeface="Garet"/>
                <a:sym typeface="Garet"/>
              </a:rPr>
              <a:t>The frequency axis scaled according to the Mel scale and the magnitude adjusted to align more closely with human auditory perception</a:t>
            </a:r>
          </a:p>
          <a:p>
            <a:pPr algn="l" marL="582928" indent="-291464" lvl="1">
              <a:lnSpc>
                <a:spcPts val="3779"/>
              </a:lnSpc>
              <a:buFont typeface="Arial"/>
              <a:buChar char="•"/>
            </a:pPr>
            <a:r>
              <a:rPr lang="en-US" sz="2699">
                <a:solidFill>
                  <a:srgbClr val="000000"/>
                </a:solidFill>
                <a:latin typeface="Garet"/>
                <a:ea typeface="Garet"/>
                <a:cs typeface="Garet"/>
                <a:sym typeface="Garet"/>
              </a:rPr>
              <a:t>Has been shown to be more effective than standard spectrograms in many machine learning tasks</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94292" y="2933635"/>
            <a:ext cx="10815438" cy="1568651"/>
          </a:xfrm>
          <a:custGeom>
            <a:avLst/>
            <a:gdLst/>
            <a:ahLst/>
            <a:cxnLst/>
            <a:rect r="r" b="b" t="t" l="l"/>
            <a:pathLst>
              <a:path h="1568651" w="10815438">
                <a:moveTo>
                  <a:pt x="0" y="0"/>
                </a:moveTo>
                <a:lnTo>
                  <a:pt x="10815438" y="0"/>
                </a:lnTo>
                <a:lnTo>
                  <a:pt x="10815438" y="1568651"/>
                </a:lnTo>
                <a:lnTo>
                  <a:pt x="0" y="1568651"/>
                </a:lnTo>
                <a:lnTo>
                  <a:pt x="0" y="0"/>
                </a:lnTo>
                <a:close/>
              </a:path>
            </a:pathLst>
          </a:custGeom>
          <a:blipFill>
            <a:blip r:embed="rId5"/>
            <a:stretch>
              <a:fillRect l="0" t="0" r="0" b="0"/>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grpSp>
        <p:nvGrpSpPr>
          <p:cNvPr name="Group 11" id="11"/>
          <p:cNvGrpSpPr/>
          <p:nvPr/>
        </p:nvGrpSpPr>
        <p:grpSpPr>
          <a:xfrm rot="0">
            <a:off x="6986427" y="6676486"/>
            <a:ext cx="685932" cy="68593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9F9F9F"/>
            </a:solidFill>
          </p:spPr>
        </p:sp>
        <p:sp>
          <p:nvSpPr>
            <p:cNvPr name="TextBox 13" id="13"/>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2665931" y="1207559"/>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Chunking input</a:t>
            </a:r>
          </a:p>
        </p:txBody>
      </p:sp>
      <p:sp>
        <p:nvSpPr>
          <p:cNvPr name="TextBox 15" id="15"/>
          <p:cNvSpPr txBox="true"/>
          <p:nvPr/>
        </p:nvSpPr>
        <p:spPr>
          <a:xfrm rot="0">
            <a:off x="1694292" y="4576132"/>
            <a:ext cx="9245203" cy="1471930"/>
          </a:xfrm>
          <a:prstGeom prst="rect">
            <a:avLst/>
          </a:prstGeom>
        </p:spPr>
        <p:txBody>
          <a:bodyPr anchor="t" rtlCol="false" tIns="0" lIns="0" bIns="0" rIns="0">
            <a:spAutoFit/>
          </a:bodyPr>
          <a:lstStyle/>
          <a:p>
            <a:pPr algn="l">
              <a:lnSpc>
                <a:spcPts val="3919"/>
              </a:lnSpc>
            </a:pPr>
            <a:r>
              <a:rPr lang="en-US" sz="2799">
                <a:solidFill>
                  <a:srgbClr val="000000"/>
                </a:solidFill>
                <a:latin typeface="Garet Light"/>
                <a:ea typeface="Garet Light"/>
                <a:cs typeface="Garet Light"/>
                <a:sym typeface="Garet Light"/>
              </a:rPr>
              <a:t>Convert audio wave form to mel spectrogram</a:t>
            </a:r>
          </a:p>
          <a:p>
            <a:pPr algn="l">
              <a:lnSpc>
                <a:spcPts val="3919"/>
              </a:lnSpc>
            </a:pPr>
            <a:r>
              <a:rPr lang="en-US" sz="2799">
                <a:solidFill>
                  <a:srgbClr val="000000"/>
                </a:solidFill>
                <a:latin typeface="Garet Light"/>
                <a:ea typeface="Garet Light"/>
                <a:cs typeface="Garet Light"/>
                <a:sym typeface="Garet Light"/>
              </a:rPr>
              <a:t>chunk the mel spectrogram into 3-second chunks</a:t>
            </a:r>
          </a:p>
          <a:p>
            <a:pPr algn="l">
              <a:lnSpc>
                <a:spcPts val="3919"/>
              </a:lnSpc>
              <a:spcBef>
                <a:spcPct val="0"/>
              </a:spcBef>
            </a:pPr>
            <a:r>
              <a:rPr lang="en-US" sz="2799">
                <a:solidFill>
                  <a:srgbClr val="000000"/>
                </a:solidFill>
                <a:latin typeface="Garet Light"/>
                <a:ea typeface="Garet Light"/>
                <a:cs typeface="Garet Light"/>
                <a:sym typeface="Garet Light"/>
              </a:rPr>
              <a:t>Formula calculate dimention of chunk:</a:t>
            </a:r>
          </a:p>
        </p:txBody>
      </p:sp>
      <p:sp>
        <p:nvSpPr>
          <p:cNvPr name="TextBox 16" id="16"/>
          <p:cNvSpPr txBox="true"/>
          <p:nvPr/>
        </p:nvSpPr>
        <p:spPr>
          <a:xfrm rot="0">
            <a:off x="1957076" y="6283396"/>
            <a:ext cx="3596878" cy="1934845"/>
          </a:xfrm>
          <a:prstGeom prst="rect">
            <a:avLst/>
          </a:prstGeom>
        </p:spPr>
        <p:txBody>
          <a:bodyPr anchor="t" rtlCol="false" tIns="0" lIns="0" bIns="0" rIns="0">
            <a:spAutoFit/>
          </a:bodyPr>
          <a:lstStyle/>
          <a:p>
            <a:pPr algn="l" marL="474981" indent="-237491" lvl="1">
              <a:lnSpc>
                <a:spcPts val="3080"/>
              </a:lnSpc>
              <a:buFont typeface="Arial"/>
              <a:buChar char="•"/>
            </a:pPr>
            <a:r>
              <a:rPr lang="en-US" sz="2200">
                <a:solidFill>
                  <a:srgbClr val="000000"/>
                </a:solidFill>
                <a:latin typeface="Garet Light"/>
                <a:ea typeface="Garet Light"/>
                <a:cs typeface="Garet Light"/>
                <a:sym typeface="Garet Light"/>
              </a:rPr>
              <a:t>Mel_chanel = 128</a:t>
            </a:r>
          </a:p>
          <a:p>
            <a:pPr algn="l" marL="474981" indent="-237491" lvl="1">
              <a:lnSpc>
                <a:spcPts val="3080"/>
              </a:lnSpc>
              <a:buFont typeface="Arial"/>
              <a:buChar char="•"/>
            </a:pPr>
            <a:r>
              <a:rPr lang="en-US" sz="2200">
                <a:solidFill>
                  <a:srgbClr val="000000"/>
                </a:solidFill>
                <a:latin typeface="Garet Light"/>
                <a:ea typeface="Garet Light"/>
                <a:cs typeface="Garet Light"/>
                <a:sym typeface="Garet Light"/>
              </a:rPr>
              <a:t>Sample_rate = 22050 </a:t>
            </a:r>
          </a:p>
          <a:p>
            <a:pPr algn="l" marL="474981" indent="-237491" lvl="1">
              <a:lnSpc>
                <a:spcPts val="3080"/>
              </a:lnSpc>
              <a:buFont typeface="Arial"/>
              <a:buChar char="•"/>
            </a:pPr>
            <a:r>
              <a:rPr lang="en-US" sz="2200">
                <a:solidFill>
                  <a:srgbClr val="000000"/>
                </a:solidFill>
                <a:latin typeface="Garet Light"/>
                <a:ea typeface="Garet Light"/>
                <a:cs typeface="Garet Light"/>
                <a:sym typeface="Garet Light"/>
              </a:rPr>
              <a:t>Duration = 3 seconds</a:t>
            </a:r>
          </a:p>
          <a:p>
            <a:pPr algn="l" marL="474981" indent="-237491" lvl="1">
              <a:lnSpc>
                <a:spcPts val="3080"/>
              </a:lnSpc>
              <a:buFont typeface="Arial"/>
              <a:buChar char="•"/>
            </a:pPr>
            <a:r>
              <a:rPr lang="en-US" sz="2200">
                <a:solidFill>
                  <a:srgbClr val="000000"/>
                </a:solidFill>
                <a:latin typeface="Garet Light"/>
                <a:ea typeface="Garet Light"/>
                <a:cs typeface="Garet Light"/>
                <a:sym typeface="Garet Light"/>
              </a:rPr>
              <a:t>hop_length = 512</a:t>
            </a:r>
          </a:p>
          <a:p>
            <a:pPr algn="l">
              <a:lnSpc>
                <a:spcPts val="3080"/>
              </a:lnSpc>
              <a:spcBef>
                <a:spcPct val="0"/>
              </a:spcBef>
            </a:pPr>
          </a:p>
        </p:txBody>
      </p:sp>
      <p:sp>
        <p:nvSpPr>
          <p:cNvPr name="TextBox 17" id="17"/>
          <p:cNvSpPr txBox="true"/>
          <p:nvPr/>
        </p:nvSpPr>
        <p:spPr>
          <a:xfrm rot="0">
            <a:off x="8324154" y="6638386"/>
            <a:ext cx="8228277" cy="763270"/>
          </a:xfrm>
          <a:prstGeom prst="rect">
            <a:avLst/>
          </a:prstGeom>
        </p:spPr>
        <p:txBody>
          <a:bodyPr anchor="t" rtlCol="false" tIns="0" lIns="0" bIns="0" rIns="0">
            <a:spAutoFit/>
          </a:bodyPr>
          <a:lstStyle/>
          <a:p>
            <a:pPr algn="l">
              <a:lnSpc>
                <a:spcPts val="3080"/>
              </a:lnSpc>
            </a:pPr>
            <a:r>
              <a:rPr lang="en-US" sz="2200" b="true">
                <a:solidFill>
                  <a:srgbClr val="000000"/>
                </a:solidFill>
                <a:latin typeface="Garet Bold"/>
                <a:ea typeface="Garet Bold"/>
                <a:cs typeface="Garet Bold"/>
                <a:sym typeface="Garet Bold"/>
              </a:rPr>
              <a:t> frame_of_chunk = (Sample_rate* Duration)/hop_length </a:t>
            </a:r>
          </a:p>
          <a:p>
            <a:pPr algn="l">
              <a:lnSpc>
                <a:spcPts val="3080"/>
              </a:lnSpc>
              <a:spcBef>
                <a:spcPct val="0"/>
              </a:spcBef>
            </a:pPr>
            <a:r>
              <a:rPr lang="en-US" b="true" sz="2200">
                <a:solidFill>
                  <a:srgbClr val="000000"/>
                </a:solidFill>
                <a:latin typeface="Garet Bold"/>
                <a:ea typeface="Garet Bold"/>
                <a:cs typeface="Garet Bold"/>
                <a:sym typeface="Garet Bold"/>
              </a:rPr>
              <a:t>                                     = (22050*3)/512 ≈ 129</a:t>
            </a:r>
          </a:p>
        </p:txBody>
      </p:sp>
      <p:sp>
        <p:nvSpPr>
          <p:cNvPr name="TextBox 18" id="18"/>
          <p:cNvSpPr txBox="true"/>
          <p:nvPr/>
        </p:nvSpPr>
        <p:spPr>
          <a:xfrm rot="0">
            <a:off x="5864985" y="5543362"/>
            <a:ext cx="903817" cy="2481331"/>
          </a:xfrm>
          <a:prstGeom prst="rect">
            <a:avLst/>
          </a:prstGeom>
        </p:spPr>
        <p:txBody>
          <a:bodyPr anchor="t" rtlCol="false" tIns="0" lIns="0" bIns="0" rIns="0">
            <a:spAutoFit/>
          </a:bodyPr>
          <a:lstStyle/>
          <a:p>
            <a:pPr algn="l">
              <a:lnSpc>
                <a:spcPts val="20208"/>
              </a:lnSpc>
              <a:spcBef>
                <a:spcPct val="0"/>
              </a:spcBef>
            </a:pPr>
            <a:r>
              <a:rPr lang="en-US" sz="14434">
                <a:solidFill>
                  <a:srgbClr val="000000"/>
                </a:solidFill>
                <a:latin typeface="Garet"/>
                <a:ea typeface="Garet"/>
                <a:cs typeface="Garet"/>
                <a:sym typeface="Garet"/>
              </a:rPr>
              <a:t>}</a:t>
            </a:r>
          </a:p>
        </p:txBody>
      </p:sp>
      <p:sp>
        <p:nvSpPr>
          <p:cNvPr name="TextBox 19" id="19"/>
          <p:cNvSpPr txBox="true"/>
          <p:nvPr/>
        </p:nvSpPr>
        <p:spPr>
          <a:xfrm rot="0">
            <a:off x="1456899" y="8091492"/>
            <a:ext cx="10262658" cy="1471930"/>
          </a:xfrm>
          <a:prstGeom prst="rect">
            <a:avLst/>
          </a:prstGeom>
        </p:spPr>
        <p:txBody>
          <a:bodyPr anchor="t" rtlCol="false" tIns="0" lIns="0" bIns="0" rIns="0">
            <a:spAutoFit/>
          </a:bodyPr>
          <a:lstStyle/>
          <a:p>
            <a:pPr algn="l">
              <a:lnSpc>
                <a:spcPts val="3919"/>
              </a:lnSpc>
            </a:pPr>
          </a:p>
          <a:p>
            <a:pPr algn="l">
              <a:lnSpc>
                <a:spcPts val="3919"/>
              </a:lnSpc>
            </a:pPr>
            <a:r>
              <a:rPr lang="en-US" sz="2799">
                <a:solidFill>
                  <a:srgbClr val="000000"/>
                </a:solidFill>
                <a:latin typeface="Garet Light"/>
                <a:ea typeface="Garet Light"/>
                <a:cs typeface="Garet Light"/>
                <a:sym typeface="Garet Light"/>
              </a:rPr>
              <a:t>So the tensor input has shape of (num_chunks, 129, 128)</a:t>
            </a:r>
          </a:p>
          <a:p>
            <a:pPr algn="l">
              <a:lnSpc>
                <a:spcPts val="391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909417" y="1544256"/>
            <a:ext cx="5500603" cy="5259197"/>
          </a:xfrm>
          <a:custGeom>
            <a:avLst/>
            <a:gdLst/>
            <a:ahLst/>
            <a:cxnLst/>
            <a:rect r="r" b="b" t="t" l="l"/>
            <a:pathLst>
              <a:path h="5259197" w="5500603">
                <a:moveTo>
                  <a:pt x="0" y="0"/>
                </a:moveTo>
                <a:lnTo>
                  <a:pt x="5500603" y="0"/>
                </a:lnTo>
                <a:lnTo>
                  <a:pt x="5500603" y="5259198"/>
                </a:lnTo>
                <a:lnTo>
                  <a:pt x="0" y="5259198"/>
                </a:lnTo>
                <a:lnTo>
                  <a:pt x="0" y="0"/>
                </a:lnTo>
                <a:close/>
              </a:path>
            </a:pathLst>
          </a:custGeom>
          <a:blipFill>
            <a:blip r:embed="rId5"/>
            <a:stretch>
              <a:fillRect l="0" t="0" r="0" b="0"/>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
        <p:nvSpPr>
          <p:cNvPr name="Freeform 11" id="11"/>
          <p:cNvSpPr/>
          <p:nvPr/>
        </p:nvSpPr>
        <p:spPr>
          <a:xfrm flipH="false" flipV="false" rot="0">
            <a:off x="1553896" y="2396363"/>
            <a:ext cx="9385296" cy="2927740"/>
          </a:xfrm>
          <a:custGeom>
            <a:avLst/>
            <a:gdLst/>
            <a:ahLst/>
            <a:cxnLst/>
            <a:rect r="r" b="b" t="t" l="l"/>
            <a:pathLst>
              <a:path h="2927740" w="9385296">
                <a:moveTo>
                  <a:pt x="0" y="0"/>
                </a:moveTo>
                <a:lnTo>
                  <a:pt x="9385296" y="0"/>
                </a:lnTo>
                <a:lnTo>
                  <a:pt x="9385296" y="2927740"/>
                </a:lnTo>
                <a:lnTo>
                  <a:pt x="0" y="2927740"/>
                </a:lnTo>
                <a:lnTo>
                  <a:pt x="0" y="0"/>
                </a:lnTo>
                <a:close/>
              </a:path>
            </a:pathLst>
          </a:custGeom>
          <a:blipFill>
            <a:blip r:embed="rId7"/>
            <a:stretch>
              <a:fillRect l="0" t="0" r="0" b="0"/>
            </a:stretch>
          </a:blipFill>
        </p:spPr>
      </p:sp>
      <p:sp>
        <p:nvSpPr>
          <p:cNvPr name="Freeform 12" id="12"/>
          <p:cNvSpPr/>
          <p:nvPr/>
        </p:nvSpPr>
        <p:spPr>
          <a:xfrm flipH="false" flipV="false" rot="0">
            <a:off x="12129927" y="7201804"/>
            <a:ext cx="4148956" cy="922797"/>
          </a:xfrm>
          <a:custGeom>
            <a:avLst/>
            <a:gdLst/>
            <a:ahLst/>
            <a:cxnLst/>
            <a:rect r="r" b="b" t="t" l="l"/>
            <a:pathLst>
              <a:path h="922797" w="4148956">
                <a:moveTo>
                  <a:pt x="0" y="0"/>
                </a:moveTo>
                <a:lnTo>
                  <a:pt x="4148956" y="0"/>
                </a:lnTo>
                <a:lnTo>
                  <a:pt x="4148956" y="922797"/>
                </a:lnTo>
                <a:lnTo>
                  <a:pt x="0" y="922797"/>
                </a:lnTo>
                <a:lnTo>
                  <a:pt x="0" y="0"/>
                </a:lnTo>
                <a:close/>
              </a:path>
            </a:pathLst>
          </a:custGeom>
          <a:blipFill>
            <a:blip r:embed="rId8"/>
            <a:stretch>
              <a:fillRect l="0" t="0" r="0" b="0"/>
            </a:stretch>
          </a:blipFill>
        </p:spPr>
      </p:sp>
      <p:sp>
        <p:nvSpPr>
          <p:cNvPr name="Freeform 13" id="13"/>
          <p:cNvSpPr/>
          <p:nvPr/>
        </p:nvSpPr>
        <p:spPr>
          <a:xfrm flipH="false" flipV="false" rot="0">
            <a:off x="12129927" y="8449196"/>
            <a:ext cx="4148956" cy="371335"/>
          </a:xfrm>
          <a:custGeom>
            <a:avLst/>
            <a:gdLst/>
            <a:ahLst/>
            <a:cxnLst/>
            <a:rect r="r" b="b" t="t" l="l"/>
            <a:pathLst>
              <a:path h="371335" w="4148956">
                <a:moveTo>
                  <a:pt x="0" y="0"/>
                </a:moveTo>
                <a:lnTo>
                  <a:pt x="4148956" y="0"/>
                </a:lnTo>
                <a:lnTo>
                  <a:pt x="4148956" y="371335"/>
                </a:lnTo>
                <a:lnTo>
                  <a:pt x="0" y="371335"/>
                </a:lnTo>
                <a:lnTo>
                  <a:pt x="0" y="0"/>
                </a:lnTo>
                <a:close/>
              </a:path>
            </a:pathLst>
          </a:custGeom>
          <a:blipFill>
            <a:blip r:embed="rId9"/>
            <a:stretch>
              <a:fillRect l="0" t="0" r="0" b="0"/>
            </a:stretch>
          </a:blipFill>
        </p:spPr>
      </p:sp>
      <p:sp>
        <p:nvSpPr>
          <p:cNvPr name="TextBox 14" id="14"/>
          <p:cNvSpPr txBox="true"/>
          <p:nvPr/>
        </p:nvSpPr>
        <p:spPr>
          <a:xfrm rot="0">
            <a:off x="5672361" y="37006"/>
            <a:ext cx="12474111"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Chunk representation</a:t>
            </a:r>
          </a:p>
        </p:txBody>
      </p:sp>
      <p:sp>
        <p:nvSpPr>
          <p:cNvPr name="TextBox 15" id="15"/>
          <p:cNvSpPr txBox="true"/>
          <p:nvPr/>
        </p:nvSpPr>
        <p:spPr>
          <a:xfrm rot="0">
            <a:off x="1986606" y="5951691"/>
            <a:ext cx="8952585" cy="2491740"/>
          </a:xfrm>
          <a:prstGeom prst="rect">
            <a:avLst/>
          </a:prstGeom>
        </p:spPr>
        <p:txBody>
          <a:bodyPr anchor="t" rtlCol="false" tIns="0" lIns="0" bIns="0" rIns="0">
            <a:spAutoFit/>
          </a:bodyPr>
          <a:lstStyle/>
          <a:p>
            <a:pPr algn="just">
              <a:lnSpc>
                <a:spcPts val="3359"/>
              </a:lnSpc>
            </a:pPr>
          </a:p>
          <a:p>
            <a:pPr algn="just">
              <a:lnSpc>
                <a:spcPts val="3359"/>
              </a:lnSpc>
            </a:pPr>
            <a:r>
              <a:rPr lang="en-US" sz="2400">
                <a:solidFill>
                  <a:srgbClr val="000000"/>
                </a:solidFill>
                <a:latin typeface="Garet Light"/>
                <a:ea typeface="Garet Light"/>
                <a:cs typeface="Garet Light"/>
                <a:sym typeface="Garet Light"/>
              </a:rPr>
              <a:t>Pass input through convolutional layers to obtain chunk representation vector</a:t>
            </a:r>
          </a:p>
          <a:p>
            <a:pPr algn="just">
              <a:lnSpc>
                <a:spcPts val="3359"/>
              </a:lnSpc>
            </a:pPr>
            <a:r>
              <a:rPr lang="en-US" sz="2400">
                <a:solidFill>
                  <a:srgbClr val="000000"/>
                </a:solidFill>
                <a:latin typeface="Garet Light"/>
                <a:ea typeface="Garet Light"/>
                <a:cs typeface="Garet Light"/>
                <a:sym typeface="Garet Light"/>
              </a:rPr>
              <a:t>We slide the kernel over the time.</a:t>
            </a:r>
          </a:p>
          <a:p>
            <a:pPr algn="just">
              <a:lnSpc>
                <a:spcPts val="3359"/>
              </a:lnSpc>
            </a:pPr>
            <a:r>
              <a:rPr lang="en-US" sz="2400">
                <a:solidFill>
                  <a:srgbClr val="000000"/>
                </a:solidFill>
                <a:latin typeface="Garet Light"/>
                <a:ea typeface="Garet Light"/>
                <a:cs typeface="Garet Light"/>
                <a:sym typeface="Garet Light"/>
              </a:rPr>
              <a:t>we use 3 conv layers </a:t>
            </a:r>
          </a:p>
          <a:p>
            <a:pPr algn="just">
              <a:lnSpc>
                <a:spcPts val="3359"/>
              </a:lnSpc>
              <a:spcBef>
                <a:spcPct val="0"/>
              </a:spcBef>
            </a:pPr>
            <a:r>
              <a:rPr lang="en-US" sz="2400">
                <a:solidFill>
                  <a:srgbClr val="000000"/>
                </a:solidFill>
                <a:latin typeface="Garet Light"/>
                <a:ea typeface="Garet Light"/>
                <a:cs typeface="Garet Light"/>
                <a:sym typeface="Garet Light"/>
              </a:rPr>
              <a:t>Output has shape of (num_chunks, 256)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0" id="10"/>
          <p:cNvSpPr/>
          <p:nvPr/>
        </p:nvSpPr>
        <p:spPr>
          <a:xfrm flipH="false" flipV="false" rot="0">
            <a:off x="1334005" y="1431728"/>
            <a:ext cx="9101014" cy="5469154"/>
          </a:xfrm>
          <a:custGeom>
            <a:avLst/>
            <a:gdLst/>
            <a:ahLst/>
            <a:cxnLst/>
            <a:rect r="r" b="b" t="t" l="l"/>
            <a:pathLst>
              <a:path h="5469154" w="9101014">
                <a:moveTo>
                  <a:pt x="0" y="0"/>
                </a:moveTo>
                <a:lnTo>
                  <a:pt x="9101014" y="0"/>
                </a:lnTo>
                <a:lnTo>
                  <a:pt x="9101014" y="5469154"/>
                </a:lnTo>
                <a:lnTo>
                  <a:pt x="0" y="5469154"/>
                </a:lnTo>
                <a:lnTo>
                  <a:pt x="0" y="0"/>
                </a:lnTo>
                <a:close/>
              </a:path>
            </a:pathLst>
          </a:custGeom>
          <a:blipFill>
            <a:blip r:embed="rId6"/>
            <a:stretch>
              <a:fillRect l="0" t="0" r="0" b="0"/>
            </a:stretch>
          </a:blipFill>
        </p:spPr>
      </p:sp>
      <p:sp>
        <p:nvSpPr>
          <p:cNvPr name="Freeform 11" id="11"/>
          <p:cNvSpPr/>
          <p:nvPr/>
        </p:nvSpPr>
        <p:spPr>
          <a:xfrm flipH="false" flipV="false" rot="0">
            <a:off x="11316713" y="3243809"/>
            <a:ext cx="3157439" cy="2758515"/>
          </a:xfrm>
          <a:custGeom>
            <a:avLst/>
            <a:gdLst/>
            <a:ahLst/>
            <a:cxnLst/>
            <a:rect r="r" b="b" t="t" l="l"/>
            <a:pathLst>
              <a:path h="2758515" w="3157439">
                <a:moveTo>
                  <a:pt x="0" y="0"/>
                </a:moveTo>
                <a:lnTo>
                  <a:pt x="3157439" y="0"/>
                </a:lnTo>
                <a:lnTo>
                  <a:pt x="3157439" y="2758514"/>
                </a:lnTo>
                <a:lnTo>
                  <a:pt x="0" y="2758514"/>
                </a:lnTo>
                <a:lnTo>
                  <a:pt x="0" y="0"/>
                </a:lnTo>
                <a:close/>
              </a:path>
            </a:pathLst>
          </a:custGeom>
          <a:blipFill>
            <a:blip r:embed="rId7"/>
            <a:stretch>
              <a:fillRect l="0" t="0" r="0" b="0"/>
            </a:stretch>
          </a:blipFill>
        </p:spPr>
      </p:sp>
      <p:sp>
        <p:nvSpPr>
          <p:cNvPr name="TextBox 12" id="12"/>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
        <p:nvSpPr>
          <p:cNvPr name="TextBox 13" id="13"/>
          <p:cNvSpPr txBox="true"/>
          <p:nvPr/>
        </p:nvSpPr>
        <p:spPr>
          <a:xfrm rot="0">
            <a:off x="1828036" y="6955798"/>
            <a:ext cx="7019840" cy="2072640"/>
          </a:xfrm>
          <a:prstGeom prst="rect">
            <a:avLst/>
          </a:prstGeom>
        </p:spPr>
        <p:txBody>
          <a:bodyPr anchor="t" rtlCol="false" tIns="0" lIns="0" bIns="0" rIns="0">
            <a:spAutoFit/>
          </a:bodyPr>
          <a:lstStyle/>
          <a:p>
            <a:pPr algn="l">
              <a:lnSpc>
                <a:spcPts val="3359"/>
              </a:lnSpc>
            </a:pPr>
            <a:r>
              <a:rPr lang="en-US" sz="2400">
                <a:solidFill>
                  <a:srgbClr val="000000"/>
                </a:solidFill>
                <a:latin typeface="Garet Light"/>
                <a:ea typeface="Garet Light"/>
                <a:cs typeface="Garet Light"/>
                <a:sym typeface="Garet Light"/>
              </a:rPr>
              <a:t>Thread 1:  Pass chunk representation as input to attention layer.</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Passing chunk representation  in 4 FC layer .</a:t>
            </a:r>
          </a:p>
          <a:p>
            <a:pPr algn="l" marL="518160" indent="-259080" lvl="1">
              <a:lnSpc>
                <a:spcPts val="3359"/>
              </a:lnSpc>
              <a:spcBef>
                <a:spcPct val="0"/>
              </a:spcBef>
              <a:buFont typeface="Arial"/>
              <a:buChar char="•"/>
            </a:pPr>
            <a:r>
              <a:rPr lang="en-US" sz="2400">
                <a:solidFill>
                  <a:srgbClr val="000000"/>
                </a:solidFill>
                <a:latin typeface="Garet Light"/>
                <a:ea typeface="Garet Light"/>
                <a:cs typeface="Garet Light"/>
                <a:sym typeface="Garet Light"/>
              </a:rPr>
              <a:t>Output is  n_chunks-dimensional  vector</a:t>
            </a:r>
          </a:p>
        </p:txBody>
      </p:sp>
      <p:sp>
        <p:nvSpPr>
          <p:cNvPr name="TextBox 14" id="14"/>
          <p:cNvSpPr txBox="true"/>
          <p:nvPr/>
        </p:nvSpPr>
        <p:spPr>
          <a:xfrm rot="0">
            <a:off x="10184587" y="6955798"/>
            <a:ext cx="7019840" cy="2072640"/>
          </a:xfrm>
          <a:prstGeom prst="rect">
            <a:avLst/>
          </a:prstGeom>
        </p:spPr>
        <p:txBody>
          <a:bodyPr anchor="t" rtlCol="false" tIns="0" lIns="0" bIns="0" rIns="0">
            <a:spAutoFit/>
          </a:bodyPr>
          <a:lstStyle/>
          <a:p>
            <a:pPr algn="l">
              <a:lnSpc>
                <a:spcPts val="3359"/>
              </a:lnSpc>
            </a:pPr>
            <a:r>
              <a:rPr lang="en-US" sz="2400">
                <a:solidFill>
                  <a:srgbClr val="000000"/>
                </a:solidFill>
                <a:latin typeface="Garet Light"/>
                <a:ea typeface="Garet Light"/>
                <a:cs typeface="Garet Light"/>
                <a:sym typeface="Garet Light"/>
              </a:rPr>
              <a:t>Thread 2:  Pass chunk representation as input to attention layer.</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Passing chunk representation  in 2 FC layer with activation function “sortmax”.</a:t>
            </a:r>
          </a:p>
          <a:p>
            <a:pPr algn="l" marL="518160" indent="-259080" lvl="1">
              <a:lnSpc>
                <a:spcPts val="3359"/>
              </a:lnSpc>
              <a:spcBef>
                <a:spcPct val="0"/>
              </a:spcBef>
              <a:buFont typeface="Arial"/>
              <a:buChar char="•"/>
            </a:pPr>
            <a:r>
              <a:rPr lang="en-US" sz="2400">
                <a:solidFill>
                  <a:srgbClr val="000000"/>
                </a:solidFill>
                <a:latin typeface="Garet Light"/>
                <a:ea typeface="Garet Light"/>
                <a:cs typeface="Garet Light"/>
                <a:sym typeface="Garet Light"/>
              </a:rPr>
              <a:t>Output is numpy  [n_chunks, 18]</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0" id="10"/>
          <p:cNvSpPr/>
          <p:nvPr/>
        </p:nvSpPr>
        <p:spPr>
          <a:xfrm flipH="false" flipV="false" rot="0">
            <a:off x="1334005" y="1431728"/>
            <a:ext cx="3512289" cy="5469154"/>
          </a:xfrm>
          <a:custGeom>
            <a:avLst/>
            <a:gdLst/>
            <a:ahLst/>
            <a:cxnLst/>
            <a:rect r="r" b="b" t="t" l="l"/>
            <a:pathLst>
              <a:path h="5469154" w="3512289">
                <a:moveTo>
                  <a:pt x="0" y="0"/>
                </a:moveTo>
                <a:lnTo>
                  <a:pt x="3512289" y="0"/>
                </a:lnTo>
                <a:lnTo>
                  <a:pt x="3512289" y="5469154"/>
                </a:lnTo>
                <a:lnTo>
                  <a:pt x="0" y="5469154"/>
                </a:lnTo>
                <a:lnTo>
                  <a:pt x="0" y="0"/>
                </a:lnTo>
                <a:close/>
              </a:path>
            </a:pathLst>
          </a:custGeom>
          <a:blipFill>
            <a:blip r:embed="rId6"/>
            <a:stretch>
              <a:fillRect l="0" t="0" r="-159119" b="0"/>
            </a:stretch>
          </a:blipFill>
        </p:spPr>
      </p:sp>
      <p:sp>
        <p:nvSpPr>
          <p:cNvPr name="Freeform 11" id="11"/>
          <p:cNvSpPr/>
          <p:nvPr/>
        </p:nvSpPr>
        <p:spPr>
          <a:xfrm flipH="false" flipV="false" rot="0">
            <a:off x="1511431" y="5009522"/>
            <a:ext cx="2979606" cy="1273196"/>
          </a:xfrm>
          <a:custGeom>
            <a:avLst/>
            <a:gdLst/>
            <a:ahLst/>
            <a:cxnLst/>
            <a:rect r="r" b="b" t="t" l="l"/>
            <a:pathLst>
              <a:path h="1273196" w="2979606">
                <a:moveTo>
                  <a:pt x="0" y="0"/>
                </a:moveTo>
                <a:lnTo>
                  <a:pt x="2979606" y="0"/>
                </a:lnTo>
                <a:lnTo>
                  <a:pt x="2979606" y="1273196"/>
                </a:lnTo>
                <a:lnTo>
                  <a:pt x="0" y="1273196"/>
                </a:lnTo>
                <a:lnTo>
                  <a:pt x="0" y="0"/>
                </a:lnTo>
                <a:close/>
              </a:path>
            </a:pathLst>
          </a:custGeom>
          <a:blipFill>
            <a:blip r:embed="rId7"/>
            <a:stretch>
              <a:fillRect l="0" t="0" r="0" b="-104457"/>
            </a:stretch>
          </a:blipFill>
        </p:spPr>
      </p:sp>
      <p:sp>
        <p:nvSpPr>
          <p:cNvPr name="Freeform 12" id="12"/>
          <p:cNvSpPr/>
          <p:nvPr/>
        </p:nvSpPr>
        <p:spPr>
          <a:xfrm flipH="false" flipV="false" rot="0">
            <a:off x="4555387" y="5646120"/>
            <a:ext cx="2982757" cy="718071"/>
          </a:xfrm>
          <a:custGeom>
            <a:avLst/>
            <a:gdLst/>
            <a:ahLst/>
            <a:cxnLst/>
            <a:rect r="r" b="b" t="t" l="l"/>
            <a:pathLst>
              <a:path h="718071" w="2982757">
                <a:moveTo>
                  <a:pt x="0" y="0"/>
                </a:moveTo>
                <a:lnTo>
                  <a:pt x="2982757" y="0"/>
                </a:lnTo>
                <a:lnTo>
                  <a:pt x="2982757" y="718071"/>
                </a:lnTo>
                <a:lnTo>
                  <a:pt x="0" y="718071"/>
                </a:lnTo>
                <a:lnTo>
                  <a:pt x="0" y="0"/>
                </a:lnTo>
                <a:close/>
              </a:path>
            </a:pathLst>
          </a:custGeom>
          <a:blipFill>
            <a:blip r:embed="rId8"/>
            <a:stretch>
              <a:fillRect l="0" t="0" r="0" b="0"/>
            </a:stretch>
          </a:blipFill>
        </p:spPr>
      </p:sp>
      <p:grpSp>
        <p:nvGrpSpPr>
          <p:cNvPr name="Group 13" id="13"/>
          <p:cNvGrpSpPr/>
          <p:nvPr/>
        </p:nvGrpSpPr>
        <p:grpSpPr>
          <a:xfrm rot="0">
            <a:off x="5123858" y="3329541"/>
            <a:ext cx="1992659" cy="413156"/>
            <a:chOff x="0" y="0"/>
            <a:chExt cx="3920154" cy="812800"/>
          </a:xfrm>
        </p:grpSpPr>
        <p:sp>
          <p:nvSpPr>
            <p:cNvPr name="Freeform 14" id="14"/>
            <p:cNvSpPr/>
            <p:nvPr/>
          </p:nvSpPr>
          <p:spPr>
            <a:xfrm flipH="false" flipV="false" rot="0">
              <a:off x="0" y="0"/>
              <a:ext cx="3920154" cy="812800"/>
            </a:xfrm>
            <a:custGeom>
              <a:avLst/>
              <a:gdLst/>
              <a:ahLst/>
              <a:cxnLst/>
              <a:rect r="r" b="b" t="t" l="l"/>
              <a:pathLst>
                <a:path h="812800" w="3920154">
                  <a:moveTo>
                    <a:pt x="3920154" y="406400"/>
                  </a:moveTo>
                  <a:lnTo>
                    <a:pt x="3513754" y="0"/>
                  </a:lnTo>
                  <a:lnTo>
                    <a:pt x="3513754" y="203200"/>
                  </a:lnTo>
                  <a:lnTo>
                    <a:pt x="0" y="203200"/>
                  </a:lnTo>
                  <a:lnTo>
                    <a:pt x="0" y="609600"/>
                  </a:lnTo>
                  <a:lnTo>
                    <a:pt x="3513754" y="609600"/>
                  </a:lnTo>
                  <a:lnTo>
                    <a:pt x="3513754" y="812800"/>
                  </a:lnTo>
                  <a:lnTo>
                    <a:pt x="3920154" y="406400"/>
                  </a:lnTo>
                  <a:close/>
                </a:path>
              </a:pathLst>
            </a:custGeom>
            <a:solidFill>
              <a:srgbClr val="9F9F9F"/>
            </a:solidFill>
          </p:spPr>
        </p:sp>
        <p:sp>
          <p:nvSpPr>
            <p:cNvPr name="TextBox 15" id="15"/>
            <p:cNvSpPr txBox="true"/>
            <p:nvPr/>
          </p:nvSpPr>
          <p:spPr>
            <a:xfrm>
              <a:off x="0" y="165100"/>
              <a:ext cx="3818554" cy="444500"/>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0">
            <a:off x="7392742" y="2872541"/>
            <a:ext cx="10226034" cy="2270959"/>
          </a:xfrm>
          <a:custGeom>
            <a:avLst/>
            <a:gdLst/>
            <a:ahLst/>
            <a:cxnLst/>
            <a:rect r="r" b="b" t="t" l="l"/>
            <a:pathLst>
              <a:path h="2270959" w="10226034">
                <a:moveTo>
                  <a:pt x="0" y="0"/>
                </a:moveTo>
                <a:lnTo>
                  <a:pt x="10226034" y="0"/>
                </a:lnTo>
                <a:lnTo>
                  <a:pt x="10226034" y="2270959"/>
                </a:lnTo>
                <a:lnTo>
                  <a:pt x="0" y="2270959"/>
                </a:lnTo>
                <a:lnTo>
                  <a:pt x="0" y="0"/>
                </a:lnTo>
                <a:close/>
              </a:path>
            </a:pathLst>
          </a:custGeom>
          <a:blipFill>
            <a:blip r:embed="rId9"/>
            <a:stretch>
              <a:fillRect l="0" t="0" r="0" b="0"/>
            </a:stretch>
          </a:blipFill>
        </p:spPr>
      </p:sp>
      <p:sp>
        <p:nvSpPr>
          <p:cNvPr name="TextBox 17" id="17"/>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Chunk prediction</a:t>
            </a:r>
          </a:p>
        </p:txBody>
      </p:sp>
      <p:sp>
        <p:nvSpPr>
          <p:cNvPr name="TextBox 18" id="18"/>
          <p:cNvSpPr txBox="true"/>
          <p:nvPr/>
        </p:nvSpPr>
        <p:spPr>
          <a:xfrm rot="0">
            <a:off x="1336374" y="6955798"/>
            <a:ext cx="11571816" cy="1653540"/>
          </a:xfrm>
          <a:prstGeom prst="rect">
            <a:avLst/>
          </a:prstGeom>
        </p:spPr>
        <p:txBody>
          <a:bodyPr anchor="t" rtlCol="false" tIns="0" lIns="0" bIns="0" rIns="0">
            <a:spAutoFit/>
          </a:bodyPr>
          <a:lstStyle/>
          <a:p>
            <a:pPr algn="l">
              <a:lnSpc>
                <a:spcPts val="3359"/>
              </a:lnSpc>
            </a:pPr>
            <a:r>
              <a:rPr lang="en-US" sz="2400">
                <a:solidFill>
                  <a:srgbClr val="000000"/>
                </a:solidFill>
                <a:latin typeface="Garet Light"/>
                <a:ea typeface="Garet Light"/>
                <a:cs typeface="Garet Light"/>
                <a:sym typeface="Garet Light"/>
              </a:rPr>
              <a:t>Thread 1:  Pass chunk representation as input to attention layer.</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Passing chunk representation  in 2 FC layer with activation function “sigmoid”.</a:t>
            </a:r>
          </a:p>
          <a:p>
            <a:pPr algn="l" marL="518160" indent="-259080" lvl="1">
              <a:lnSpc>
                <a:spcPts val="3359"/>
              </a:lnSpc>
              <a:spcBef>
                <a:spcPct val="0"/>
              </a:spcBef>
              <a:buFont typeface="Arial"/>
              <a:buChar char="•"/>
            </a:pPr>
            <a:r>
              <a:rPr lang="en-US" sz="2400">
                <a:solidFill>
                  <a:srgbClr val="000000"/>
                </a:solidFill>
                <a:latin typeface="Garet Light"/>
                <a:ea typeface="Garet Light"/>
                <a:cs typeface="Garet Light"/>
                <a:sym typeface="Garet Light"/>
              </a:rPr>
              <a:t>Output is numpy  [n_chunks, 18]</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0" id="10"/>
          <p:cNvSpPr/>
          <p:nvPr/>
        </p:nvSpPr>
        <p:spPr>
          <a:xfrm flipH="false" flipV="false" rot="0">
            <a:off x="1028700" y="2067689"/>
            <a:ext cx="4792026" cy="3622445"/>
          </a:xfrm>
          <a:custGeom>
            <a:avLst/>
            <a:gdLst/>
            <a:ahLst/>
            <a:cxnLst/>
            <a:rect r="r" b="b" t="t" l="l"/>
            <a:pathLst>
              <a:path h="3622445" w="4792026">
                <a:moveTo>
                  <a:pt x="0" y="0"/>
                </a:moveTo>
                <a:lnTo>
                  <a:pt x="4792026" y="0"/>
                </a:lnTo>
                <a:lnTo>
                  <a:pt x="4792026" y="3622445"/>
                </a:lnTo>
                <a:lnTo>
                  <a:pt x="0" y="3622445"/>
                </a:lnTo>
                <a:lnTo>
                  <a:pt x="0" y="0"/>
                </a:lnTo>
                <a:close/>
              </a:path>
            </a:pathLst>
          </a:custGeom>
          <a:blipFill>
            <a:blip r:embed="rId6"/>
            <a:stretch>
              <a:fillRect l="0" t="-51517" r="-91272" b="-537"/>
            </a:stretch>
          </a:blipFill>
        </p:spPr>
      </p:sp>
      <p:sp>
        <p:nvSpPr>
          <p:cNvPr name="Freeform 11" id="11"/>
          <p:cNvSpPr/>
          <p:nvPr/>
        </p:nvSpPr>
        <p:spPr>
          <a:xfrm flipH="false" flipV="false" rot="0">
            <a:off x="1466114" y="3848869"/>
            <a:ext cx="3157439" cy="2758515"/>
          </a:xfrm>
          <a:custGeom>
            <a:avLst/>
            <a:gdLst/>
            <a:ahLst/>
            <a:cxnLst/>
            <a:rect r="r" b="b" t="t" l="l"/>
            <a:pathLst>
              <a:path h="2758515" w="3157439">
                <a:moveTo>
                  <a:pt x="0" y="0"/>
                </a:moveTo>
                <a:lnTo>
                  <a:pt x="3157439" y="0"/>
                </a:lnTo>
                <a:lnTo>
                  <a:pt x="3157439" y="2758515"/>
                </a:lnTo>
                <a:lnTo>
                  <a:pt x="0" y="2758515"/>
                </a:lnTo>
                <a:lnTo>
                  <a:pt x="0" y="0"/>
                </a:lnTo>
                <a:close/>
              </a:path>
            </a:pathLst>
          </a:custGeom>
          <a:blipFill>
            <a:blip r:embed="rId7"/>
            <a:stretch>
              <a:fillRect l="0" t="0" r="0" b="0"/>
            </a:stretch>
          </a:blipFill>
        </p:spPr>
      </p:sp>
      <p:sp>
        <p:nvSpPr>
          <p:cNvPr name="Freeform 12" id="12"/>
          <p:cNvSpPr/>
          <p:nvPr/>
        </p:nvSpPr>
        <p:spPr>
          <a:xfrm flipH="false" flipV="false" rot="0">
            <a:off x="1466114" y="6485376"/>
            <a:ext cx="2982757" cy="718071"/>
          </a:xfrm>
          <a:custGeom>
            <a:avLst/>
            <a:gdLst/>
            <a:ahLst/>
            <a:cxnLst/>
            <a:rect r="r" b="b" t="t" l="l"/>
            <a:pathLst>
              <a:path h="718071" w="2982757">
                <a:moveTo>
                  <a:pt x="0" y="0"/>
                </a:moveTo>
                <a:lnTo>
                  <a:pt x="2982757" y="0"/>
                </a:lnTo>
                <a:lnTo>
                  <a:pt x="2982757" y="718072"/>
                </a:lnTo>
                <a:lnTo>
                  <a:pt x="0" y="718072"/>
                </a:lnTo>
                <a:lnTo>
                  <a:pt x="0" y="0"/>
                </a:lnTo>
                <a:close/>
              </a:path>
            </a:pathLst>
          </a:custGeom>
          <a:blipFill>
            <a:blip r:embed="rId8"/>
            <a:stretch>
              <a:fillRect l="0" t="0" r="0" b="0"/>
            </a:stretch>
          </a:blipFill>
        </p:spPr>
      </p:sp>
      <p:sp>
        <p:nvSpPr>
          <p:cNvPr name="TextBox 13" id="13"/>
          <p:cNvSpPr txBox="true"/>
          <p:nvPr/>
        </p:nvSpPr>
        <p:spPr>
          <a:xfrm rot="0">
            <a:off x="3628047" y="37006"/>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Positional Encoding</a:t>
            </a:r>
          </a:p>
        </p:txBody>
      </p:sp>
      <p:sp>
        <p:nvSpPr>
          <p:cNvPr name="TextBox 14" id="14"/>
          <p:cNvSpPr txBox="true"/>
          <p:nvPr/>
        </p:nvSpPr>
        <p:spPr>
          <a:xfrm rot="0">
            <a:off x="1705488" y="7801061"/>
            <a:ext cx="11874380" cy="20726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Used to provide information about the position of each element in the input sequence.</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Positional Encoding helps the model understand and process data seq</a:t>
            </a:r>
            <a:r>
              <a:rPr lang="en-US" sz="2400">
                <a:solidFill>
                  <a:srgbClr val="000000"/>
                </a:solidFill>
                <a:latin typeface="Garet Light"/>
                <a:ea typeface="Garet Light"/>
                <a:cs typeface="Garet Light"/>
                <a:sym typeface="Garet Light"/>
              </a:rPr>
              <a:t>uences without relying on a sequential structure.</a:t>
            </a:r>
          </a:p>
          <a:p>
            <a:pPr algn="l">
              <a:lnSpc>
                <a:spcPts val="3359"/>
              </a:lnSpc>
              <a:spcBef>
                <a:spcPct val="0"/>
              </a:spcBef>
            </a:pPr>
          </a:p>
        </p:txBody>
      </p:sp>
      <p:sp>
        <p:nvSpPr>
          <p:cNvPr name="Freeform 15" id="15"/>
          <p:cNvSpPr/>
          <p:nvPr/>
        </p:nvSpPr>
        <p:spPr>
          <a:xfrm flipH="false" flipV="false" rot="0">
            <a:off x="6268401" y="1696918"/>
            <a:ext cx="9864428" cy="2181993"/>
          </a:xfrm>
          <a:custGeom>
            <a:avLst/>
            <a:gdLst/>
            <a:ahLst/>
            <a:cxnLst/>
            <a:rect r="r" b="b" t="t" l="l"/>
            <a:pathLst>
              <a:path h="2181993" w="9864428">
                <a:moveTo>
                  <a:pt x="0" y="0"/>
                </a:moveTo>
                <a:lnTo>
                  <a:pt x="9864428" y="0"/>
                </a:lnTo>
                <a:lnTo>
                  <a:pt x="9864428" y="2181994"/>
                </a:lnTo>
                <a:lnTo>
                  <a:pt x="0" y="2181994"/>
                </a:lnTo>
                <a:lnTo>
                  <a:pt x="0" y="0"/>
                </a:lnTo>
                <a:close/>
              </a:path>
            </a:pathLst>
          </a:custGeom>
          <a:blipFill>
            <a:blip r:embed="rId9"/>
            <a:stretch>
              <a:fillRect l="0" t="0" r="0" b="0"/>
            </a:stretch>
          </a:blipFill>
        </p:spPr>
      </p:sp>
      <p:sp>
        <p:nvSpPr>
          <p:cNvPr name="TextBox 16" id="16"/>
          <p:cNvSpPr txBox="true"/>
          <p:nvPr/>
        </p:nvSpPr>
        <p:spPr>
          <a:xfrm rot="0">
            <a:off x="7327653" y="4738135"/>
            <a:ext cx="7966465" cy="1287149"/>
          </a:xfrm>
          <a:prstGeom prst="rect">
            <a:avLst/>
          </a:prstGeom>
        </p:spPr>
        <p:txBody>
          <a:bodyPr anchor="t" rtlCol="false" tIns="0" lIns="0" bIns="0" rIns="0">
            <a:spAutoFit/>
          </a:bodyPr>
          <a:lstStyle/>
          <a:p>
            <a:pPr algn="l" marL="393986" indent="-196993" lvl="1">
              <a:lnSpc>
                <a:spcPts val="2554"/>
              </a:lnSpc>
              <a:buFont typeface="Arial"/>
              <a:buChar char="•"/>
            </a:pPr>
            <a:r>
              <a:rPr lang="en-US" b="true" sz="1824" i="true">
                <a:solidFill>
                  <a:srgbClr val="000000"/>
                </a:solidFill>
                <a:latin typeface="Garet Bold Italics"/>
                <a:ea typeface="Garet Bold Italics"/>
                <a:cs typeface="Garet Bold Italics"/>
                <a:sym typeface="Garet Bold Italics"/>
              </a:rPr>
              <a:t>Pos</a:t>
            </a:r>
            <a:r>
              <a:rPr lang="en-US" sz="1824" i="true">
                <a:solidFill>
                  <a:srgbClr val="000000"/>
                </a:solidFill>
                <a:latin typeface="Garet Italics"/>
                <a:ea typeface="Garet Italics"/>
                <a:cs typeface="Garet Italics"/>
                <a:sym typeface="Garet Italics"/>
              </a:rPr>
              <a:t> is the position of the element in the sequence</a:t>
            </a:r>
          </a:p>
          <a:p>
            <a:pPr algn="l" marL="393986" indent="-196993" lvl="1">
              <a:lnSpc>
                <a:spcPts val="2554"/>
              </a:lnSpc>
              <a:buFont typeface="Arial"/>
              <a:buChar char="•"/>
            </a:pPr>
            <a:r>
              <a:rPr lang="en-US" b="true" sz="1824" i="true">
                <a:solidFill>
                  <a:srgbClr val="000000"/>
                </a:solidFill>
                <a:latin typeface="Garet Bold Italics"/>
                <a:ea typeface="Garet Bold Italics"/>
                <a:cs typeface="Garet Bold Italics"/>
                <a:sym typeface="Garet Bold Italics"/>
              </a:rPr>
              <a:t>i </a:t>
            </a:r>
            <a:r>
              <a:rPr lang="en-US" sz="1824" i="true">
                <a:solidFill>
                  <a:srgbClr val="000000"/>
                </a:solidFill>
                <a:latin typeface="Garet Italics"/>
                <a:ea typeface="Garet Italics"/>
                <a:cs typeface="Garet Italics"/>
                <a:sym typeface="Garet Italics"/>
              </a:rPr>
              <a:t>is the index of the elements in the vector</a:t>
            </a:r>
          </a:p>
          <a:p>
            <a:pPr algn="l" marL="393986" indent="-196993" lvl="1">
              <a:lnSpc>
                <a:spcPts val="2554"/>
              </a:lnSpc>
              <a:buFont typeface="Arial"/>
              <a:buChar char="•"/>
            </a:pPr>
            <a:r>
              <a:rPr lang="en-US" b="true" sz="1824" i="true">
                <a:solidFill>
                  <a:srgbClr val="000000"/>
                </a:solidFill>
                <a:latin typeface="Garet Bold Italics"/>
                <a:ea typeface="Garet Bold Italics"/>
                <a:cs typeface="Garet Bold Italics"/>
                <a:sym typeface="Garet Bold Italics"/>
              </a:rPr>
              <a:t>dmodel </a:t>
            </a:r>
            <a:r>
              <a:rPr lang="en-US" sz="1824" i="true">
                <a:solidFill>
                  <a:srgbClr val="000000"/>
                </a:solidFill>
                <a:latin typeface="Garet Italics"/>
                <a:ea typeface="Garet Italics"/>
                <a:cs typeface="Garet Italics"/>
                <a:sym typeface="Garet Italics"/>
              </a:rPr>
              <a:t>is the size of the vector.</a:t>
            </a:r>
          </a:p>
          <a:p>
            <a:pPr algn="l">
              <a:lnSpc>
                <a:spcPts val="2554"/>
              </a:lnSpc>
            </a:pPr>
          </a:p>
        </p:txBody>
      </p:sp>
      <p:sp>
        <p:nvSpPr>
          <p:cNvPr name="AutoShape 17" id="17"/>
          <p:cNvSpPr/>
          <p:nvPr/>
        </p:nvSpPr>
        <p:spPr>
          <a:xfrm flipV="true">
            <a:off x="5644974" y="2298454"/>
            <a:ext cx="623427" cy="0"/>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grpSp>
        <p:nvGrpSpPr>
          <p:cNvPr name="Group 10" id="10"/>
          <p:cNvGrpSpPr/>
          <p:nvPr/>
        </p:nvGrpSpPr>
        <p:grpSpPr>
          <a:xfrm rot="0">
            <a:off x="819770" y="1028700"/>
            <a:ext cx="8986805" cy="5469154"/>
            <a:chOff x="0" y="0"/>
            <a:chExt cx="11982406" cy="7292205"/>
          </a:xfrm>
        </p:grpSpPr>
        <p:sp>
          <p:nvSpPr>
            <p:cNvPr name="Freeform 11" id="11"/>
            <p:cNvSpPr/>
            <p:nvPr/>
          </p:nvSpPr>
          <p:spPr>
            <a:xfrm flipH="false" flipV="false" rot="0">
              <a:off x="6111413" y="0"/>
              <a:ext cx="5870994" cy="7292205"/>
            </a:xfrm>
            <a:custGeom>
              <a:avLst/>
              <a:gdLst/>
              <a:ahLst/>
              <a:cxnLst/>
              <a:rect r="r" b="b" t="t" l="l"/>
              <a:pathLst>
                <a:path h="7292205" w="5870994">
                  <a:moveTo>
                    <a:pt x="0" y="0"/>
                  </a:moveTo>
                  <a:lnTo>
                    <a:pt x="5870993" y="0"/>
                  </a:lnTo>
                  <a:lnTo>
                    <a:pt x="5870993" y="7292205"/>
                  </a:lnTo>
                  <a:lnTo>
                    <a:pt x="0" y="7292205"/>
                  </a:lnTo>
                  <a:lnTo>
                    <a:pt x="0" y="0"/>
                  </a:lnTo>
                  <a:close/>
                </a:path>
              </a:pathLst>
            </a:custGeom>
            <a:blipFill>
              <a:blip r:embed="rId6"/>
              <a:stretch>
                <a:fillRect l="-108160" t="-355" r="0" b="-355"/>
              </a:stretch>
            </a:blipFill>
          </p:spPr>
        </p:sp>
        <p:sp>
          <p:nvSpPr>
            <p:cNvPr name="Freeform 12" id="12"/>
            <p:cNvSpPr/>
            <p:nvPr/>
          </p:nvSpPr>
          <p:spPr>
            <a:xfrm flipH="false" flipV="false" rot="0">
              <a:off x="0" y="2462279"/>
              <a:ext cx="6389368" cy="4829926"/>
            </a:xfrm>
            <a:custGeom>
              <a:avLst/>
              <a:gdLst/>
              <a:ahLst/>
              <a:cxnLst/>
              <a:rect r="r" b="b" t="t" l="l"/>
              <a:pathLst>
                <a:path h="4829926" w="6389368">
                  <a:moveTo>
                    <a:pt x="0" y="0"/>
                  </a:moveTo>
                  <a:lnTo>
                    <a:pt x="6389368" y="0"/>
                  </a:lnTo>
                  <a:lnTo>
                    <a:pt x="6389368" y="4829926"/>
                  </a:lnTo>
                  <a:lnTo>
                    <a:pt x="0" y="4829926"/>
                  </a:lnTo>
                  <a:lnTo>
                    <a:pt x="0" y="0"/>
                  </a:lnTo>
                  <a:close/>
                </a:path>
              </a:pathLst>
            </a:custGeom>
            <a:blipFill>
              <a:blip r:embed="rId6"/>
              <a:stretch>
                <a:fillRect l="0" t="-51517" r="-91272" b="-537"/>
              </a:stretch>
            </a:blipFill>
          </p:spPr>
        </p:sp>
      </p:grpSp>
      <p:sp>
        <p:nvSpPr>
          <p:cNvPr name="Freeform 13" id="13"/>
          <p:cNvSpPr/>
          <p:nvPr/>
        </p:nvSpPr>
        <p:spPr>
          <a:xfrm flipH="false" flipV="false" rot="0">
            <a:off x="1257184" y="4656589"/>
            <a:ext cx="3157439" cy="2758515"/>
          </a:xfrm>
          <a:custGeom>
            <a:avLst/>
            <a:gdLst/>
            <a:ahLst/>
            <a:cxnLst/>
            <a:rect r="r" b="b" t="t" l="l"/>
            <a:pathLst>
              <a:path h="2758515" w="3157439">
                <a:moveTo>
                  <a:pt x="0" y="0"/>
                </a:moveTo>
                <a:lnTo>
                  <a:pt x="3157439" y="0"/>
                </a:lnTo>
                <a:lnTo>
                  <a:pt x="3157439" y="2758515"/>
                </a:lnTo>
                <a:lnTo>
                  <a:pt x="0" y="2758515"/>
                </a:lnTo>
                <a:lnTo>
                  <a:pt x="0" y="0"/>
                </a:lnTo>
                <a:close/>
              </a:path>
            </a:pathLst>
          </a:custGeom>
          <a:blipFill>
            <a:blip r:embed="rId7"/>
            <a:stretch>
              <a:fillRect l="0" t="0" r="0" b="0"/>
            </a:stretch>
          </a:blipFill>
        </p:spPr>
      </p:sp>
      <p:sp>
        <p:nvSpPr>
          <p:cNvPr name="Freeform 14" id="14"/>
          <p:cNvSpPr/>
          <p:nvPr/>
        </p:nvSpPr>
        <p:spPr>
          <a:xfrm flipH="false" flipV="false" rot="0">
            <a:off x="1028700" y="7415104"/>
            <a:ext cx="2982757" cy="718071"/>
          </a:xfrm>
          <a:custGeom>
            <a:avLst/>
            <a:gdLst/>
            <a:ahLst/>
            <a:cxnLst/>
            <a:rect r="r" b="b" t="t" l="l"/>
            <a:pathLst>
              <a:path h="718071" w="2982757">
                <a:moveTo>
                  <a:pt x="0" y="0"/>
                </a:moveTo>
                <a:lnTo>
                  <a:pt x="2982757" y="0"/>
                </a:lnTo>
                <a:lnTo>
                  <a:pt x="2982757" y="718071"/>
                </a:lnTo>
                <a:lnTo>
                  <a:pt x="0" y="718071"/>
                </a:lnTo>
                <a:lnTo>
                  <a:pt x="0" y="0"/>
                </a:lnTo>
                <a:close/>
              </a:path>
            </a:pathLst>
          </a:custGeom>
          <a:blipFill>
            <a:blip r:embed="rId8"/>
            <a:stretch>
              <a:fillRect l="0" t="0" r="0" b="0"/>
            </a:stretch>
          </a:blipFill>
        </p:spPr>
      </p:sp>
      <p:grpSp>
        <p:nvGrpSpPr>
          <p:cNvPr name="Group 15" id="15"/>
          <p:cNvGrpSpPr/>
          <p:nvPr/>
        </p:nvGrpSpPr>
        <p:grpSpPr>
          <a:xfrm rot="0">
            <a:off x="9502764" y="4417637"/>
            <a:ext cx="607622" cy="60762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9F9F9F"/>
            </a:solidFill>
          </p:spPr>
        </p:sp>
        <p:sp>
          <p:nvSpPr>
            <p:cNvPr name="TextBox 17" id="17"/>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sp>
        <p:nvSpPr>
          <p:cNvPr name="Freeform 18" id="18"/>
          <p:cNvSpPr/>
          <p:nvPr/>
        </p:nvSpPr>
        <p:spPr>
          <a:xfrm flipH="false" flipV="false" rot="0">
            <a:off x="10245640" y="3763277"/>
            <a:ext cx="7325560" cy="2261453"/>
          </a:xfrm>
          <a:custGeom>
            <a:avLst/>
            <a:gdLst/>
            <a:ahLst/>
            <a:cxnLst/>
            <a:rect r="r" b="b" t="t" l="l"/>
            <a:pathLst>
              <a:path h="2261453" w="7325560">
                <a:moveTo>
                  <a:pt x="0" y="0"/>
                </a:moveTo>
                <a:lnTo>
                  <a:pt x="7325560" y="0"/>
                </a:lnTo>
                <a:lnTo>
                  <a:pt x="7325560" y="2261453"/>
                </a:lnTo>
                <a:lnTo>
                  <a:pt x="0" y="2261453"/>
                </a:lnTo>
                <a:lnTo>
                  <a:pt x="0" y="0"/>
                </a:lnTo>
                <a:close/>
              </a:path>
            </a:pathLst>
          </a:custGeom>
          <a:blipFill>
            <a:blip r:embed="rId9"/>
            <a:stretch>
              <a:fillRect l="0" t="0" r="0" b="0"/>
            </a:stretch>
          </a:blipFill>
        </p:spPr>
      </p:sp>
      <p:sp>
        <p:nvSpPr>
          <p:cNvPr name="TextBox 19" id="19"/>
          <p:cNvSpPr txBox="true"/>
          <p:nvPr/>
        </p:nvSpPr>
        <p:spPr>
          <a:xfrm rot="0">
            <a:off x="3628047" y="37006"/>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Chunk weight attention</a:t>
            </a:r>
          </a:p>
        </p:txBody>
      </p:sp>
      <p:sp>
        <p:nvSpPr>
          <p:cNvPr name="TextBox 20" id="20"/>
          <p:cNvSpPr txBox="true"/>
          <p:nvPr/>
        </p:nvSpPr>
        <p:spPr>
          <a:xfrm rot="0">
            <a:off x="5313173" y="8095075"/>
            <a:ext cx="11874380" cy="1653540"/>
          </a:xfrm>
          <a:prstGeom prst="rect">
            <a:avLst/>
          </a:prstGeom>
        </p:spPr>
        <p:txBody>
          <a:bodyPr anchor="t" rtlCol="false" tIns="0" lIns="0" bIns="0" rIns="0">
            <a:spAutoFit/>
          </a:bodyPr>
          <a:lstStyle/>
          <a:p>
            <a:pPr algn="l">
              <a:lnSpc>
                <a:spcPts val="3359"/>
              </a:lnSpc>
            </a:pPr>
            <a:r>
              <a:rPr lang="en-US" sz="2400">
                <a:solidFill>
                  <a:srgbClr val="000000"/>
                </a:solidFill>
                <a:latin typeface="Garet Light"/>
                <a:ea typeface="Garet Light"/>
                <a:cs typeface="Garet Light"/>
                <a:sym typeface="Garet Light"/>
              </a:rPr>
              <a:t>Thread 2:  Pass chunk representation as input to attention layer.</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Passing chunk representation in 4 FC layer .</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Output is n_chunks-dimensional vector</a:t>
            </a:r>
          </a:p>
          <a:p>
            <a:pPr algn="l">
              <a:lnSpc>
                <a:spcPts val="3359"/>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233290" y="3080925"/>
            <a:ext cx="10896637" cy="2314330"/>
          </a:xfrm>
          <a:custGeom>
            <a:avLst/>
            <a:gdLst/>
            <a:ahLst/>
            <a:cxnLst/>
            <a:rect r="r" b="b" t="t" l="l"/>
            <a:pathLst>
              <a:path h="2314330" w="10896637">
                <a:moveTo>
                  <a:pt x="0" y="0"/>
                </a:moveTo>
                <a:lnTo>
                  <a:pt x="10896637" y="0"/>
                </a:lnTo>
                <a:lnTo>
                  <a:pt x="10896637" y="2314330"/>
                </a:lnTo>
                <a:lnTo>
                  <a:pt x="0" y="2314330"/>
                </a:lnTo>
                <a:lnTo>
                  <a:pt x="0" y="0"/>
                </a:lnTo>
                <a:close/>
              </a:path>
            </a:pathLst>
          </a:custGeom>
          <a:blipFill>
            <a:blip r:embed="rId5"/>
            <a:stretch>
              <a:fillRect l="0" t="0" r="0" b="0"/>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
        <p:nvSpPr>
          <p:cNvPr name="TextBox 11" id="11"/>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Final audio prediction</a:t>
            </a:r>
          </a:p>
        </p:txBody>
      </p:sp>
      <p:sp>
        <p:nvSpPr>
          <p:cNvPr name="TextBox 12" id="12"/>
          <p:cNvSpPr txBox="true"/>
          <p:nvPr/>
        </p:nvSpPr>
        <p:spPr>
          <a:xfrm rot="0">
            <a:off x="2431268" y="7195828"/>
            <a:ext cx="7019840" cy="815340"/>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Garet"/>
                <a:ea typeface="Garet"/>
                <a:cs typeface="Garet"/>
                <a:sym typeface="Garet"/>
              </a:rPr>
              <a:t>Weighted sum of chunk predictions to get final audio prediction</a:t>
            </a:r>
          </a:p>
        </p:txBody>
      </p:sp>
      <p:sp>
        <p:nvSpPr>
          <p:cNvPr name="Freeform 13" id="13"/>
          <p:cNvSpPr/>
          <p:nvPr/>
        </p:nvSpPr>
        <p:spPr>
          <a:xfrm flipH="false" flipV="false" rot="0">
            <a:off x="12777627" y="3080925"/>
            <a:ext cx="4075207" cy="2729380"/>
          </a:xfrm>
          <a:custGeom>
            <a:avLst/>
            <a:gdLst/>
            <a:ahLst/>
            <a:cxnLst/>
            <a:rect r="r" b="b" t="t" l="l"/>
            <a:pathLst>
              <a:path h="2729380" w="4075207">
                <a:moveTo>
                  <a:pt x="0" y="0"/>
                </a:moveTo>
                <a:lnTo>
                  <a:pt x="4075207" y="0"/>
                </a:lnTo>
                <a:lnTo>
                  <a:pt x="4075207" y="2729380"/>
                </a:lnTo>
                <a:lnTo>
                  <a:pt x="0" y="2729380"/>
                </a:lnTo>
                <a:lnTo>
                  <a:pt x="0" y="0"/>
                </a:lnTo>
                <a:close/>
              </a:path>
            </a:pathLst>
          </a:custGeom>
          <a:blipFill>
            <a:blip r:embed="rId7"/>
            <a:stretch>
              <a:fillRect l="-220284" t="-128629" r="-8981" b="-12265"/>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44022" y="4397416"/>
            <a:ext cx="5481482" cy="4378851"/>
          </a:xfrm>
          <a:custGeom>
            <a:avLst/>
            <a:gdLst/>
            <a:ahLst/>
            <a:cxnLst/>
            <a:rect r="r" b="b" t="t" l="l"/>
            <a:pathLst>
              <a:path h="4378851" w="5481482">
                <a:moveTo>
                  <a:pt x="0" y="0"/>
                </a:moveTo>
                <a:lnTo>
                  <a:pt x="5481482" y="0"/>
                </a:lnTo>
                <a:lnTo>
                  <a:pt x="5481482" y="4378851"/>
                </a:lnTo>
                <a:lnTo>
                  <a:pt x="0" y="4378851"/>
                </a:lnTo>
                <a:lnTo>
                  <a:pt x="0" y="0"/>
                </a:lnTo>
                <a:close/>
              </a:path>
            </a:pathLst>
          </a:custGeom>
          <a:blipFill>
            <a:blip r:embed="rId5"/>
            <a:stretch>
              <a:fillRect l="0" t="-50152" r="-144792" b="0"/>
            </a:stretch>
          </a:blipFill>
        </p:spPr>
      </p:sp>
      <p:sp>
        <p:nvSpPr>
          <p:cNvPr name="Freeform 10" id="10"/>
          <p:cNvSpPr/>
          <p:nvPr/>
        </p:nvSpPr>
        <p:spPr>
          <a:xfrm flipH="false" flipV="false" rot="0">
            <a:off x="5494043" y="4249216"/>
            <a:ext cx="4328428" cy="4527051"/>
          </a:xfrm>
          <a:custGeom>
            <a:avLst/>
            <a:gdLst/>
            <a:ahLst/>
            <a:cxnLst/>
            <a:rect r="r" b="b" t="t" l="l"/>
            <a:pathLst>
              <a:path h="4527051" w="4328428">
                <a:moveTo>
                  <a:pt x="0" y="0"/>
                </a:moveTo>
                <a:lnTo>
                  <a:pt x="4328428" y="0"/>
                </a:lnTo>
                <a:lnTo>
                  <a:pt x="4328428" y="4527051"/>
                </a:lnTo>
                <a:lnTo>
                  <a:pt x="0" y="4527051"/>
                </a:lnTo>
                <a:lnTo>
                  <a:pt x="0" y="0"/>
                </a:lnTo>
                <a:close/>
              </a:path>
            </a:pathLst>
          </a:custGeom>
          <a:blipFill>
            <a:blip r:embed="rId5"/>
            <a:stretch>
              <a:fillRect l="-88947" t="-45236" r="-121055" b="0"/>
            </a:stretch>
          </a:blipFill>
        </p:spPr>
      </p:sp>
      <p:sp>
        <p:nvSpPr>
          <p:cNvPr name="Freeform 11" id="11"/>
          <p:cNvSpPr/>
          <p:nvPr/>
        </p:nvSpPr>
        <p:spPr>
          <a:xfrm flipH="false" flipV="false" rot="0">
            <a:off x="6206813" y="3569062"/>
            <a:ext cx="3615658" cy="680154"/>
          </a:xfrm>
          <a:custGeom>
            <a:avLst/>
            <a:gdLst/>
            <a:ahLst/>
            <a:cxnLst/>
            <a:rect r="r" b="b" t="t" l="l"/>
            <a:pathLst>
              <a:path h="680154" w="3615658">
                <a:moveTo>
                  <a:pt x="0" y="0"/>
                </a:moveTo>
                <a:lnTo>
                  <a:pt x="3615658" y="0"/>
                </a:lnTo>
                <a:lnTo>
                  <a:pt x="3615658" y="680154"/>
                </a:lnTo>
                <a:lnTo>
                  <a:pt x="0" y="680154"/>
                </a:lnTo>
                <a:lnTo>
                  <a:pt x="0" y="0"/>
                </a:lnTo>
                <a:close/>
              </a:path>
            </a:pathLst>
          </a:custGeom>
          <a:blipFill>
            <a:blip r:embed="rId5"/>
            <a:stretch>
              <a:fillRect l="-126195" t="-201093" r="-144920" b="-665592"/>
            </a:stretch>
          </a:blipFill>
        </p:spPr>
      </p:sp>
      <p:sp>
        <p:nvSpPr>
          <p:cNvPr name="Freeform 12" id="12"/>
          <p:cNvSpPr/>
          <p:nvPr/>
        </p:nvSpPr>
        <p:spPr>
          <a:xfrm flipH="false" flipV="false" rot="0">
            <a:off x="11604441" y="3165979"/>
            <a:ext cx="4075207" cy="4378851"/>
          </a:xfrm>
          <a:custGeom>
            <a:avLst/>
            <a:gdLst/>
            <a:ahLst/>
            <a:cxnLst/>
            <a:rect r="r" b="b" t="t" l="l"/>
            <a:pathLst>
              <a:path h="4378851" w="4075207">
                <a:moveTo>
                  <a:pt x="0" y="0"/>
                </a:moveTo>
                <a:lnTo>
                  <a:pt x="4075207" y="0"/>
                </a:lnTo>
                <a:lnTo>
                  <a:pt x="4075207" y="4378851"/>
                </a:lnTo>
                <a:lnTo>
                  <a:pt x="0" y="4378851"/>
                </a:lnTo>
                <a:lnTo>
                  <a:pt x="0" y="0"/>
                </a:lnTo>
                <a:close/>
              </a:path>
            </a:pathLst>
          </a:custGeom>
          <a:blipFill>
            <a:blip r:embed="rId5"/>
            <a:stretch>
              <a:fillRect l="-220284" t="-43553" r="-8981" b="-6599"/>
            </a:stretch>
          </a:blipFill>
        </p:spPr>
      </p:sp>
      <p:sp>
        <p:nvSpPr>
          <p:cNvPr name="Freeform 13" id="1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
        <p:nvSpPr>
          <p:cNvPr name="Freeform 14" id="14"/>
          <p:cNvSpPr/>
          <p:nvPr/>
        </p:nvSpPr>
        <p:spPr>
          <a:xfrm flipH="false" flipV="false" rot="0">
            <a:off x="5108023" y="4800906"/>
            <a:ext cx="502344" cy="480503"/>
          </a:xfrm>
          <a:custGeom>
            <a:avLst/>
            <a:gdLst/>
            <a:ahLst/>
            <a:cxnLst/>
            <a:rect r="r" b="b" t="t" l="l"/>
            <a:pathLst>
              <a:path h="480503" w="502344">
                <a:moveTo>
                  <a:pt x="0" y="0"/>
                </a:moveTo>
                <a:lnTo>
                  <a:pt x="502344" y="0"/>
                </a:lnTo>
                <a:lnTo>
                  <a:pt x="502344" y="480503"/>
                </a:lnTo>
                <a:lnTo>
                  <a:pt x="0" y="480503"/>
                </a:lnTo>
                <a:lnTo>
                  <a:pt x="0" y="0"/>
                </a:lnTo>
                <a:close/>
              </a:path>
            </a:pathLst>
          </a:custGeom>
          <a:blipFill>
            <a:blip r:embed="rId7"/>
            <a:stretch>
              <a:fillRect l="0" t="0" r="0" b="0"/>
            </a:stretch>
          </a:blipFill>
        </p:spPr>
      </p:sp>
      <p:sp>
        <p:nvSpPr>
          <p:cNvPr name="TextBox 15" id="15"/>
          <p:cNvSpPr txBox="true"/>
          <p:nvPr/>
        </p:nvSpPr>
        <p:spPr>
          <a:xfrm rot="0">
            <a:off x="4168739" y="438150"/>
            <a:ext cx="16230600" cy="1047750"/>
          </a:xfrm>
          <a:prstGeom prst="rect">
            <a:avLst/>
          </a:prstGeom>
        </p:spPr>
        <p:txBody>
          <a:bodyPr anchor="t" rtlCol="false" tIns="0" lIns="0" bIns="0" rIns="0">
            <a:spAutoFit/>
          </a:bodyPr>
          <a:lstStyle/>
          <a:p>
            <a:pPr algn="ctr">
              <a:lnSpc>
                <a:spcPts val="8400"/>
              </a:lnSpc>
            </a:pPr>
            <a:r>
              <a:rPr lang="en-US" sz="6000">
                <a:solidFill>
                  <a:srgbClr val="000000"/>
                </a:solidFill>
                <a:latin typeface="Tomorrow"/>
                <a:ea typeface="Tomorrow"/>
                <a:cs typeface="Tomorrow"/>
                <a:sym typeface="Tomorrow"/>
              </a:rPr>
              <a:t>Highlight extraction process</a:t>
            </a:r>
          </a:p>
        </p:txBody>
      </p:sp>
      <p:sp>
        <p:nvSpPr>
          <p:cNvPr name="Freeform 16" id="16"/>
          <p:cNvSpPr/>
          <p:nvPr/>
        </p:nvSpPr>
        <p:spPr>
          <a:xfrm flipH="false" flipV="false" rot="0">
            <a:off x="11431065" y="7544830"/>
            <a:ext cx="3884929" cy="952725"/>
          </a:xfrm>
          <a:custGeom>
            <a:avLst/>
            <a:gdLst/>
            <a:ahLst/>
            <a:cxnLst/>
            <a:rect r="r" b="b" t="t" l="l"/>
            <a:pathLst>
              <a:path h="952725" w="3884929">
                <a:moveTo>
                  <a:pt x="0" y="0"/>
                </a:moveTo>
                <a:lnTo>
                  <a:pt x="3884929" y="0"/>
                </a:lnTo>
                <a:lnTo>
                  <a:pt x="3884929" y="952725"/>
                </a:lnTo>
                <a:lnTo>
                  <a:pt x="0" y="952725"/>
                </a:lnTo>
                <a:lnTo>
                  <a:pt x="0" y="0"/>
                </a:lnTo>
                <a:close/>
              </a:path>
            </a:pathLst>
          </a:custGeom>
          <a:blipFill>
            <a:blip r:embed="rId8"/>
            <a:stretch>
              <a:fillRect l="0" t="-25625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359472" y="8677918"/>
            <a:ext cx="4075207" cy="603098"/>
          </a:xfrm>
          <a:custGeom>
            <a:avLst/>
            <a:gdLst/>
            <a:ahLst/>
            <a:cxnLst/>
            <a:rect r="r" b="b" t="t" l="l"/>
            <a:pathLst>
              <a:path h="603098" w="4075207">
                <a:moveTo>
                  <a:pt x="0" y="0"/>
                </a:moveTo>
                <a:lnTo>
                  <a:pt x="4075207" y="0"/>
                </a:lnTo>
                <a:lnTo>
                  <a:pt x="4075207" y="603097"/>
                </a:lnTo>
                <a:lnTo>
                  <a:pt x="0" y="603097"/>
                </a:lnTo>
                <a:lnTo>
                  <a:pt x="0" y="0"/>
                </a:lnTo>
                <a:close/>
              </a:path>
            </a:pathLst>
          </a:custGeom>
          <a:blipFill>
            <a:blip r:embed="rId5"/>
            <a:stretch>
              <a:fillRect l="-220284" t="-868817" r="-8981" b="-121378"/>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
        <p:nvSpPr>
          <p:cNvPr name="Freeform 11" id="11"/>
          <p:cNvSpPr/>
          <p:nvPr/>
        </p:nvSpPr>
        <p:spPr>
          <a:xfrm flipH="false" flipV="false" rot="0">
            <a:off x="1860376" y="5353131"/>
            <a:ext cx="12927989" cy="2957277"/>
          </a:xfrm>
          <a:custGeom>
            <a:avLst/>
            <a:gdLst/>
            <a:ahLst/>
            <a:cxnLst/>
            <a:rect r="r" b="b" t="t" l="l"/>
            <a:pathLst>
              <a:path h="2957277" w="12927989">
                <a:moveTo>
                  <a:pt x="0" y="0"/>
                </a:moveTo>
                <a:lnTo>
                  <a:pt x="12927989" y="0"/>
                </a:lnTo>
                <a:lnTo>
                  <a:pt x="12927989" y="2957278"/>
                </a:lnTo>
                <a:lnTo>
                  <a:pt x="0" y="2957278"/>
                </a:lnTo>
                <a:lnTo>
                  <a:pt x="0" y="0"/>
                </a:lnTo>
                <a:close/>
              </a:path>
            </a:pathLst>
          </a:custGeom>
          <a:blipFill>
            <a:blip r:embed="rId7"/>
            <a:stretch>
              <a:fillRect l="0" t="0" r="0" b="0"/>
            </a:stretch>
          </a:blipFill>
        </p:spPr>
      </p:sp>
      <p:sp>
        <p:nvSpPr>
          <p:cNvPr name="TextBox 12" id="12"/>
          <p:cNvSpPr txBox="true"/>
          <p:nvPr/>
        </p:nvSpPr>
        <p:spPr>
          <a:xfrm rot="0">
            <a:off x="4168739" y="438150"/>
            <a:ext cx="16230600" cy="1047750"/>
          </a:xfrm>
          <a:prstGeom prst="rect">
            <a:avLst/>
          </a:prstGeom>
        </p:spPr>
        <p:txBody>
          <a:bodyPr anchor="t" rtlCol="false" tIns="0" lIns="0" bIns="0" rIns="0">
            <a:spAutoFit/>
          </a:bodyPr>
          <a:lstStyle/>
          <a:p>
            <a:pPr algn="ctr">
              <a:lnSpc>
                <a:spcPts val="8400"/>
              </a:lnSpc>
            </a:pPr>
            <a:r>
              <a:rPr lang="en-US" sz="6000">
                <a:solidFill>
                  <a:srgbClr val="000000"/>
                </a:solidFill>
                <a:latin typeface="Tomorrow"/>
                <a:ea typeface="Tomorrow"/>
                <a:cs typeface="Tomorrow"/>
                <a:sym typeface="Tomorrow"/>
              </a:rPr>
              <a:t>Highlight extraction process</a:t>
            </a:r>
          </a:p>
        </p:txBody>
      </p:sp>
      <p:sp>
        <p:nvSpPr>
          <p:cNvPr name="TextBox 13" id="13"/>
          <p:cNvSpPr txBox="true"/>
          <p:nvPr/>
        </p:nvSpPr>
        <p:spPr>
          <a:xfrm rot="0">
            <a:off x="1442278" y="2100841"/>
            <a:ext cx="13346087" cy="2585540"/>
          </a:xfrm>
          <a:prstGeom prst="rect">
            <a:avLst/>
          </a:prstGeom>
        </p:spPr>
        <p:txBody>
          <a:bodyPr anchor="t" rtlCol="false" tIns="0" lIns="0" bIns="0" rIns="0">
            <a:spAutoFit/>
          </a:bodyPr>
          <a:lstStyle/>
          <a:p>
            <a:pPr algn="l" marL="535957" indent="-267979" lvl="1">
              <a:lnSpc>
                <a:spcPts val="3475"/>
              </a:lnSpc>
              <a:buFont typeface="Arial"/>
              <a:buChar char="•"/>
            </a:pPr>
            <a:r>
              <a:rPr lang="en-US" sz="2482">
                <a:solidFill>
                  <a:srgbClr val="000000"/>
                </a:solidFill>
                <a:latin typeface="Garet Light"/>
                <a:ea typeface="Garet Light"/>
                <a:cs typeface="Garet Light"/>
                <a:sym typeface="Garet Light"/>
              </a:rPr>
              <a:t>When we extract an array of size [n_chunks] and each value is the attention weight of that chunk. </a:t>
            </a:r>
          </a:p>
          <a:p>
            <a:pPr algn="l" marL="535957" indent="-267979" lvl="1">
              <a:lnSpc>
                <a:spcPts val="3475"/>
              </a:lnSpc>
              <a:buFont typeface="Arial"/>
              <a:buChar char="•"/>
            </a:pPr>
            <a:r>
              <a:rPr lang="en-US" sz="2482">
                <a:solidFill>
                  <a:srgbClr val="000000"/>
                </a:solidFill>
                <a:latin typeface="Garet Light"/>
                <a:ea typeface="Garet Light"/>
                <a:cs typeface="Garet Light"/>
                <a:sym typeface="Garet Light"/>
              </a:rPr>
              <a:t>We repeat those values ​​3 times, now the size of this array will be equal to the number of seconds of the song because each segment is 3 seconds. </a:t>
            </a:r>
          </a:p>
          <a:p>
            <a:pPr algn="l" marL="535957" indent="-267979" lvl="1">
              <a:lnSpc>
                <a:spcPts val="3475"/>
              </a:lnSpc>
              <a:buFont typeface="Arial"/>
              <a:buChar char="•"/>
            </a:pPr>
            <a:r>
              <a:rPr lang="en-US" sz="2482">
                <a:solidFill>
                  <a:srgbClr val="000000"/>
                </a:solidFill>
                <a:latin typeface="Garet Light"/>
                <a:ea typeface="Garet Light"/>
                <a:cs typeface="Garet Light"/>
                <a:sym typeface="Garet Light"/>
              </a:rPr>
              <a:t>Next we find the 15s long segment with the largest number of attention points and return its index which will be the number of seconds starting in the song.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Training</a:t>
            </a:r>
          </a:p>
        </p:txBody>
      </p:sp>
      <p:sp>
        <p:nvSpPr>
          <p:cNvPr name="Freeform 3" id="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2"/>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496A8B"/>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5400000">
            <a:off x="8594725" y="2093721"/>
            <a:ext cx="18195748" cy="8461023"/>
          </a:xfrm>
          <a:custGeom>
            <a:avLst/>
            <a:gdLst/>
            <a:ahLst/>
            <a:cxnLst/>
            <a:rect r="r" b="b" t="t" l="l"/>
            <a:pathLst>
              <a:path h="8461023" w="18195748">
                <a:moveTo>
                  <a:pt x="0" y="0"/>
                </a:moveTo>
                <a:lnTo>
                  <a:pt x="18195748" y="0"/>
                </a:lnTo>
                <a:lnTo>
                  <a:pt x="18195748" y="8461023"/>
                </a:lnTo>
                <a:lnTo>
                  <a:pt x="0" y="8461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7779198">
            <a:off x="-4701793" y="6683458"/>
            <a:ext cx="18195748" cy="8461023"/>
          </a:xfrm>
          <a:custGeom>
            <a:avLst/>
            <a:gdLst/>
            <a:ahLst/>
            <a:cxnLst/>
            <a:rect r="r" b="b" t="t" l="l"/>
            <a:pathLst>
              <a:path h="8461023" w="18195748">
                <a:moveTo>
                  <a:pt x="0" y="0"/>
                </a:moveTo>
                <a:lnTo>
                  <a:pt x="18195748" y="0"/>
                </a:lnTo>
                <a:lnTo>
                  <a:pt x="18195748" y="8461023"/>
                </a:lnTo>
                <a:lnTo>
                  <a:pt x="0" y="8461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0" y="2826930"/>
            <a:ext cx="738450" cy="7772139"/>
            <a:chOff x="0" y="0"/>
            <a:chExt cx="194489" cy="2046983"/>
          </a:xfrm>
        </p:grpSpPr>
        <p:sp>
          <p:nvSpPr>
            <p:cNvPr name="Freeform 10" id="10"/>
            <p:cNvSpPr/>
            <p:nvPr/>
          </p:nvSpPr>
          <p:spPr>
            <a:xfrm flipH="false" flipV="false" rot="0">
              <a:off x="0" y="0"/>
              <a:ext cx="194489" cy="2046983"/>
            </a:xfrm>
            <a:custGeom>
              <a:avLst/>
              <a:gdLst/>
              <a:ahLst/>
              <a:cxnLst/>
              <a:rect r="r" b="b" t="t" l="l"/>
              <a:pathLst>
                <a:path h="2046983" w="194489">
                  <a:moveTo>
                    <a:pt x="0" y="0"/>
                  </a:moveTo>
                  <a:lnTo>
                    <a:pt x="194489" y="0"/>
                  </a:lnTo>
                  <a:lnTo>
                    <a:pt x="194489" y="2046983"/>
                  </a:lnTo>
                  <a:lnTo>
                    <a:pt x="0" y="2046983"/>
                  </a:lnTo>
                  <a:close/>
                </a:path>
              </a:pathLst>
            </a:custGeom>
            <a:solidFill>
              <a:srgbClr val="496A8B"/>
            </a:solidFill>
          </p:spPr>
        </p:sp>
        <p:sp>
          <p:nvSpPr>
            <p:cNvPr name="TextBox 11" id="11"/>
            <p:cNvSpPr txBox="true"/>
            <p:nvPr/>
          </p:nvSpPr>
          <p:spPr>
            <a:xfrm>
              <a:off x="0" y="-38100"/>
              <a:ext cx="194489" cy="2085083"/>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2627089" y="6508572"/>
            <a:ext cx="6701759" cy="6324024"/>
          </a:xfrm>
          <a:custGeom>
            <a:avLst/>
            <a:gdLst/>
            <a:ahLst/>
            <a:cxnLst/>
            <a:rect r="r" b="b" t="t" l="l"/>
            <a:pathLst>
              <a:path h="6324024" w="6701759">
                <a:moveTo>
                  <a:pt x="0" y="0"/>
                </a:moveTo>
                <a:lnTo>
                  <a:pt x="6701760" y="0"/>
                </a:lnTo>
                <a:lnTo>
                  <a:pt x="6701760" y="6324024"/>
                </a:lnTo>
                <a:lnTo>
                  <a:pt x="0" y="632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7704329" y="514350"/>
            <a:ext cx="1192202" cy="9258300"/>
            <a:chOff x="0" y="0"/>
            <a:chExt cx="313995" cy="2438400"/>
          </a:xfrm>
        </p:grpSpPr>
        <p:sp>
          <p:nvSpPr>
            <p:cNvPr name="Freeform 7" id="7"/>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8" id="8"/>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4005181" y="923925"/>
            <a:ext cx="10277638" cy="936614"/>
          </a:xfrm>
          <a:prstGeom prst="rect">
            <a:avLst/>
          </a:prstGeom>
        </p:spPr>
        <p:txBody>
          <a:bodyPr anchor="t" rtlCol="false" tIns="0" lIns="0" bIns="0" rIns="0">
            <a:spAutoFit/>
          </a:bodyPr>
          <a:lstStyle/>
          <a:p>
            <a:pPr algn="just">
              <a:lnSpc>
                <a:spcPts val="7700"/>
              </a:lnSpc>
            </a:pPr>
            <a:r>
              <a:rPr lang="en-US" sz="5500">
                <a:solidFill>
                  <a:srgbClr val="000000"/>
                </a:solidFill>
                <a:latin typeface="Tomorrow"/>
                <a:ea typeface="Tomorrow"/>
                <a:cs typeface="Tomorrow"/>
                <a:sym typeface="Tomorrow"/>
              </a:rPr>
              <a:t>Training dataset (CAL500)</a:t>
            </a:r>
          </a:p>
        </p:txBody>
      </p:sp>
      <p:sp>
        <p:nvSpPr>
          <p:cNvPr name="TextBox 10" id="10"/>
          <p:cNvSpPr txBox="true"/>
          <p:nvPr/>
        </p:nvSpPr>
        <p:spPr>
          <a:xfrm rot="0">
            <a:off x="6726334" y="2152307"/>
            <a:ext cx="3671358" cy="396240"/>
          </a:xfrm>
          <a:prstGeom prst="rect">
            <a:avLst/>
          </a:prstGeom>
        </p:spPr>
        <p:txBody>
          <a:bodyPr anchor="t" rtlCol="false" tIns="0" lIns="0" bIns="0" rIns="0">
            <a:spAutoFit/>
          </a:bodyPr>
          <a:lstStyle/>
          <a:p>
            <a:pPr algn="just">
              <a:lnSpc>
                <a:spcPts val="3359"/>
              </a:lnSpc>
              <a:spcBef>
                <a:spcPct val="0"/>
              </a:spcBef>
            </a:pPr>
            <a:r>
              <a:rPr lang="en-US" sz="2400">
                <a:solidFill>
                  <a:srgbClr val="000000"/>
                </a:solidFill>
                <a:latin typeface="Garet Light"/>
                <a:ea typeface="Garet Light"/>
                <a:cs typeface="Garet Light"/>
                <a:sym typeface="Garet Light"/>
              </a:rPr>
              <a:t>Author: Gert Lanckriet  </a:t>
            </a:r>
          </a:p>
        </p:txBody>
      </p:sp>
      <p:sp>
        <p:nvSpPr>
          <p:cNvPr name="TextBox 11" id="11"/>
          <p:cNvSpPr txBox="true"/>
          <p:nvPr/>
        </p:nvSpPr>
        <p:spPr>
          <a:xfrm rot="0">
            <a:off x="1028700" y="3237558"/>
            <a:ext cx="15066627" cy="1108710"/>
          </a:xfrm>
          <a:prstGeom prst="rect">
            <a:avLst/>
          </a:prstGeom>
        </p:spPr>
        <p:txBody>
          <a:bodyPr anchor="t" rtlCol="false" tIns="0" lIns="0" bIns="0" rIns="0">
            <a:spAutoFit/>
          </a:bodyPr>
          <a:lstStyle/>
          <a:p>
            <a:pPr algn="just">
              <a:lnSpc>
                <a:spcPts val="2940"/>
              </a:lnSpc>
              <a:spcBef>
                <a:spcPct val="0"/>
              </a:spcBef>
            </a:pPr>
            <a:r>
              <a:rPr lang="en-US" b="true" sz="2100">
                <a:solidFill>
                  <a:srgbClr val="000000"/>
                </a:solidFill>
                <a:latin typeface="Garet Bold"/>
                <a:ea typeface="Garet Bold"/>
                <a:cs typeface="Garet Bold"/>
                <a:sym typeface="Garet Bold"/>
              </a:rPr>
              <a:t>Description: </a:t>
            </a:r>
            <a:r>
              <a:rPr lang="en-US" sz="2100">
                <a:solidFill>
                  <a:srgbClr val="000000"/>
                </a:solidFill>
                <a:latin typeface="Garet"/>
                <a:ea typeface="Garet"/>
                <a:cs typeface="Garet"/>
                <a:sym typeface="Garet"/>
              </a:rPr>
              <a:t>The CAL500 dataset was designed to support research on semantic tagging of music, which involves automatically assigning descriptive labels to songs based on their audio features, such as emotions, genres, instruments, and other attributes.</a:t>
            </a:r>
          </a:p>
        </p:txBody>
      </p:sp>
      <p:sp>
        <p:nvSpPr>
          <p:cNvPr name="TextBox 12" id="12"/>
          <p:cNvSpPr txBox="true"/>
          <p:nvPr/>
        </p:nvSpPr>
        <p:spPr>
          <a:xfrm rot="0">
            <a:off x="1028700" y="4746318"/>
            <a:ext cx="15066627" cy="1480185"/>
          </a:xfrm>
          <a:prstGeom prst="rect">
            <a:avLst/>
          </a:prstGeom>
        </p:spPr>
        <p:txBody>
          <a:bodyPr anchor="t" rtlCol="false" tIns="0" lIns="0" bIns="0" rIns="0">
            <a:spAutoFit/>
          </a:bodyPr>
          <a:lstStyle/>
          <a:p>
            <a:pPr algn="just">
              <a:lnSpc>
                <a:spcPts val="2940"/>
              </a:lnSpc>
            </a:pPr>
            <a:r>
              <a:rPr lang="en-US" sz="2100" b="true">
                <a:solidFill>
                  <a:srgbClr val="000000"/>
                </a:solidFill>
                <a:latin typeface="Garet Bold"/>
                <a:ea typeface="Garet Bold"/>
                <a:cs typeface="Garet Bold"/>
                <a:sym typeface="Garet Bold"/>
              </a:rPr>
              <a:t>Content:</a:t>
            </a:r>
            <a:r>
              <a:rPr lang="en-US" sz="2100">
                <a:solidFill>
                  <a:srgbClr val="000000"/>
                </a:solidFill>
                <a:latin typeface="Garet"/>
                <a:ea typeface="Garet"/>
                <a:cs typeface="Garet"/>
                <a:sym typeface="Garet"/>
              </a:rPr>
              <a:t> The dataset contains 500 songs by various artists from different genres. The songs were selected to cover a diverse range of musical styles and categories.</a:t>
            </a:r>
          </a:p>
          <a:p>
            <a:pPr algn="just">
              <a:lnSpc>
                <a:spcPts val="2940"/>
              </a:lnSpc>
              <a:spcBef>
                <a:spcPct val="0"/>
              </a:spcBef>
            </a:pPr>
            <a:r>
              <a:rPr lang="en-US" sz="2100">
                <a:solidFill>
                  <a:srgbClr val="000000"/>
                </a:solidFill>
                <a:latin typeface="Garet"/>
                <a:ea typeface="Garet"/>
                <a:cs typeface="Garet"/>
                <a:sym typeface="Garet"/>
              </a:rPr>
              <a:t>Each song is annotated with 3 to 5 semantic tags provided by human listeners. These tags include various categories emotion, gender,Instruments and other semantic descriptions.</a:t>
            </a:r>
          </a:p>
        </p:txBody>
      </p:sp>
      <p:sp>
        <p:nvSpPr>
          <p:cNvPr name="TextBox 13" id="13"/>
          <p:cNvSpPr txBox="true"/>
          <p:nvPr/>
        </p:nvSpPr>
        <p:spPr>
          <a:xfrm rot="0">
            <a:off x="1028700" y="6626553"/>
            <a:ext cx="15066627" cy="1108710"/>
          </a:xfrm>
          <a:prstGeom prst="rect">
            <a:avLst/>
          </a:prstGeom>
        </p:spPr>
        <p:txBody>
          <a:bodyPr anchor="t" rtlCol="false" tIns="0" lIns="0" bIns="0" rIns="0">
            <a:spAutoFit/>
          </a:bodyPr>
          <a:lstStyle/>
          <a:p>
            <a:pPr algn="just">
              <a:lnSpc>
                <a:spcPts val="2940"/>
              </a:lnSpc>
              <a:spcBef>
                <a:spcPct val="0"/>
              </a:spcBef>
            </a:pPr>
            <a:r>
              <a:rPr lang="en-US" b="true" sz="2100">
                <a:solidFill>
                  <a:srgbClr val="000000"/>
                </a:solidFill>
                <a:latin typeface="Garet Bold"/>
                <a:ea typeface="Garet Bold"/>
                <a:cs typeface="Garet Bold"/>
                <a:sym typeface="Garet Bold"/>
              </a:rPr>
              <a:t>Human annotations: </a:t>
            </a:r>
            <a:r>
              <a:rPr lang="en-US" sz="2100">
                <a:solidFill>
                  <a:srgbClr val="000000"/>
                </a:solidFill>
                <a:latin typeface="Garet"/>
                <a:ea typeface="Garet"/>
                <a:cs typeface="Garet"/>
                <a:sym typeface="Garet"/>
              </a:rPr>
              <a:t>Each song in the CAL500 dataset is annotated by listeners who evaluate and tag the music based on its audio content. This results in a rich set of semantic labels that can be used in machine learning tasks related to music.</a:t>
            </a:r>
          </a:p>
        </p:txBody>
      </p:sp>
      <p:sp>
        <p:nvSpPr>
          <p:cNvPr name="Freeform 14" id="14"/>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24115" y="1246384"/>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gradFill rotWithShape="true">
              <a:gsLst>
                <a:gs pos="0">
                  <a:srgbClr val="CDFFD8">
                    <a:alpha val="100000"/>
                  </a:srgbClr>
                </a:gs>
                <a:gs pos="100000">
                  <a:srgbClr val="94B9FF">
                    <a:alpha val="100000"/>
                  </a:srgbClr>
                </a:gs>
              </a:gsLst>
              <a:lin ang="0"/>
            </a:gra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2702510" y="7490525"/>
            <a:ext cx="6701759" cy="6324024"/>
          </a:xfrm>
          <a:custGeom>
            <a:avLst/>
            <a:gdLst/>
            <a:ahLst/>
            <a:cxnLst/>
            <a:rect r="r" b="b" t="t" l="l"/>
            <a:pathLst>
              <a:path h="6324024" w="6701759">
                <a:moveTo>
                  <a:pt x="0" y="0"/>
                </a:moveTo>
                <a:lnTo>
                  <a:pt x="6701759" y="0"/>
                </a:lnTo>
                <a:lnTo>
                  <a:pt x="6701759" y="6324024"/>
                </a:lnTo>
                <a:lnTo>
                  <a:pt x="0" y="632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0" id="10"/>
          <p:cNvSpPr/>
          <p:nvPr/>
        </p:nvSpPr>
        <p:spPr>
          <a:xfrm flipH="false" flipV="false" rot="0">
            <a:off x="5341808" y="1885851"/>
            <a:ext cx="12271434" cy="5150551"/>
          </a:xfrm>
          <a:custGeom>
            <a:avLst/>
            <a:gdLst/>
            <a:ahLst/>
            <a:cxnLst/>
            <a:rect r="r" b="b" t="t" l="l"/>
            <a:pathLst>
              <a:path h="5150551" w="12271434">
                <a:moveTo>
                  <a:pt x="0" y="0"/>
                </a:moveTo>
                <a:lnTo>
                  <a:pt x="12271434" y="0"/>
                </a:lnTo>
                <a:lnTo>
                  <a:pt x="12271434" y="5150551"/>
                </a:lnTo>
                <a:lnTo>
                  <a:pt x="0" y="5150551"/>
                </a:lnTo>
                <a:lnTo>
                  <a:pt x="0" y="0"/>
                </a:lnTo>
                <a:close/>
              </a:path>
            </a:pathLst>
          </a:custGeom>
          <a:blipFill>
            <a:blip r:embed="rId6"/>
            <a:stretch>
              <a:fillRect l="-732" t="0" r="0" b="0"/>
            </a:stretch>
          </a:blipFill>
        </p:spPr>
      </p:sp>
      <p:sp>
        <p:nvSpPr>
          <p:cNvPr name="TextBox 11" id="11"/>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Training</a:t>
            </a:r>
          </a:p>
        </p:txBody>
      </p:sp>
      <p:sp>
        <p:nvSpPr>
          <p:cNvPr name="TextBox 12" id="12"/>
          <p:cNvSpPr txBox="true"/>
          <p:nvPr/>
        </p:nvSpPr>
        <p:spPr>
          <a:xfrm rot="0">
            <a:off x="765845" y="2558489"/>
            <a:ext cx="4394989" cy="7101840"/>
          </a:xfrm>
          <a:prstGeom prst="rect">
            <a:avLst/>
          </a:prstGeom>
        </p:spPr>
        <p:txBody>
          <a:bodyPr anchor="t" rtlCol="false" tIns="0" lIns="0" bIns="0" rIns="0">
            <a:spAutoFit/>
          </a:bodyPr>
          <a:lstStyle/>
          <a:p>
            <a:pPr algn="just">
              <a:lnSpc>
                <a:spcPts val="3359"/>
              </a:lnSpc>
            </a:pPr>
            <a:r>
              <a:rPr lang="en-US" sz="2400" b="true">
                <a:solidFill>
                  <a:srgbClr val="000000"/>
                </a:solidFill>
                <a:latin typeface="Garet Bold"/>
                <a:ea typeface="Garet Bold"/>
                <a:cs typeface="Garet Bold"/>
                <a:sym typeface="Garet Bold"/>
              </a:rPr>
              <a:t>Training dataset</a:t>
            </a:r>
            <a:r>
              <a:rPr lang="en-US" sz="2400">
                <a:solidFill>
                  <a:srgbClr val="000000"/>
                </a:solidFill>
                <a:latin typeface="Garet Light"/>
                <a:ea typeface="Garet Light"/>
                <a:cs typeface="Garet Light"/>
                <a:sym typeface="Garet Light"/>
              </a:rPr>
              <a:t>: Using 18 emotion labels of the CAL500.</a:t>
            </a:r>
          </a:p>
          <a:p>
            <a:pPr algn="just">
              <a:lnSpc>
                <a:spcPts val="3359"/>
              </a:lnSpc>
            </a:pPr>
          </a:p>
          <a:p>
            <a:pPr algn="just">
              <a:lnSpc>
                <a:spcPts val="3359"/>
              </a:lnSpc>
            </a:pPr>
            <a:r>
              <a:rPr lang="en-US" sz="2400" b="true">
                <a:solidFill>
                  <a:srgbClr val="000000"/>
                </a:solidFill>
                <a:latin typeface="Garet Bold"/>
                <a:ea typeface="Garet Bold"/>
                <a:cs typeface="Garet Bold"/>
                <a:sym typeface="Garet Bold"/>
              </a:rPr>
              <a:t>Epochs</a:t>
            </a:r>
            <a:r>
              <a:rPr lang="en-US" sz="2400">
                <a:solidFill>
                  <a:srgbClr val="000000"/>
                </a:solidFill>
                <a:latin typeface="Garet Light"/>
                <a:ea typeface="Garet Light"/>
                <a:cs typeface="Garet Light"/>
                <a:sym typeface="Garet Light"/>
              </a:rPr>
              <a:t>: 50</a:t>
            </a:r>
          </a:p>
          <a:p>
            <a:pPr algn="just">
              <a:lnSpc>
                <a:spcPts val="3359"/>
              </a:lnSpc>
            </a:pPr>
          </a:p>
          <a:p>
            <a:pPr algn="just">
              <a:lnSpc>
                <a:spcPts val="3359"/>
              </a:lnSpc>
            </a:pPr>
            <a:r>
              <a:rPr lang="en-US" sz="2400" b="true">
                <a:solidFill>
                  <a:srgbClr val="000000"/>
                </a:solidFill>
                <a:latin typeface="Garet Bold"/>
                <a:ea typeface="Garet Bold"/>
                <a:cs typeface="Garet Bold"/>
                <a:sym typeface="Garet Bold"/>
              </a:rPr>
              <a:t>Loss function</a:t>
            </a:r>
            <a:r>
              <a:rPr lang="en-US" sz="2400">
                <a:solidFill>
                  <a:srgbClr val="000000"/>
                </a:solidFill>
                <a:latin typeface="Garet Light"/>
                <a:ea typeface="Garet Light"/>
                <a:cs typeface="Garet Light"/>
                <a:sym typeface="Garet Light"/>
              </a:rPr>
              <a:t>:  Using cross-entropy to compute the loss between actual labels and predicions</a:t>
            </a:r>
          </a:p>
          <a:p>
            <a:pPr algn="just">
              <a:lnSpc>
                <a:spcPts val="3359"/>
              </a:lnSpc>
            </a:pPr>
          </a:p>
          <a:p>
            <a:pPr algn="just">
              <a:lnSpc>
                <a:spcPts val="3359"/>
              </a:lnSpc>
            </a:pPr>
            <a:r>
              <a:rPr lang="en-US" sz="2400" b="true">
                <a:solidFill>
                  <a:srgbClr val="000000"/>
                </a:solidFill>
                <a:latin typeface="Garet Bold"/>
                <a:ea typeface="Garet Bold"/>
                <a:cs typeface="Garet Bold"/>
                <a:sym typeface="Garet Bold"/>
              </a:rPr>
              <a:t>Optimizing the model</a:t>
            </a:r>
            <a:r>
              <a:rPr lang="en-US" sz="2400">
                <a:solidFill>
                  <a:srgbClr val="000000"/>
                </a:solidFill>
                <a:latin typeface="Garet Light"/>
                <a:ea typeface="Garet Light"/>
                <a:cs typeface="Garet Light"/>
                <a:sym typeface="Garet Light"/>
              </a:rPr>
              <a:t>: Using AdamOptimizer, with learning rate 0.001 to minimizing the loss during training.</a:t>
            </a:r>
          </a:p>
          <a:p>
            <a:pPr algn="just">
              <a:lnSpc>
                <a:spcPts val="335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Evaluation</a:t>
            </a:r>
          </a:p>
        </p:txBody>
      </p:sp>
      <p:sp>
        <p:nvSpPr>
          <p:cNvPr name="Freeform 3" id="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2"/>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496A8B"/>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5400000">
            <a:off x="8594725" y="2093721"/>
            <a:ext cx="18195748" cy="8461023"/>
          </a:xfrm>
          <a:custGeom>
            <a:avLst/>
            <a:gdLst/>
            <a:ahLst/>
            <a:cxnLst/>
            <a:rect r="r" b="b" t="t" l="l"/>
            <a:pathLst>
              <a:path h="8461023" w="18195748">
                <a:moveTo>
                  <a:pt x="0" y="0"/>
                </a:moveTo>
                <a:lnTo>
                  <a:pt x="18195748" y="0"/>
                </a:lnTo>
                <a:lnTo>
                  <a:pt x="18195748" y="8461023"/>
                </a:lnTo>
                <a:lnTo>
                  <a:pt x="0" y="8461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7779198">
            <a:off x="-4701793" y="6683458"/>
            <a:ext cx="18195748" cy="8461023"/>
          </a:xfrm>
          <a:custGeom>
            <a:avLst/>
            <a:gdLst/>
            <a:ahLst/>
            <a:cxnLst/>
            <a:rect r="r" b="b" t="t" l="l"/>
            <a:pathLst>
              <a:path h="8461023" w="18195748">
                <a:moveTo>
                  <a:pt x="0" y="0"/>
                </a:moveTo>
                <a:lnTo>
                  <a:pt x="18195748" y="0"/>
                </a:lnTo>
                <a:lnTo>
                  <a:pt x="18195748" y="8461023"/>
                </a:lnTo>
                <a:lnTo>
                  <a:pt x="0" y="8461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0" y="2826930"/>
            <a:ext cx="738450" cy="7772139"/>
            <a:chOff x="0" y="0"/>
            <a:chExt cx="194489" cy="2046983"/>
          </a:xfrm>
        </p:grpSpPr>
        <p:sp>
          <p:nvSpPr>
            <p:cNvPr name="Freeform 10" id="10"/>
            <p:cNvSpPr/>
            <p:nvPr/>
          </p:nvSpPr>
          <p:spPr>
            <a:xfrm flipH="false" flipV="false" rot="0">
              <a:off x="0" y="0"/>
              <a:ext cx="194489" cy="2046983"/>
            </a:xfrm>
            <a:custGeom>
              <a:avLst/>
              <a:gdLst/>
              <a:ahLst/>
              <a:cxnLst/>
              <a:rect r="r" b="b" t="t" l="l"/>
              <a:pathLst>
                <a:path h="2046983" w="194489">
                  <a:moveTo>
                    <a:pt x="0" y="0"/>
                  </a:moveTo>
                  <a:lnTo>
                    <a:pt x="194489" y="0"/>
                  </a:lnTo>
                  <a:lnTo>
                    <a:pt x="194489" y="2046983"/>
                  </a:lnTo>
                  <a:lnTo>
                    <a:pt x="0" y="2046983"/>
                  </a:lnTo>
                  <a:close/>
                </a:path>
              </a:pathLst>
            </a:custGeom>
            <a:solidFill>
              <a:srgbClr val="496A8B"/>
            </a:solidFill>
          </p:spPr>
        </p:sp>
        <p:sp>
          <p:nvSpPr>
            <p:cNvPr name="TextBox 11" id="11"/>
            <p:cNvSpPr txBox="true"/>
            <p:nvPr/>
          </p:nvSpPr>
          <p:spPr>
            <a:xfrm>
              <a:off x="0" y="-38100"/>
              <a:ext cx="194489" cy="2085083"/>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028700" y="6905069"/>
            <a:ext cx="6701759" cy="6324024"/>
          </a:xfrm>
          <a:custGeom>
            <a:avLst/>
            <a:gdLst/>
            <a:ahLst/>
            <a:cxnLst/>
            <a:rect r="r" b="b" t="t" l="l"/>
            <a:pathLst>
              <a:path h="6324024" w="6701759">
                <a:moveTo>
                  <a:pt x="0" y="0"/>
                </a:moveTo>
                <a:lnTo>
                  <a:pt x="6701759" y="0"/>
                </a:lnTo>
                <a:lnTo>
                  <a:pt x="6701759"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221435" y="5301474"/>
            <a:ext cx="10527591" cy="802797"/>
          </a:xfrm>
          <a:custGeom>
            <a:avLst/>
            <a:gdLst/>
            <a:ahLst/>
            <a:cxnLst/>
            <a:rect r="r" b="b" t="t" l="l"/>
            <a:pathLst>
              <a:path h="802797" w="10527591">
                <a:moveTo>
                  <a:pt x="0" y="0"/>
                </a:moveTo>
                <a:lnTo>
                  <a:pt x="10527591" y="0"/>
                </a:lnTo>
                <a:lnTo>
                  <a:pt x="10527591" y="802797"/>
                </a:lnTo>
                <a:lnTo>
                  <a:pt x="0" y="802797"/>
                </a:lnTo>
                <a:lnTo>
                  <a:pt x="0" y="0"/>
                </a:lnTo>
                <a:close/>
              </a:path>
            </a:pathLst>
          </a:custGeom>
          <a:blipFill>
            <a:blip r:embed="rId5"/>
            <a:stretch>
              <a:fillRect l="0" t="0" r="0" b="0"/>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
        <p:nvSpPr>
          <p:cNvPr name="Freeform 11" id="11"/>
          <p:cNvSpPr/>
          <p:nvPr/>
        </p:nvSpPr>
        <p:spPr>
          <a:xfrm flipH="false" flipV="false" rot="0">
            <a:off x="12846636" y="1437248"/>
            <a:ext cx="3948246" cy="7048472"/>
          </a:xfrm>
          <a:custGeom>
            <a:avLst/>
            <a:gdLst/>
            <a:ahLst/>
            <a:cxnLst/>
            <a:rect r="r" b="b" t="t" l="l"/>
            <a:pathLst>
              <a:path h="7048472" w="3948246">
                <a:moveTo>
                  <a:pt x="0" y="0"/>
                </a:moveTo>
                <a:lnTo>
                  <a:pt x="3948246" y="0"/>
                </a:lnTo>
                <a:lnTo>
                  <a:pt x="3948246" y="7048472"/>
                </a:lnTo>
                <a:lnTo>
                  <a:pt x="0" y="7048472"/>
                </a:lnTo>
                <a:lnTo>
                  <a:pt x="0" y="0"/>
                </a:lnTo>
                <a:close/>
              </a:path>
            </a:pathLst>
          </a:custGeom>
          <a:blipFill>
            <a:blip r:embed="rId7"/>
            <a:stretch>
              <a:fillRect l="0" t="0" r="0" b="0"/>
            </a:stretch>
          </a:blipFill>
        </p:spPr>
      </p:sp>
      <p:sp>
        <p:nvSpPr>
          <p:cNvPr name="TextBox 12" id="12"/>
          <p:cNvSpPr txBox="true"/>
          <p:nvPr/>
        </p:nvSpPr>
        <p:spPr>
          <a:xfrm rot="0">
            <a:off x="4092371" y="-14806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Evaluation</a:t>
            </a:r>
          </a:p>
        </p:txBody>
      </p:sp>
      <p:sp>
        <p:nvSpPr>
          <p:cNvPr name="TextBox 13" id="13"/>
          <p:cNvSpPr txBox="true"/>
          <p:nvPr/>
        </p:nvSpPr>
        <p:spPr>
          <a:xfrm rot="0">
            <a:off x="1028700" y="1746830"/>
            <a:ext cx="10913061" cy="20726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Garet Bold"/>
                <a:ea typeface="Garet Bold"/>
                <a:cs typeface="Garet Bold"/>
                <a:sym typeface="Garet Bold"/>
              </a:rPr>
              <a:t>Evaluation dataset</a:t>
            </a:r>
            <a:r>
              <a:rPr lang="en-US" sz="2400">
                <a:solidFill>
                  <a:srgbClr val="000000"/>
                </a:solidFill>
                <a:latin typeface="Garet Light"/>
                <a:ea typeface="Garet Light"/>
                <a:cs typeface="Garet Light"/>
                <a:sym typeface="Garet Light"/>
              </a:rPr>
              <a:t>: The evaluation dataset contains 100 Vietnamese songs. Each song includes 3 labels which are the highlight of that song, each label has a start time and a duration of 15s. The dataset was manually collected and labeled based on the highlight from Facebook’s music insertion feature for story.</a:t>
            </a:r>
          </a:p>
        </p:txBody>
      </p:sp>
      <p:sp>
        <p:nvSpPr>
          <p:cNvPr name="TextBox 14" id="14"/>
          <p:cNvSpPr txBox="true"/>
          <p:nvPr/>
        </p:nvSpPr>
        <p:spPr>
          <a:xfrm rot="0">
            <a:off x="1028700" y="4455654"/>
            <a:ext cx="3246197" cy="1653540"/>
          </a:xfrm>
          <a:prstGeom prst="rect">
            <a:avLst/>
          </a:prstGeom>
        </p:spPr>
        <p:txBody>
          <a:bodyPr anchor="t" rtlCol="false" tIns="0" lIns="0" bIns="0" rIns="0">
            <a:spAutoFit/>
          </a:bodyPr>
          <a:lstStyle/>
          <a:p>
            <a:pPr algn="just">
              <a:lnSpc>
                <a:spcPts val="3359"/>
              </a:lnSpc>
            </a:pPr>
            <a:r>
              <a:rPr lang="en-US" sz="2400" b="true">
                <a:solidFill>
                  <a:srgbClr val="000000"/>
                </a:solidFill>
                <a:latin typeface="Garet Bold"/>
                <a:ea typeface="Garet Bold"/>
                <a:cs typeface="Garet Bold"/>
                <a:sym typeface="Garet Bold"/>
              </a:rPr>
              <a:t>Evaluation method</a:t>
            </a:r>
            <a:r>
              <a:rPr lang="en-US" sz="2400">
                <a:solidFill>
                  <a:srgbClr val="000000"/>
                </a:solidFill>
                <a:latin typeface="Garet Light"/>
                <a:ea typeface="Garet Light"/>
                <a:cs typeface="Garet Light"/>
                <a:sym typeface="Garet Light"/>
              </a:rPr>
              <a:t>: </a:t>
            </a:r>
          </a:p>
          <a:p>
            <a:pPr algn="just">
              <a:lnSpc>
                <a:spcPts val="3359"/>
              </a:lnSpc>
            </a:pPr>
          </a:p>
          <a:p>
            <a:pPr algn="just">
              <a:lnSpc>
                <a:spcPts val="3359"/>
              </a:lnSpc>
            </a:pPr>
          </a:p>
          <a:p>
            <a:pPr algn="just">
              <a:lnSpc>
                <a:spcPts val="3359"/>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1785147" y="7298826"/>
            <a:ext cx="6701759" cy="6324024"/>
          </a:xfrm>
          <a:custGeom>
            <a:avLst/>
            <a:gdLst/>
            <a:ahLst/>
            <a:cxnLst/>
            <a:rect r="r" b="b" t="t" l="l"/>
            <a:pathLst>
              <a:path h="6324024" w="6701759">
                <a:moveTo>
                  <a:pt x="0" y="0"/>
                </a:moveTo>
                <a:lnTo>
                  <a:pt x="6701759" y="0"/>
                </a:lnTo>
                <a:lnTo>
                  <a:pt x="6701759" y="6324024"/>
                </a:lnTo>
                <a:lnTo>
                  <a:pt x="0" y="632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9" id="9"/>
          <p:cNvGraphicFramePr>
            <a:graphicFrameLocks noGrp="true"/>
          </p:cNvGraphicFramePr>
          <p:nvPr/>
        </p:nvGraphicFramePr>
        <p:xfrm>
          <a:off x="686387" y="2631576"/>
          <a:ext cx="7315200" cy="4676775"/>
        </p:xfrm>
        <a:graphic>
          <a:graphicData uri="http://schemas.openxmlformats.org/drawingml/2006/table">
            <a:tbl>
              <a:tblPr/>
              <a:tblGrid>
                <a:gridCol w="3657600"/>
                <a:gridCol w="3657600"/>
              </a:tblGrid>
              <a:tr h="797068">
                <a:tc>
                  <a:txBody>
                    <a:bodyPr anchor="t" rtlCol="false"/>
                    <a:lstStyle/>
                    <a:p>
                      <a:pPr algn="ctr">
                        <a:lnSpc>
                          <a:spcPts val="2520"/>
                        </a:lnSpc>
                        <a:defRPr/>
                      </a:pPr>
                      <a:r>
                        <a:rPr lang="en-US" sz="1800" b="true">
                          <a:solidFill>
                            <a:srgbClr val="000000"/>
                          </a:solidFill>
                          <a:latin typeface="Garet Bold"/>
                          <a:ea typeface="Garet Bold"/>
                          <a:cs typeface="Garet Bold"/>
                          <a:sym typeface="Garet Bold"/>
                        </a:rPr>
                        <a:t>Method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Garet Bold"/>
                          <a:ea typeface="Garet Bold"/>
                          <a:cs typeface="Garet Bold"/>
                          <a:sym typeface="Garet Bold"/>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7068">
                <a:tc>
                  <a:txBody>
                    <a:bodyPr anchor="t" rtlCol="false"/>
                    <a:lstStyle/>
                    <a:p>
                      <a:pPr algn="ctr">
                        <a:lnSpc>
                          <a:spcPts val="2520"/>
                        </a:lnSpc>
                        <a:defRPr/>
                      </a:pPr>
                      <a:r>
                        <a:rPr lang="en-US" sz="1800">
                          <a:solidFill>
                            <a:srgbClr val="000000"/>
                          </a:solidFill>
                          <a:latin typeface="Garet"/>
                          <a:ea typeface="Garet"/>
                          <a:cs typeface="Garet"/>
                          <a:sym typeface="Garet"/>
                        </a:rPr>
                        <a:t>Emotion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Garet"/>
                          <a:ea typeface="Garet"/>
                          <a:cs typeface="Garet"/>
                          <a:sym typeface="Garet"/>
                        </a:rPr>
                        <a:t>0.76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546">
                <a:tc>
                  <a:txBody>
                    <a:bodyPr anchor="t" rtlCol="false"/>
                    <a:lstStyle/>
                    <a:p>
                      <a:pPr algn="ctr">
                        <a:lnSpc>
                          <a:spcPts val="2520"/>
                        </a:lnSpc>
                        <a:defRPr/>
                      </a:pPr>
                      <a:r>
                        <a:rPr lang="en-US" sz="1800">
                          <a:solidFill>
                            <a:srgbClr val="000000"/>
                          </a:solidFill>
                          <a:latin typeface="Garet"/>
                          <a:ea typeface="Garet"/>
                          <a:cs typeface="Garet"/>
                          <a:sym typeface="Garet"/>
                        </a:rPr>
                        <a:t>Spectral energy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Garet"/>
                          <a:ea typeface="Garet"/>
                          <a:cs typeface="Garet"/>
                          <a:sym typeface="Garet"/>
                        </a:rPr>
                        <a:t>0.53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546">
                <a:tc>
                  <a:txBody>
                    <a:bodyPr anchor="t" rtlCol="false"/>
                    <a:lstStyle/>
                    <a:p>
                      <a:pPr algn="ctr">
                        <a:lnSpc>
                          <a:spcPts val="2520"/>
                        </a:lnSpc>
                        <a:defRPr/>
                      </a:pPr>
                      <a:r>
                        <a:rPr lang="en-US" sz="1800">
                          <a:solidFill>
                            <a:srgbClr val="000000"/>
                          </a:solidFill>
                          <a:latin typeface="Garet"/>
                          <a:ea typeface="Garet"/>
                          <a:cs typeface="Garet"/>
                          <a:sym typeface="Garet"/>
                        </a:rPr>
                        <a:t>Spectral centroid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Garet"/>
                          <a:ea typeface="Garet"/>
                          <a:cs typeface="Garet"/>
                          <a:sym typeface="Garet"/>
                        </a:rPr>
                        <a:t>0.47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546">
                <a:tc>
                  <a:txBody>
                    <a:bodyPr anchor="t" rtlCol="false"/>
                    <a:lstStyle/>
                    <a:p>
                      <a:pPr algn="ctr">
                        <a:lnSpc>
                          <a:spcPts val="2520"/>
                        </a:lnSpc>
                        <a:defRPr/>
                      </a:pPr>
                      <a:r>
                        <a:rPr lang="en-US" sz="1800">
                          <a:solidFill>
                            <a:srgbClr val="000000"/>
                          </a:solidFill>
                          <a:latin typeface="Garet"/>
                          <a:ea typeface="Garet"/>
                          <a:cs typeface="Garet"/>
                          <a:sym typeface="Garet"/>
                        </a:rPr>
                        <a:t>Spectral roll-off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Garet"/>
                          <a:ea typeface="Garet"/>
                          <a:cs typeface="Garet"/>
                          <a:sym typeface="Garet"/>
                        </a:rPr>
                        <a:t>0.53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Evaluation</a:t>
            </a:r>
          </a:p>
        </p:txBody>
      </p:sp>
      <p:sp>
        <p:nvSpPr>
          <p:cNvPr name="TextBox 11" id="11"/>
          <p:cNvSpPr txBox="true"/>
          <p:nvPr/>
        </p:nvSpPr>
        <p:spPr>
          <a:xfrm rot="0">
            <a:off x="686387" y="1785756"/>
            <a:ext cx="3246197" cy="1653540"/>
          </a:xfrm>
          <a:prstGeom prst="rect">
            <a:avLst/>
          </a:prstGeom>
        </p:spPr>
        <p:txBody>
          <a:bodyPr anchor="t" rtlCol="false" tIns="0" lIns="0" bIns="0" rIns="0">
            <a:spAutoFit/>
          </a:bodyPr>
          <a:lstStyle/>
          <a:p>
            <a:pPr algn="just">
              <a:lnSpc>
                <a:spcPts val="3359"/>
              </a:lnSpc>
            </a:pPr>
            <a:r>
              <a:rPr lang="en-US" sz="2400" b="true">
                <a:solidFill>
                  <a:srgbClr val="000000"/>
                </a:solidFill>
                <a:latin typeface="Garet Bold"/>
                <a:ea typeface="Garet Bold"/>
                <a:cs typeface="Garet Bold"/>
                <a:sym typeface="Garet Bold"/>
              </a:rPr>
              <a:t>Evaluation result</a:t>
            </a:r>
            <a:r>
              <a:rPr lang="en-US" sz="2400">
                <a:solidFill>
                  <a:srgbClr val="000000"/>
                </a:solidFill>
                <a:latin typeface="Garet Light"/>
                <a:ea typeface="Garet Light"/>
                <a:cs typeface="Garet Light"/>
                <a:sym typeface="Garet Light"/>
              </a:rPr>
              <a:t>: </a:t>
            </a:r>
          </a:p>
          <a:p>
            <a:pPr algn="just">
              <a:lnSpc>
                <a:spcPts val="3359"/>
              </a:lnSpc>
            </a:pPr>
          </a:p>
          <a:p>
            <a:pPr algn="just">
              <a:lnSpc>
                <a:spcPts val="3359"/>
              </a:lnSpc>
            </a:pPr>
          </a:p>
          <a:p>
            <a:pPr algn="just">
              <a:lnSpc>
                <a:spcPts val="3359"/>
              </a:lnSpc>
              <a:spcBef>
                <a:spcPct val="0"/>
              </a:spcBef>
            </a:pPr>
          </a:p>
        </p:txBody>
      </p:sp>
      <p:sp>
        <p:nvSpPr>
          <p:cNvPr name="Freeform 12" id="12"/>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TextBox 13" id="13"/>
          <p:cNvSpPr txBox="true"/>
          <p:nvPr/>
        </p:nvSpPr>
        <p:spPr>
          <a:xfrm rot="0">
            <a:off x="8883730" y="2623956"/>
            <a:ext cx="8375570" cy="8153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Garet Bold"/>
                <a:ea typeface="Garet Bold"/>
                <a:cs typeface="Garet Bold"/>
                <a:sym typeface="Garet Bold"/>
              </a:rPr>
              <a:t>Spectral energy: </a:t>
            </a:r>
            <a:r>
              <a:rPr lang="en-US" sz="2400">
                <a:solidFill>
                  <a:srgbClr val="000000"/>
                </a:solidFill>
                <a:latin typeface="Garet"/>
                <a:ea typeface="Garet"/>
                <a:cs typeface="Garet"/>
                <a:sym typeface="Garet"/>
              </a:rPr>
              <a:t>the total energy of an audio signal in the frequency domain.</a:t>
            </a:r>
          </a:p>
        </p:txBody>
      </p:sp>
      <p:sp>
        <p:nvSpPr>
          <p:cNvPr name="TextBox 14" id="14"/>
          <p:cNvSpPr txBox="true"/>
          <p:nvPr/>
        </p:nvSpPr>
        <p:spPr>
          <a:xfrm rot="0">
            <a:off x="8883730" y="3715521"/>
            <a:ext cx="8375570" cy="16535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Garet Bold"/>
                <a:ea typeface="Garet Bold"/>
                <a:cs typeface="Garet Bold"/>
                <a:sym typeface="Garet Bold"/>
              </a:rPr>
              <a:t>Spectral centroid: </a:t>
            </a:r>
            <a:r>
              <a:rPr lang="en-US" sz="2400">
                <a:solidFill>
                  <a:srgbClr val="000000"/>
                </a:solidFill>
                <a:latin typeface="Garet"/>
                <a:ea typeface="Garet"/>
                <a:cs typeface="Garet"/>
                <a:sym typeface="Garet"/>
              </a:rPr>
              <a:t>an index that measures the average position of energy in the frequency spectrum. It represents the center of the frequency spectrum.</a:t>
            </a:r>
          </a:p>
        </p:txBody>
      </p:sp>
      <p:sp>
        <p:nvSpPr>
          <p:cNvPr name="TextBox 15" id="15"/>
          <p:cNvSpPr txBox="true"/>
          <p:nvPr/>
        </p:nvSpPr>
        <p:spPr>
          <a:xfrm rot="0">
            <a:off x="8883730" y="5645286"/>
            <a:ext cx="8375570" cy="16535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Garet Bold"/>
                <a:ea typeface="Garet Bold"/>
                <a:cs typeface="Garet Bold"/>
                <a:sym typeface="Garet Bold"/>
              </a:rPr>
              <a:t>Spectral roll-of: </a:t>
            </a:r>
            <a:r>
              <a:rPr lang="en-US" sz="2400">
                <a:solidFill>
                  <a:srgbClr val="000000"/>
                </a:solidFill>
                <a:latin typeface="Garet"/>
                <a:ea typeface="Garet"/>
                <a:cs typeface="Garet"/>
                <a:sym typeface="Garet"/>
              </a:rPr>
              <a:t>the frequency at which a certain precentage of the total energy in the frequency spectrum is accumulated, reflecting the energy distribution of the signal.</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Conclusion</a:t>
            </a:r>
          </a:p>
        </p:txBody>
      </p:sp>
      <p:sp>
        <p:nvSpPr>
          <p:cNvPr name="Freeform 3" id="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2"/>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496A8B"/>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5400000">
            <a:off x="8594725" y="2093721"/>
            <a:ext cx="18195748" cy="8461023"/>
          </a:xfrm>
          <a:custGeom>
            <a:avLst/>
            <a:gdLst/>
            <a:ahLst/>
            <a:cxnLst/>
            <a:rect r="r" b="b" t="t" l="l"/>
            <a:pathLst>
              <a:path h="8461023" w="18195748">
                <a:moveTo>
                  <a:pt x="0" y="0"/>
                </a:moveTo>
                <a:lnTo>
                  <a:pt x="18195748" y="0"/>
                </a:lnTo>
                <a:lnTo>
                  <a:pt x="18195748" y="8461023"/>
                </a:lnTo>
                <a:lnTo>
                  <a:pt x="0" y="8461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7779198">
            <a:off x="-4701793" y="6683458"/>
            <a:ext cx="18195748" cy="8461023"/>
          </a:xfrm>
          <a:custGeom>
            <a:avLst/>
            <a:gdLst/>
            <a:ahLst/>
            <a:cxnLst/>
            <a:rect r="r" b="b" t="t" l="l"/>
            <a:pathLst>
              <a:path h="8461023" w="18195748">
                <a:moveTo>
                  <a:pt x="0" y="0"/>
                </a:moveTo>
                <a:lnTo>
                  <a:pt x="18195748" y="0"/>
                </a:lnTo>
                <a:lnTo>
                  <a:pt x="18195748" y="8461023"/>
                </a:lnTo>
                <a:lnTo>
                  <a:pt x="0" y="8461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0" y="2826930"/>
            <a:ext cx="738450" cy="7772139"/>
            <a:chOff x="0" y="0"/>
            <a:chExt cx="194489" cy="2046983"/>
          </a:xfrm>
        </p:grpSpPr>
        <p:sp>
          <p:nvSpPr>
            <p:cNvPr name="Freeform 10" id="10"/>
            <p:cNvSpPr/>
            <p:nvPr/>
          </p:nvSpPr>
          <p:spPr>
            <a:xfrm flipH="false" flipV="false" rot="0">
              <a:off x="0" y="0"/>
              <a:ext cx="194489" cy="2046983"/>
            </a:xfrm>
            <a:custGeom>
              <a:avLst/>
              <a:gdLst/>
              <a:ahLst/>
              <a:cxnLst/>
              <a:rect r="r" b="b" t="t" l="l"/>
              <a:pathLst>
                <a:path h="2046983" w="194489">
                  <a:moveTo>
                    <a:pt x="0" y="0"/>
                  </a:moveTo>
                  <a:lnTo>
                    <a:pt x="194489" y="0"/>
                  </a:lnTo>
                  <a:lnTo>
                    <a:pt x="194489" y="2046983"/>
                  </a:lnTo>
                  <a:lnTo>
                    <a:pt x="0" y="2046983"/>
                  </a:lnTo>
                  <a:close/>
                </a:path>
              </a:pathLst>
            </a:custGeom>
            <a:solidFill>
              <a:srgbClr val="496A8B"/>
            </a:solidFill>
          </p:spPr>
        </p:sp>
        <p:sp>
          <p:nvSpPr>
            <p:cNvPr name="TextBox 11" id="11"/>
            <p:cNvSpPr txBox="true"/>
            <p:nvPr/>
          </p:nvSpPr>
          <p:spPr>
            <a:xfrm>
              <a:off x="0" y="-38100"/>
              <a:ext cx="194489" cy="2085083"/>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5CE1E6"/>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1D56A7"/>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1586241" y="6096288"/>
            <a:ext cx="6701759" cy="6324024"/>
          </a:xfrm>
          <a:custGeom>
            <a:avLst/>
            <a:gdLst/>
            <a:ahLst/>
            <a:cxnLst/>
            <a:rect r="r" b="b" t="t" l="l"/>
            <a:pathLst>
              <a:path h="6324024" w="6701759">
                <a:moveTo>
                  <a:pt x="0" y="0"/>
                </a:moveTo>
                <a:lnTo>
                  <a:pt x="6701759" y="0"/>
                </a:lnTo>
                <a:lnTo>
                  <a:pt x="6701759" y="6324024"/>
                </a:lnTo>
                <a:lnTo>
                  <a:pt x="0" y="632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808793" y="1796415"/>
            <a:ext cx="14670414" cy="6646545"/>
          </a:xfrm>
          <a:prstGeom prst="rect">
            <a:avLst/>
          </a:prstGeom>
        </p:spPr>
        <p:txBody>
          <a:bodyPr anchor="t" rtlCol="false" tIns="0" lIns="0" bIns="0" rIns="0">
            <a:spAutoFit/>
          </a:bodyPr>
          <a:lstStyle/>
          <a:p>
            <a:pPr algn="just">
              <a:lnSpc>
                <a:spcPts val="3779"/>
              </a:lnSpc>
            </a:pPr>
            <a:r>
              <a:rPr lang="en-US" sz="2699" b="true">
                <a:solidFill>
                  <a:srgbClr val="000000"/>
                </a:solidFill>
                <a:latin typeface="Garet Bold"/>
                <a:ea typeface="Garet Bold"/>
                <a:cs typeface="Garet Bold"/>
                <a:sym typeface="Garet Bold"/>
              </a:rPr>
              <a:t>Conclusion</a:t>
            </a:r>
          </a:p>
          <a:p>
            <a:pPr algn="just" marL="582928" indent="-291464" lvl="1">
              <a:lnSpc>
                <a:spcPts val="3779"/>
              </a:lnSpc>
              <a:buFont typeface="Arial"/>
              <a:buChar char="•"/>
            </a:pPr>
            <a:r>
              <a:rPr lang="en-US" sz="2699" i="true">
                <a:solidFill>
                  <a:srgbClr val="000000"/>
                </a:solidFill>
                <a:latin typeface="Garet Italics"/>
                <a:ea typeface="Garet Italics"/>
                <a:cs typeface="Garet Italics"/>
                <a:sym typeface="Garet Italics"/>
              </a:rPr>
              <a:t>Developed a deep learning-based approach using music emotion classification to extract song highlights</a:t>
            </a:r>
          </a:p>
          <a:p>
            <a:pPr algn="just" marL="582928" indent="-291464" lvl="1">
              <a:lnSpc>
                <a:spcPts val="3779"/>
              </a:lnSpc>
              <a:buFont typeface="Arial"/>
              <a:buChar char="•"/>
            </a:pPr>
            <a:r>
              <a:rPr lang="en-US" sz="2699" i="true">
                <a:solidFill>
                  <a:srgbClr val="000000"/>
                </a:solidFill>
                <a:latin typeface="Garet Italics"/>
                <a:ea typeface="Garet Italics"/>
                <a:cs typeface="Garet Italics"/>
                <a:sym typeface="Garet Italics"/>
              </a:rPr>
              <a:t>The model significantly outperforms traditional methods</a:t>
            </a:r>
          </a:p>
          <a:p>
            <a:pPr algn="just" marL="582928" indent="-291464" lvl="1">
              <a:lnSpc>
                <a:spcPts val="3779"/>
              </a:lnSpc>
              <a:buFont typeface="Arial"/>
              <a:buChar char="•"/>
            </a:pPr>
            <a:r>
              <a:rPr lang="en-US" sz="2699" i="true">
                <a:solidFill>
                  <a:srgbClr val="000000"/>
                </a:solidFill>
                <a:latin typeface="Garet Italics"/>
                <a:ea typeface="Garet Italics"/>
                <a:cs typeface="Garet Italics"/>
                <a:sym typeface="Garet Italics"/>
              </a:rPr>
              <a:t>Created a Proof of Concept (PoC) Android app to showcase the model</a:t>
            </a:r>
          </a:p>
          <a:p>
            <a:pPr algn="just">
              <a:lnSpc>
                <a:spcPts val="3779"/>
              </a:lnSpc>
            </a:pPr>
            <a:r>
              <a:rPr lang="en-US" sz="2699" b="true">
                <a:solidFill>
                  <a:srgbClr val="000000"/>
                </a:solidFill>
                <a:latin typeface="Garet Bold"/>
                <a:ea typeface="Garet Bold"/>
                <a:cs typeface="Garet Bold"/>
                <a:sym typeface="Garet Bold"/>
              </a:rPr>
              <a:t>Challenges</a:t>
            </a:r>
          </a:p>
          <a:p>
            <a:pPr algn="just" marL="582928" indent="-291464" lvl="1">
              <a:lnSpc>
                <a:spcPts val="3779"/>
              </a:lnSpc>
              <a:buFont typeface="Arial"/>
              <a:buChar char="•"/>
            </a:pPr>
            <a:r>
              <a:rPr lang="en-US" sz="2699">
                <a:solidFill>
                  <a:srgbClr val="000000"/>
                </a:solidFill>
                <a:latin typeface="Garet"/>
                <a:ea typeface="Garet"/>
                <a:cs typeface="Garet"/>
                <a:sym typeface="Garet"/>
              </a:rPr>
              <a:t>No official datasets available.</a:t>
            </a:r>
          </a:p>
          <a:p>
            <a:pPr algn="just" marL="582928" indent="-291464" lvl="1">
              <a:lnSpc>
                <a:spcPts val="3779"/>
              </a:lnSpc>
              <a:buFont typeface="Arial"/>
              <a:buChar char="•"/>
            </a:pPr>
            <a:r>
              <a:rPr lang="en-US" sz="2699">
                <a:solidFill>
                  <a:srgbClr val="000000"/>
                </a:solidFill>
                <a:latin typeface="Garet"/>
                <a:ea typeface="Garet"/>
                <a:cs typeface="Garet"/>
                <a:sym typeface="Garet"/>
              </a:rPr>
              <a:t>Time constraints hindered the creation of a complete and accurate training and evaluation dataset.</a:t>
            </a:r>
          </a:p>
          <a:p>
            <a:pPr algn="just" marL="582928" indent="-291464" lvl="1">
              <a:lnSpc>
                <a:spcPts val="3779"/>
              </a:lnSpc>
              <a:buFont typeface="Arial"/>
              <a:buChar char="•"/>
            </a:pPr>
            <a:r>
              <a:rPr lang="en-US" sz="2699">
                <a:solidFill>
                  <a:srgbClr val="000000"/>
                </a:solidFill>
                <a:latin typeface="Garet"/>
                <a:ea typeface="Garet"/>
                <a:cs typeface="Garet"/>
                <a:sym typeface="Garet"/>
              </a:rPr>
              <a:t>Lack of a precise method for evaluating song highlights.</a:t>
            </a:r>
          </a:p>
          <a:p>
            <a:pPr algn="just">
              <a:lnSpc>
                <a:spcPts val="3779"/>
              </a:lnSpc>
              <a:spcBef>
                <a:spcPct val="0"/>
              </a:spcBef>
            </a:pPr>
            <a:r>
              <a:rPr lang="en-US" b="true" sz="2699">
                <a:solidFill>
                  <a:srgbClr val="000000"/>
                </a:solidFill>
                <a:latin typeface="Garet Bold"/>
                <a:ea typeface="Garet Bold"/>
                <a:cs typeface="Garet Bold"/>
                <a:sym typeface="Garet Bold"/>
              </a:rPr>
              <a:t>Future direction</a:t>
            </a:r>
          </a:p>
          <a:p>
            <a:pPr algn="just" marL="582928" indent="-291464" lvl="1">
              <a:lnSpc>
                <a:spcPts val="3779"/>
              </a:lnSpc>
              <a:spcBef>
                <a:spcPct val="0"/>
              </a:spcBef>
              <a:buFont typeface="Arial"/>
              <a:buChar char="•"/>
            </a:pPr>
            <a:r>
              <a:rPr lang="en-US" sz="2699">
                <a:solidFill>
                  <a:srgbClr val="000000"/>
                </a:solidFill>
                <a:latin typeface="Garet"/>
                <a:ea typeface="Garet"/>
                <a:cs typeface="Garet"/>
                <a:sym typeface="Garet"/>
              </a:rPr>
              <a:t>Collect a high-quality labeled dataset through listener feedback.</a:t>
            </a:r>
          </a:p>
          <a:p>
            <a:pPr algn="just" marL="582928" indent="-291464" lvl="1">
              <a:lnSpc>
                <a:spcPts val="3779"/>
              </a:lnSpc>
              <a:spcBef>
                <a:spcPct val="0"/>
              </a:spcBef>
              <a:buFont typeface="Arial"/>
              <a:buChar char="•"/>
            </a:pPr>
            <a:r>
              <a:rPr lang="en-US" sz="2699">
                <a:solidFill>
                  <a:srgbClr val="000000"/>
                </a:solidFill>
                <a:latin typeface="Garet"/>
                <a:ea typeface="Garet"/>
                <a:cs typeface="Garet"/>
                <a:sym typeface="Garet"/>
              </a:rPr>
              <a:t>Enhance model accuracy by refining the training data and evaluation methods.</a:t>
            </a:r>
          </a:p>
          <a:p>
            <a:pPr algn="just" marL="582928" indent="-291464" lvl="1">
              <a:lnSpc>
                <a:spcPts val="3779"/>
              </a:lnSpc>
              <a:spcBef>
                <a:spcPct val="0"/>
              </a:spcBef>
              <a:buFont typeface="Arial"/>
              <a:buChar char="•"/>
            </a:pPr>
            <a:r>
              <a:rPr lang="en-US" sz="2699">
                <a:solidFill>
                  <a:srgbClr val="000000"/>
                </a:solidFill>
                <a:latin typeface="Garet"/>
                <a:ea typeface="Garet"/>
                <a:cs typeface="Garet"/>
                <a:sym typeface="Garet"/>
              </a:rPr>
              <a:t>Explore and research additional approaches for further improvement.</a:t>
            </a:r>
          </a:p>
        </p:txBody>
      </p:sp>
      <p:sp>
        <p:nvSpPr>
          <p:cNvPr name="Freeform 10" id="10"/>
          <p:cNvSpPr/>
          <p:nvPr/>
        </p:nvSpPr>
        <p:spPr>
          <a:xfrm flipH="false" flipV="false" rot="0">
            <a:off x="1028700" y="383874"/>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86387" y="-607424"/>
            <a:ext cx="3709695" cy="1015735"/>
            <a:chOff x="0" y="0"/>
            <a:chExt cx="977039" cy="267519"/>
          </a:xfrm>
        </p:grpSpPr>
        <p:sp>
          <p:nvSpPr>
            <p:cNvPr name="Freeform 4" id="4"/>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5" id="5"/>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1988599" y="7022439"/>
            <a:ext cx="738450" cy="1015735"/>
            <a:chOff x="0" y="0"/>
            <a:chExt cx="194489" cy="267519"/>
          </a:xfrm>
        </p:grpSpPr>
        <p:sp>
          <p:nvSpPr>
            <p:cNvPr name="Freeform 7" id="7"/>
            <p:cNvSpPr/>
            <p:nvPr/>
          </p:nvSpPr>
          <p:spPr>
            <a:xfrm flipH="false" flipV="false" rot="0">
              <a:off x="0" y="0"/>
              <a:ext cx="194489" cy="267519"/>
            </a:xfrm>
            <a:custGeom>
              <a:avLst/>
              <a:gdLst/>
              <a:ahLst/>
              <a:cxnLst/>
              <a:rect r="r" b="b" t="t" l="l"/>
              <a:pathLst>
                <a:path h="267519" w="194489">
                  <a:moveTo>
                    <a:pt x="0" y="0"/>
                  </a:moveTo>
                  <a:lnTo>
                    <a:pt x="194489" y="0"/>
                  </a:lnTo>
                  <a:lnTo>
                    <a:pt x="194489" y="267519"/>
                  </a:lnTo>
                  <a:lnTo>
                    <a:pt x="0" y="267519"/>
                  </a:lnTo>
                  <a:close/>
                </a:path>
              </a:pathLst>
            </a:custGeom>
            <a:solidFill>
              <a:srgbClr val="9F9F9F"/>
            </a:solidFill>
          </p:spPr>
        </p:sp>
        <p:sp>
          <p:nvSpPr>
            <p:cNvPr name="TextBox 8" id="8"/>
            <p:cNvSpPr txBox="true"/>
            <p:nvPr/>
          </p:nvSpPr>
          <p:spPr>
            <a:xfrm>
              <a:off x="0" y="-38100"/>
              <a:ext cx="194489" cy="305619"/>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Demo</a:t>
            </a:r>
          </a:p>
        </p:txBody>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
        <p:nvSpPr>
          <p:cNvPr name="Freeform 4" id="4"/>
          <p:cNvSpPr/>
          <p:nvPr/>
        </p:nvSpPr>
        <p:spPr>
          <a:xfrm flipH="false" flipV="false" rot="0">
            <a:off x="3393240" y="1229741"/>
            <a:ext cx="3522383" cy="7827517"/>
          </a:xfrm>
          <a:custGeom>
            <a:avLst/>
            <a:gdLst/>
            <a:ahLst/>
            <a:cxnLst/>
            <a:rect r="r" b="b" t="t" l="l"/>
            <a:pathLst>
              <a:path h="7827517" w="3522383">
                <a:moveTo>
                  <a:pt x="0" y="0"/>
                </a:moveTo>
                <a:lnTo>
                  <a:pt x="3522383" y="0"/>
                </a:lnTo>
                <a:lnTo>
                  <a:pt x="3522383" y="7827518"/>
                </a:lnTo>
                <a:lnTo>
                  <a:pt x="0" y="7827518"/>
                </a:lnTo>
                <a:lnTo>
                  <a:pt x="0" y="0"/>
                </a:lnTo>
                <a:close/>
              </a:path>
            </a:pathLst>
          </a:custGeom>
          <a:blipFill>
            <a:blip r:embed="rId4"/>
            <a:stretch>
              <a:fillRect l="0" t="0" r="0" b="0"/>
            </a:stretch>
          </a:blipFill>
        </p:spPr>
      </p:sp>
      <p:sp>
        <p:nvSpPr>
          <p:cNvPr name="Freeform 5" id="5"/>
          <p:cNvSpPr/>
          <p:nvPr/>
        </p:nvSpPr>
        <p:spPr>
          <a:xfrm flipH="false" flipV="false" rot="0">
            <a:off x="9909786" y="1229741"/>
            <a:ext cx="3522383" cy="7827517"/>
          </a:xfrm>
          <a:custGeom>
            <a:avLst/>
            <a:gdLst/>
            <a:ahLst/>
            <a:cxnLst/>
            <a:rect r="r" b="b" t="t" l="l"/>
            <a:pathLst>
              <a:path h="7827517" w="3522383">
                <a:moveTo>
                  <a:pt x="0" y="0"/>
                </a:moveTo>
                <a:lnTo>
                  <a:pt x="3522382" y="0"/>
                </a:lnTo>
                <a:lnTo>
                  <a:pt x="3522382" y="7827518"/>
                </a:lnTo>
                <a:lnTo>
                  <a:pt x="0" y="7827518"/>
                </a:lnTo>
                <a:lnTo>
                  <a:pt x="0" y="0"/>
                </a:lnTo>
                <a:close/>
              </a:path>
            </a:pathLst>
          </a:custGeom>
          <a:blipFill>
            <a:blip r:embed="rId5"/>
            <a:stretch>
              <a:fillRect l="0" t="0" r="0" b="0"/>
            </a:stretch>
          </a:blipFill>
        </p:spPr>
      </p:sp>
      <p:grpSp>
        <p:nvGrpSpPr>
          <p:cNvPr name="Group 6" id="6"/>
          <p:cNvGrpSpPr/>
          <p:nvPr/>
        </p:nvGrpSpPr>
        <p:grpSpPr>
          <a:xfrm rot="0">
            <a:off x="7688376" y="4103242"/>
            <a:ext cx="1448656" cy="14486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5CE1E6"/>
            </a:solidFill>
          </p:spPr>
        </p:sp>
        <p:sp>
          <p:nvSpPr>
            <p:cNvPr name="TextBox 8" id="8"/>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sp>
        <p:nvSpPr>
          <p:cNvPr name="AutoShape 9" id="9"/>
          <p:cNvSpPr/>
          <p:nvPr/>
        </p:nvSpPr>
        <p:spPr>
          <a:xfrm flipH="true">
            <a:off x="12505833" y="4827570"/>
            <a:ext cx="1772035" cy="1606407"/>
          </a:xfrm>
          <a:prstGeom prst="line">
            <a:avLst/>
          </a:prstGeom>
          <a:ln cap="flat" w="190500">
            <a:solidFill>
              <a:srgbClr val="FF3131"/>
            </a:solidFill>
            <a:prstDash val="solid"/>
            <a:headEnd type="none" len="sm" w="sm"/>
            <a:tailEnd type="arrow" len="sm" w="med"/>
          </a:ln>
        </p:spPr>
      </p:sp>
      <p:sp>
        <p:nvSpPr>
          <p:cNvPr name="TextBox 10" id="10"/>
          <p:cNvSpPr txBox="true"/>
          <p:nvPr/>
        </p:nvSpPr>
        <p:spPr>
          <a:xfrm rot="0">
            <a:off x="14404309" y="4252088"/>
            <a:ext cx="2694517"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Garet Bold"/>
                <a:ea typeface="Garet Bold"/>
                <a:cs typeface="Garet Bold"/>
                <a:sym typeface="Garet Bold"/>
              </a:rPr>
              <a:t>Highlight Marker</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4222432"/>
            <a:ext cx="16230600" cy="1651635"/>
          </a:xfrm>
          <a:prstGeom prst="rect">
            <a:avLst/>
          </a:prstGeom>
        </p:spPr>
        <p:txBody>
          <a:bodyPr anchor="t" rtlCol="false" tIns="0" lIns="0" bIns="0" rIns="0">
            <a:spAutoFit/>
          </a:bodyPr>
          <a:lstStyle/>
          <a:p>
            <a:pPr algn="ctr">
              <a:lnSpc>
                <a:spcPts val="13439"/>
              </a:lnSpc>
            </a:pPr>
            <a:r>
              <a:rPr lang="en-US" sz="9600">
                <a:solidFill>
                  <a:srgbClr val="000000"/>
                </a:solidFill>
                <a:latin typeface="Tomorrow"/>
                <a:ea typeface="Tomorrow"/>
                <a:cs typeface="Tomorrow"/>
                <a:sym typeface="Tomorrow"/>
              </a:rPr>
              <a:t>Thanks for listening</a:t>
            </a:r>
          </a:p>
        </p:txBody>
      </p:sp>
      <p:sp>
        <p:nvSpPr>
          <p:cNvPr name="Freeform 4" id="4"/>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DAFyK2go-J4</dc:identifier>
  <dcterms:modified xsi:type="dcterms:W3CDTF">2011-08-01T06:04:30Z</dcterms:modified>
  <cp:revision>1</cp:revision>
  <dc:title>Thuyết trình DL</dc:title>
</cp:coreProperties>
</file>